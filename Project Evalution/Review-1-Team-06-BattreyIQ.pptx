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15"/>
  </p:notesMasterIdLst>
  <p:handoutMasterIdLst>
    <p:handoutMasterId r:id="rId16"/>
  </p:handoutMasterIdLst>
  <p:sldIdLst>
    <p:sldId id="262" r:id="rId3"/>
    <p:sldId id="707" r:id="rId4"/>
    <p:sldId id="257" r:id="rId5"/>
    <p:sldId id="903" r:id="rId6"/>
    <p:sldId id="902" r:id="rId7"/>
    <p:sldId id="258" r:id="rId8"/>
    <p:sldId id="905" r:id="rId9"/>
    <p:sldId id="906" r:id="rId10"/>
    <p:sldId id="907" r:id="rId11"/>
    <p:sldId id="259" r:id="rId12"/>
    <p:sldId id="260" r:id="rId13"/>
    <p:sldId id="904"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9E5E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AAB4704-41F4-467C-AFD1-B5ABEEFF3FEB}" v="87" dt="2026-08-12T17:35:04.325"/>
  </p1510:revLst>
</p1510:revInfo>
</file>

<file path=ppt/tableStyles.xml><?xml version="1.0" encoding="utf-8"?>
<a:tblStyleLst xmlns:a="http://schemas.openxmlformats.org/drawingml/2006/main" def="{5C22544A-7EE6-4342-B048-85BDC9FD1C3A}">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viewProps" Target="viewProps.xml"/><Relationship Id="rId3" Type="http://schemas.openxmlformats.org/officeDocument/2006/relationships/slide" Target="slides/slide1.xml"/><Relationship Id="rId21" Type="http://schemas.microsoft.com/office/2015/10/relationships/revisionInfo" Target="revisionInfo.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4B03022-1F30-4885-B78F-22C04F8A973E}" type="doc">
      <dgm:prSet loTypeId="urn:microsoft.com/office/officeart/2005/8/layout/venn3" loCatId="relationship" qsTypeId="urn:microsoft.com/office/officeart/2005/8/quickstyle/3d7" qsCatId="3D" csTypeId="urn:microsoft.com/office/officeart/2005/8/colors/colorful1" csCatId="colorful" phldr="1"/>
      <dgm:spPr/>
      <dgm:t>
        <a:bodyPr/>
        <a:lstStyle/>
        <a:p>
          <a:endParaRPr lang="en-IN"/>
        </a:p>
      </dgm:t>
    </dgm:pt>
    <dgm:pt modelId="{4094C340-BA43-4FE7-BEDC-37D235AAAD16}" type="pres">
      <dgm:prSet presAssocID="{84B03022-1F30-4885-B78F-22C04F8A973E}" presName="Name0" presStyleCnt="0">
        <dgm:presLayoutVars>
          <dgm:dir/>
          <dgm:resizeHandles val="exact"/>
        </dgm:presLayoutVars>
      </dgm:prSet>
      <dgm:spPr/>
    </dgm:pt>
  </dgm:ptLst>
  <dgm:cxnLst>
    <dgm:cxn modelId="{536B444D-E965-4C7A-901B-8D59695FE972}" type="presOf" srcId="{84B03022-1F30-4885-B78F-22C04F8A973E}" destId="{4094C340-BA43-4FE7-BEDC-37D235AAAD16}" srcOrd="0" destOrd="0" presId="urn:microsoft.com/office/officeart/2005/8/layout/venn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8FD3026-A601-496E-B102-D69AD680D288}" type="doc">
      <dgm:prSet loTypeId="urn:microsoft.com/office/officeart/2005/8/layout/process1" loCatId="process" qsTypeId="urn:microsoft.com/office/officeart/2005/8/quickstyle/simple1" qsCatId="simple" csTypeId="urn:microsoft.com/office/officeart/2005/8/colors/accent6_2" csCatId="accent6" phldr="1"/>
      <dgm:spPr/>
    </dgm:pt>
    <dgm:pt modelId="{0184D294-D712-4EA6-B6B4-20B48ADD07D9}">
      <dgm:prSet phldrT="[Text]"/>
      <dgm:spPr/>
      <dgm:t>
        <a:bodyPr/>
        <a:lstStyle/>
        <a:p>
          <a:pPr>
            <a:buNone/>
          </a:pPr>
          <a:r>
            <a:rPr lang="en-IN" dirty="0"/>
            <a:t>Real-Time Data</a:t>
          </a:r>
        </a:p>
      </dgm:t>
    </dgm:pt>
    <dgm:pt modelId="{9533C0F7-7A89-4604-8CC8-CCFB5C2C3D4A}" type="parTrans" cxnId="{20D4133A-06C9-40AD-B7CC-BFC635372607}">
      <dgm:prSet/>
      <dgm:spPr/>
      <dgm:t>
        <a:bodyPr/>
        <a:lstStyle/>
        <a:p>
          <a:endParaRPr lang="en-IN"/>
        </a:p>
      </dgm:t>
    </dgm:pt>
    <dgm:pt modelId="{40331B0C-0524-4583-AD1C-E68FC6F0C4F3}" type="sibTrans" cxnId="{20D4133A-06C9-40AD-B7CC-BFC635372607}">
      <dgm:prSet/>
      <dgm:spPr/>
      <dgm:t>
        <a:bodyPr/>
        <a:lstStyle/>
        <a:p>
          <a:endParaRPr lang="en-IN"/>
        </a:p>
      </dgm:t>
    </dgm:pt>
    <dgm:pt modelId="{2FB2BF72-EF2E-4335-8939-DD3DB3C2BD48}">
      <dgm:prSet phldrT="[Text]"/>
      <dgm:spPr/>
      <dgm:t>
        <a:bodyPr/>
        <a:lstStyle/>
        <a:p>
          <a:r>
            <a:rPr lang="en-IN"/>
            <a:t>Screening</a:t>
          </a:r>
          <a:endParaRPr lang="en-IN" dirty="0"/>
        </a:p>
      </dgm:t>
    </dgm:pt>
    <dgm:pt modelId="{522A8B74-85EA-4ADF-9FC2-D220CB17401D}" type="parTrans" cxnId="{90AA761C-6E8C-441C-B463-BE37664E5E53}">
      <dgm:prSet/>
      <dgm:spPr/>
      <dgm:t>
        <a:bodyPr/>
        <a:lstStyle/>
        <a:p>
          <a:endParaRPr lang="en-IN"/>
        </a:p>
      </dgm:t>
    </dgm:pt>
    <dgm:pt modelId="{64BBAF34-946F-4DF4-B8BC-C0B3D6D3BC36}" type="sibTrans" cxnId="{90AA761C-6E8C-441C-B463-BE37664E5E53}">
      <dgm:prSet/>
      <dgm:spPr/>
      <dgm:t>
        <a:bodyPr/>
        <a:lstStyle/>
        <a:p>
          <a:endParaRPr lang="en-IN"/>
        </a:p>
      </dgm:t>
    </dgm:pt>
    <dgm:pt modelId="{EC46C062-77C2-44ED-AFA0-AFD8657E74F6}">
      <dgm:prSet phldrT="[Text]"/>
      <dgm:spPr/>
      <dgm:t>
        <a:bodyPr/>
        <a:lstStyle/>
        <a:p>
          <a:r>
            <a:rPr lang="en-IN" dirty="0"/>
            <a:t>Suspicious? </a:t>
          </a:r>
        </a:p>
      </dgm:t>
    </dgm:pt>
    <dgm:pt modelId="{99A82D88-BBE1-42A7-9106-5F8D1A3BBA9D}" type="parTrans" cxnId="{7A4A1DA4-BED9-40A0-A0FF-0C7C09D44C64}">
      <dgm:prSet/>
      <dgm:spPr/>
      <dgm:t>
        <a:bodyPr/>
        <a:lstStyle/>
        <a:p>
          <a:endParaRPr lang="en-IN"/>
        </a:p>
      </dgm:t>
    </dgm:pt>
    <dgm:pt modelId="{8F0C9354-9587-48DC-BAF2-368B06152736}" type="sibTrans" cxnId="{7A4A1DA4-BED9-40A0-A0FF-0C7C09D44C64}">
      <dgm:prSet/>
      <dgm:spPr/>
      <dgm:t>
        <a:bodyPr/>
        <a:lstStyle/>
        <a:p>
          <a:endParaRPr lang="en-IN"/>
        </a:p>
      </dgm:t>
    </dgm:pt>
    <dgm:pt modelId="{448D45F8-7929-421F-B6E9-B5544F7D4624}">
      <dgm:prSet phldrT="[Text]"/>
      <dgm:spPr/>
      <dgm:t>
        <a:bodyPr/>
        <a:lstStyle/>
        <a:p>
          <a:r>
            <a:rPr lang="en-IN" dirty="0"/>
            <a:t>AI Verification </a:t>
          </a:r>
        </a:p>
      </dgm:t>
    </dgm:pt>
    <dgm:pt modelId="{338E353C-533C-4B65-A085-FF0B47422A27}" type="parTrans" cxnId="{E53A3A5E-785B-47EC-95AB-9BDB98930010}">
      <dgm:prSet/>
      <dgm:spPr/>
      <dgm:t>
        <a:bodyPr/>
        <a:lstStyle/>
        <a:p>
          <a:endParaRPr lang="en-IN"/>
        </a:p>
      </dgm:t>
    </dgm:pt>
    <dgm:pt modelId="{8F491CFC-8B23-412B-AED5-EB068E8F33FF}" type="sibTrans" cxnId="{E53A3A5E-785B-47EC-95AB-9BDB98930010}">
      <dgm:prSet/>
      <dgm:spPr/>
      <dgm:t>
        <a:bodyPr/>
        <a:lstStyle/>
        <a:p>
          <a:endParaRPr lang="en-IN"/>
        </a:p>
      </dgm:t>
    </dgm:pt>
    <dgm:pt modelId="{176978BF-BF1A-49BE-9396-ED21BC7E581C}">
      <dgm:prSet phldrT="[Text]"/>
      <dgm:spPr/>
      <dgm:t>
        <a:bodyPr/>
        <a:lstStyle/>
        <a:p>
          <a:r>
            <a:rPr lang="en-IN" dirty="0"/>
            <a:t>Risk Assessment</a:t>
          </a:r>
        </a:p>
      </dgm:t>
    </dgm:pt>
    <dgm:pt modelId="{2C0F9DA8-C338-4A01-8A9F-329CCC8EBCE3}" type="parTrans" cxnId="{1E6C3EAB-3D9A-4028-8410-FF71EDC8BC1A}">
      <dgm:prSet/>
      <dgm:spPr/>
      <dgm:t>
        <a:bodyPr/>
        <a:lstStyle/>
        <a:p>
          <a:endParaRPr lang="en-IN"/>
        </a:p>
      </dgm:t>
    </dgm:pt>
    <dgm:pt modelId="{A86E181A-4D7D-47CA-95E7-B2922BD53E73}" type="sibTrans" cxnId="{1E6C3EAB-3D9A-4028-8410-FF71EDC8BC1A}">
      <dgm:prSet/>
      <dgm:spPr/>
      <dgm:t>
        <a:bodyPr/>
        <a:lstStyle/>
        <a:p>
          <a:endParaRPr lang="en-IN"/>
        </a:p>
      </dgm:t>
    </dgm:pt>
    <dgm:pt modelId="{C7672B39-C00F-4FA6-ACBB-0C832EFE74E1}" type="pres">
      <dgm:prSet presAssocID="{48FD3026-A601-496E-B102-D69AD680D288}" presName="Name0" presStyleCnt="0">
        <dgm:presLayoutVars>
          <dgm:dir/>
          <dgm:resizeHandles val="exact"/>
        </dgm:presLayoutVars>
      </dgm:prSet>
      <dgm:spPr/>
    </dgm:pt>
    <dgm:pt modelId="{83398F09-2D00-4555-93FC-B6EAB3EFAA44}" type="pres">
      <dgm:prSet presAssocID="{0184D294-D712-4EA6-B6B4-20B48ADD07D9}" presName="node" presStyleLbl="node1" presStyleIdx="0" presStyleCnt="5">
        <dgm:presLayoutVars>
          <dgm:bulletEnabled val="1"/>
        </dgm:presLayoutVars>
      </dgm:prSet>
      <dgm:spPr/>
    </dgm:pt>
    <dgm:pt modelId="{78133FEC-0D64-4462-8797-5A0119578E76}" type="pres">
      <dgm:prSet presAssocID="{40331B0C-0524-4583-AD1C-E68FC6F0C4F3}" presName="sibTrans" presStyleLbl="sibTrans2D1" presStyleIdx="0" presStyleCnt="4"/>
      <dgm:spPr/>
    </dgm:pt>
    <dgm:pt modelId="{4654663C-6694-4EB2-964E-EF3A3A695C04}" type="pres">
      <dgm:prSet presAssocID="{40331B0C-0524-4583-AD1C-E68FC6F0C4F3}" presName="connectorText" presStyleLbl="sibTrans2D1" presStyleIdx="0" presStyleCnt="4"/>
      <dgm:spPr/>
    </dgm:pt>
    <dgm:pt modelId="{C94553C7-0487-41B6-9D93-073FAE3A5F68}" type="pres">
      <dgm:prSet presAssocID="{2FB2BF72-EF2E-4335-8939-DD3DB3C2BD48}" presName="node" presStyleLbl="node1" presStyleIdx="1" presStyleCnt="5">
        <dgm:presLayoutVars>
          <dgm:bulletEnabled val="1"/>
        </dgm:presLayoutVars>
      </dgm:prSet>
      <dgm:spPr/>
    </dgm:pt>
    <dgm:pt modelId="{0EADC29A-4F6F-4F25-99D1-BEA335B79DE6}" type="pres">
      <dgm:prSet presAssocID="{64BBAF34-946F-4DF4-B8BC-C0B3D6D3BC36}" presName="sibTrans" presStyleLbl="sibTrans2D1" presStyleIdx="1" presStyleCnt="4"/>
      <dgm:spPr/>
    </dgm:pt>
    <dgm:pt modelId="{79DEC193-D14A-4FDF-93F2-508B07DA36C5}" type="pres">
      <dgm:prSet presAssocID="{64BBAF34-946F-4DF4-B8BC-C0B3D6D3BC36}" presName="connectorText" presStyleLbl="sibTrans2D1" presStyleIdx="1" presStyleCnt="4"/>
      <dgm:spPr/>
    </dgm:pt>
    <dgm:pt modelId="{96938582-E828-45AF-8432-69E0D47E755E}" type="pres">
      <dgm:prSet presAssocID="{EC46C062-77C2-44ED-AFA0-AFD8657E74F6}" presName="node" presStyleLbl="node1" presStyleIdx="2" presStyleCnt="5">
        <dgm:presLayoutVars>
          <dgm:bulletEnabled val="1"/>
        </dgm:presLayoutVars>
      </dgm:prSet>
      <dgm:spPr/>
    </dgm:pt>
    <dgm:pt modelId="{63A79F28-C3AE-4421-9140-C158ED07183E}" type="pres">
      <dgm:prSet presAssocID="{8F0C9354-9587-48DC-BAF2-368B06152736}" presName="sibTrans" presStyleLbl="sibTrans2D1" presStyleIdx="2" presStyleCnt="4"/>
      <dgm:spPr/>
    </dgm:pt>
    <dgm:pt modelId="{CAFF6912-1D49-47FC-BD19-79AB92DE2BC9}" type="pres">
      <dgm:prSet presAssocID="{8F0C9354-9587-48DC-BAF2-368B06152736}" presName="connectorText" presStyleLbl="sibTrans2D1" presStyleIdx="2" presStyleCnt="4"/>
      <dgm:spPr/>
    </dgm:pt>
    <dgm:pt modelId="{DB26D023-4D8B-49A2-8144-0386DBE5252A}" type="pres">
      <dgm:prSet presAssocID="{448D45F8-7929-421F-B6E9-B5544F7D4624}" presName="node" presStyleLbl="node1" presStyleIdx="3" presStyleCnt="5">
        <dgm:presLayoutVars>
          <dgm:bulletEnabled val="1"/>
        </dgm:presLayoutVars>
      </dgm:prSet>
      <dgm:spPr/>
    </dgm:pt>
    <dgm:pt modelId="{500A13C3-D461-46BD-ABC2-B5E645C84E97}" type="pres">
      <dgm:prSet presAssocID="{8F491CFC-8B23-412B-AED5-EB068E8F33FF}" presName="sibTrans" presStyleLbl="sibTrans2D1" presStyleIdx="3" presStyleCnt="4"/>
      <dgm:spPr/>
    </dgm:pt>
    <dgm:pt modelId="{0705BC35-432F-4698-9C98-CC946A46E9C9}" type="pres">
      <dgm:prSet presAssocID="{8F491CFC-8B23-412B-AED5-EB068E8F33FF}" presName="connectorText" presStyleLbl="sibTrans2D1" presStyleIdx="3" presStyleCnt="4"/>
      <dgm:spPr/>
    </dgm:pt>
    <dgm:pt modelId="{2221A82A-0AAA-45BA-A02F-1D6FA4027275}" type="pres">
      <dgm:prSet presAssocID="{176978BF-BF1A-49BE-9396-ED21BC7E581C}" presName="node" presStyleLbl="node1" presStyleIdx="4" presStyleCnt="5">
        <dgm:presLayoutVars>
          <dgm:bulletEnabled val="1"/>
        </dgm:presLayoutVars>
      </dgm:prSet>
      <dgm:spPr/>
    </dgm:pt>
  </dgm:ptLst>
  <dgm:cxnLst>
    <dgm:cxn modelId="{3A72D20D-C981-4C20-A625-F28857E32303}" type="presOf" srcId="{48FD3026-A601-496E-B102-D69AD680D288}" destId="{C7672B39-C00F-4FA6-ACBB-0C832EFE74E1}" srcOrd="0" destOrd="0" presId="urn:microsoft.com/office/officeart/2005/8/layout/process1"/>
    <dgm:cxn modelId="{DEEB4317-60FB-46AF-B095-6D4430E73A45}" type="presOf" srcId="{8F491CFC-8B23-412B-AED5-EB068E8F33FF}" destId="{500A13C3-D461-46BD-ABC2-B5E645C84E97}" srcOrd="0" destOrd="0" presId="urn:microsoft.com/office/officeart/2005/8/layout/process1"/>
    <dgm:cxn modelId="{77A63F1A-9C64-4A18-9F18-AD7614DF7B82}" type="presOf" srcId="{40331B0C-0524-4583-AD1C-E68FC6F0C4F3}" destId="{4654663C-6694-4EB2-964E-EF3A3A695C04}" srcOrd="1" destOrd="0" presId="urn:microsoft.com/office/officeart/2005/8/layout/process1"/>
    <dgm:cxn modelId="{6025531B-78B6-4C8E-AFDE-250FF24C3D5D}" type="presOf" srcId="{EC46C062-77C2-44ED-AFA0-AFD8657E74F6}" destId="{96938582-E828-45AF-8432-69E0D47E755E}" srcOrd="0" destOrd="0" presId="urn:microsoft.com/office/officeart/2005/8/layout/process1"/>
    <dgm:cxn modelId="{90AA761C-6E8C-441C-B463-BE37664E5E53}" srcId="{48FD3026-A601-496E-B102-D69AD680D288}" destId="{2FB2BF72-EF2E-4335-8939-DD3DB3C2BD48}" srcOrd="1" destOrd="0" parTransId="{522A8B74-85EA-4ADF-9FC2-D220CB17401D}" sibTransId="{64BBAF34-946F-4DF4-B8BC-C0B3D6D3BC36}"/>
    <dgm:cxn modelId="{58FF9A1C-4C37-4C90-B877-6AA2F4307526}" type="presOf" srcId="{8F491CFC-8B23-412B-AED5-EB068E8F33FF}" destId="{0705BC35-432F-4698-9C98-CC946A46E9C9}" srcOrd="1" destOrd="0" presId="urn:microsoft.com/office/officeart/2005/8/layout/process1"/>
    <dgm:cxn modelId="{F039D61D-7DA3-4B22-85D0-E12FF8E18B43}" type="presOf" srcId="{40331B0C-0524-4583-AD1C-E68FC6F0C4F3}" destId="{78133FEC-0D64-4462-8797-5A0119578E76}" srcOrd="0" destOrd="0" presId="urn:microsoft.com/office/officeart/2005/8/layout/process1"/>
    <dgm:cxn modelId="{6EA68129-4625-4C5A-8E36-5FD894C3F74B}" type="presOf" srcId="{64BBAF34-946F-4DF4-B8BC-C0B3D6D3BC36}" destId="{79DEC193-D14A-4FDF-93F2-508B07DA36C5}" srcOrd="1" destOrd="0" presId="urn:microsoft.com/office/officeart/2005/8/layout/process1"/>
    <dgm:cxn modelId="{E275432D-4ECC-492A-AAF2-9F1AE898EC86}" type="presOf" srcId="{64BBAF34-946F-4DF4-B8BC-C0B3D6D3BC36}" destId="{0EADC29A-4F6F-4F25-99D1-BEA335B79DE6}" srcOrd="0" destOrd="0" presId="urn:microsoft.com/office/officeart/2005/8/layout/process1"/>
    <dgm:cxn modelId="{20D4133A-06C9-40AD-B7CC-BFC635372607}" srcId="{48FD3026-A601-496E-B102-D69AD680D288}" destId="{0184D294-D712-4EA6-B6B4-20B48ADD07D9}" srcOrd="0" destOrd="0" parTransId="{9533C0F7-7A89-4604-8CC8-CCFB5C2C3D4A}" sibTransId="{40331B0C-0524-4583-AD1C-E68FC6F0C4F3}"/>
    <dgm:cxn modelId="{E53A3A5E-785B-47EC-95AB-9BDB98930010}" srcId="{48FD3026-A601-496E-B102-D69AD680D288}" destId="{448D45F8-7929-421F-B6E9-B5544F7D4624}" srcOrd="3" destOrd="0" parTransId="{338E353C-533C-4B65-A085-FF0B47422A27}" sibTransId="{8F491CFC-8B23-412B-AED5-EB068E8F33FF}"/>
    <dgm:cxn modelId="{43268165-F012-4927-9D6A-732F7A3C2332}" type="presOf" srcId="{8F0C9354-9587-48DC-BAF2-368B06152736}" destId="{CAFF6912-1D49-47FC-BD19-79AB92DE2BC9}" srcOrd="1" destOrd="0" presId="urn:microsoft.com/office/officeart/2005/8/layout/process1"/>
    <dgm:cxn modelId="{BEFEA454-61C9-40BA-82EE-32D3140CFF31}" type="presOf" srcId="{0184D294-D712-4EA6-B6B4-20B48ADD07D9}" destId="{83398F09-2D00-4555-93FC-B6EAB3EFAA44}" srcOrd="0" destOrd="0" presId="urn:microsoft.com/office/officeart/2005/8/layout/process1"/>
    <dgm:cxn modelId="{7A4A1DA4-BED9-40A0-A0FF-0C7C09D44C64}" srcId="{48FD3026-A601-496E-B102-D69AD680D288}" destId="{EC46C062-77C2-44ED-AFA0-AFD8657E74F6}" srcOrd="2" destOrd="0" parTransId="{99A82D88-BBE1-42A7-9106-5F8D1A3BBA9D}" sibTransId="{8F0C9354-9587-48DC-BAF2-368B06152736}"/>
    <dgm:cxn modelId="{0FC041A8-7AF5-4541-B13B-7FDE2C816662}" type="presOf" srcId="{448D45F8-7929-421F-B6E9-B5544F7D4624}" destId="{DB26D023-4D8B-49A2-8144-0386DBE5252A}" srcOrd="0" destOrd="0" presId="urn:microsoft.com/office/officeart/2005/8/layout/process1"/>
    <dgm:cxn modelId="{1E6C3EAB-3D9A-4028-8410-FF71EDC8BC1A}" srcId="{48FD3026-A601-496E-B102-D69AD680D288}" destId="{176978BF-BF1A-49BE-9396-ED21BC7E581C}" srcOrd="4" destOrd="0" parTransId="{2C0F9DA8-C338-4A01-8A9F-329CCC8EBCE3}" sibTransId="{A86E181A-4D7D-47CA-95E7-B2922BD53E73}"/>
    <dgm:cxn modelId="{96FF24BD-9198-473B-85D9-C7368F493B1F}" type="presOf" srcId="{2FB2BF72-EF2E-4335-8939-DD3DB3C2BD48}" destId="{C94553C7-0487-41B6-9D93-073FAE3A5F68}" srcOrd="0" destOrd="0" presId="urn:microsoft.com/office/officeart/2005/8/layout/process1"/>
    <dgm:cxn modelId="{F35942C5-D53B-4061-B5D7-A168E98572A7}" type="presOf" srcId="{176978BF-BF1A-49BE-9396-ED21BC7E581C}" destId="{2221A82A-0AAA-45BA-A02F-1D6FA4027275}" srcOrd="0" destOrd="0" presId="urn:microsoft.com/office/officeart/2005/8/layout/process1"/>
    <dgm:cxn modelId="{B7E055CD-7299-41CB-81B8-AF095E14F186}" type="presOf" srcId="{8F0C9354-9587-48DC-BAF2-368B06152736}" destId="{63A79F28-C3AE-4421-9140-C158ED07183E}" srcOrd="0" destOrd="0" presId="urn:microsoft.com/office/officeart/2005/8/layout/process1"/>
    <dgm:cxn modelId="{8478E291-0935-471C-AB9E-649AA9CF0DED}" type="presParOf" srcId="{C7672B39-C00F-4FA6-ACBB-0C832EFE74E1}" destId="{83398F09-2D00-4555-93FC-B6EAB3EFAA44}" srcOrd="0" destOrd="0" presId="urn:microsoft.com/office/officeart/2005/8/layout/process1"/>
    <dgm:cxn modelId="{54084974-4BA8-4820-8EF5-6E8E0F14C53D}" type="presParOf" srcId="{C7672B39-C00F-4FA6-ACBB-0C832EFE74E1}" destId="{78133FEC-0D64-4462-8797-5A0119578E76}" srcOrd="1" destOrd="0" presId="urn:microsoft.com/office/officeart/2005/8/layout/process1"/>
    <dgm:cxn modelId="{55002F1A-C82D-4D75-B0B2-56254FC7B9A4}" type="presParOf" srcId="{78133FEC-0D64-4462-8797-5A0119578E76}" destId="{4654663C-6694-4EB2-964E-EF3A3A695C04}" srcOrd="0" destOrd="0" presId="urn:microsoft.com/office/officeart/2005/8/layout/process1"/>
    <dgm:cxn modelId="{9C6EE77B-B336-4FEB-8769-C3A215F816CC}" type="presParOf" srcId="{C7672B39-C00F-4FA6-ACBB-0C832EFE74E1}" destId="{C94553C7-0487-41B6-9D93-073FAE3A5F68}" srcOrd="2" destOrd="0" presId="urn:microsoft.com/office/officeart/2005/8/layout/process1"/>
    <dgm:cxn modelId="{367A266E-3EDB-40D6-A3F7-812C4ABA31AA}" type="presParOf" srcId="{C7672B39-C00F-4FA6-ACBB-0C832EFE74E1}" destId="{0EADC29A-4F6F-4F25-99D1-BEA335B79DE6}" srcOrd="3" destOrd="0" presId="urn:microsoft.com/office/officeart/2005/8/layout/process1"/>
    <dgm:cxn modelId="{9E066DBD-E891-48B4-9CF2-775E116A2C26}" type="presParOf" srcId="{0EADC29A-4F6F-4F25-99D1-BEA335B79DE6}" destId="{79DEC193-D14A-4FDF-93F2-508B07DA36C5}" srcOrd="0" destOrd="0" presId="urn:microsoft.com/office/officeart/2005/8/layout/process1"/>
    <dgm:cxn modelId="{0E48752B-48F5-4E91-9867-7FD142A3972E}" type="presParOf" srcId="{C7672B39-C00F-4FA6-ACBB-0C832EFE74E1}" destId="{96938582-E828-45AF-8432-69E0D47E755E}" srcOrd="4" destOrd="0" presId="urn:microsoft.com/office/officeart/2005/8/layout/process1"/>
    <dgm:cxn modelId="{C4036D9C-0E5F-42DB-9CF5-7ECFEB37C6B4}" type="presParOf" srcId="{C7672B39-C00F-4FA6-ACBB-0C832EFE74E1}" destId="{63A79F28-C3AE-4421-9140-C158ED07183E}" srcOrd="5" destOrd="0" presId="urn:microsoft.com/office/officeart/2005/8/layout/process1"/>
    <dgm:cxn modelId="{8317D56B-4438-467D-978D-8223FE8B0596}" type="presParOf" srcId="{63A79F28-C3AE-4421-9140-C158ED07183E}" destId="{CAFF6912-1D49-47FC-BD19-79AB92DE2BC9}" srcOrd="0" destOrd="0" presId="urn:microsoft.com/office/officeart/2005/8/layout/process1"/>
    <dgm:cxn modelId="{89845F3D-CF74-4BEB-BAB9-4640C16ABAA0}" type="presParOf" srcId="{C7672B39-C00F-4FA6-ACBB-0C832EFE74E1}" destId="{DB26D023-4D8B-49A2-8144-0386DBE5252A}" srcOrd="6" destOrd="0" presId="urn:microsoft.com/office/officeart/2005/8/layout/process1"/>
    <dgm:cxn modelId="{3789B8F2-14D9-4850-AB13-C17A25F4AC4D}" type="presParOf" srcId="{C7672B39-C00F-4FA6-ACBB-0C832EFE74E1}" destId="{500A13C3-D461-46BD-ABC2-B5E645C84E97}" srcOrd="7" destOrd="0" presId="urn:microsoft.com/office/officeart/2005/8/layout/process1"/>
    <dgm:cxn modelId="{FC18D0E1-9A99-4690-BC84-B4E008ECCD14}" type="presParOf" srcId="{500A13C3-D461-46BD-ABC2-B5E645C84E97}" destId="{0705BC35-432F-4698-9C98-CC946A46E9C9}" srcOrd="0" destOrd="0" presId="urn:microsoft.com/office/officeart/2005/8/layout/process1"/>
    <dgm:cxn modelId="{AEE52841-C9B5-4BB2-8CD4-2A97B35CC676}" type="presParOf" srcId="{C7672B39-C00F-4FA6-ACBB-0C832EFE74E1}" destId="{2221A82A-0AAA-45BA-A02F-1D6FA4027275}" srcOrd="8" destOrd="0" presId="urn:microsoft.com/office/officeart/2005/8/layout/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E14A36F8-D51D-4E07-8B93-94F73F92F22B}" type="doc">
      <dgm:prSet loTypeId="urn:microsoft.com/office/officeart/2005/8/layout/process1" loCatId="process" qsTypeId="urn:microsoft.com/office/officeart/2005/8/quickstyle/simple1" qsCatId="simple" csTypeId="urn:microsoft.com/office/officeart/2005/8/colors/accent6_2" csCatId="accent6" phldr="1"/>
      <dgm:spPr/>
      <dgm:t>
        <a:bodyPr/>
        <a:lstStyle/>
        <a:p>
          <a:endParaRPr lang="en-IN"/>
        </a:p>
      </dgm:t>
    </dgm:pt>
    <dgm:pt modelId="{9D80B2F7-5BC4-4FC8-BB81-2990AFFBE9A0}">
      <dgm:prSet phldrT="[Text]"/>
      <dgm:spPr/>
      <dgm:t>
        <a:bodyPr/>
        <a:lstStyle/>
        <a:p>
          <a:pPr>
            <a:buNone/>
          </a:pPr>
          <a:r>
            <a:rPr lang="en-IN" dirty="0"/>
            <a:t>Monitor </a:t>
          </a:r>
        </a:p>
      </dgm:t>
    </dgm:pt>
    <dgm:pt modelId="{2625AC73-06AF-4BAF-973E-1D40D0AA163D}" type="parTrans" cxnId="{AB971B4E-405E-40B4-B946-BC5C25EDFE8A}">
      <dgm:prSet/>
      <dgm:spPr/>
      <dgm:t>
        <a:bodyPr/>
        <a:lstStyle/>
        <a:p>
          <a:endParaRPr lang="en-IN"/>
        </a:p>
      </dgm:t>
    </dgm:pt>
    <dgm:pt modelId="{186A3F48-0A89-423F-8B6C-E1957F37B3C7}" type="sibTrans" cxnId="{AB971B4E-405E-40B4-B946-BC5C25EDFE8A}">
      <dgm:prSet/>
      <dgm:spPr/>
      <dgm:t>
        <a:bodyPr/>
        <a:lstStyle/>
        <a:p>
          <a:endParaRPr lang="en-IN"/>
        </a:p>
      </dgm:t>
    </dgm:pt>
    <dgm:pt modelId="{B20DAB3F-BD1A-439B-A741-546C7C46F1FB}">
      <dgm:prSet phldrT="[Text]" phldr="0"/>
      <dgm:spPr/>
      <dgm:t>
        <a:bodyPr/>
        <a:lstStyle/>
        <a:p>
          <a:pPr>
            <a:buNone/>
          </a:pPr>
          <a:r>
            <a:rPr lang="en-IN" dirty="0"/>
            <a:t>Fast Screening</a:t>
          </a:r>
        </a:p>
      </dgm:t>
    </dgm:pt>
    <dgm:pt modelId="{731B9381-5E59-4D70-8813-3D5F50501A39}" type="parTrans" cxnId="{D7FF62D2-5331-4E25-B802-9C060474EE25}">
      <dgm:prSet/>
      <dgm:spPr/>
      <dgm:t>
        <a:bodyPr/>
        <a:lstStyle/>
        <a:p>
          <a:endParaRPr lang="en-IN"/>
        </a:p>
      </dgm:t>
    </dgm:pt>
    <dgm:pt modelId="{5EE70C5C-71CD-4A5F-AFCC-483CAE04C4C5}" type="sibTrans" cxnId="{D7FF62D2-5331-4E25-B802-9C060474EE25}">
      <dgm:prSet/>
      <dgm:spPr/>
      <dgm:t>
        <a:bodyPr/>
        <a:lstStyle/>
        <a:p>
          <a:endParaRPr lang="en-IN"/>
        </a:p>
      </dgm:t>
    </dgm:pt>
    <dgm:pt modelId="{BCAAA5BD-B107-4E22-9ED1-650122EEBA95}">
      <dgm:prSet phldrT="[Text]" phldr="0"/>
      <dgm:spPr/>
      <dgm:t>
        <a:bodyPr/>
        <a:lstStyle/>
        <a:p>
          <a:pPr>
            <a:buNone/>
          </a:pPr>
          <a:r>
            <a:rPr lang="en-IN"/>
            <a:t>Yes</a:t>
          </a:r>
          <a:endParaRPr lang="en-IN" dirty="0"/>
        </a:p>
      </dgm:t>
    </dgm:pt>
    <dgm:pt modelId="{E213878E-B99A-472A-BFAA-59ABC3C1BB0B}" type="parTrans" cxnId="{B22E47CF-04F8-496F-9BCB-558DC6E2B6C9}">
      <dgm:prSet/>
      <dgm:spPr/>
      <dgm:t>
        <a:bodyPr/>
        <a:lstStyle/>
        <a:p>
          <a:endParaRPr lang="en-IN"/>
        </a:p>
      </dgm:t>
    </dgm:pt>
    <dgm:pt modelId="{408EB24D-91A8-4802-926D-2FFECFF0C1B2}" type="sibTrans" cxnId="{B22E47CF-04F8-496F-9BCB-558DC6E2B6C9}">
      <dgm:prSet/>
      <dgm:spPr/>
      <dgm:t>
        <a:bodyPr/>
        <a:lstStyle/>
        <a:p>
          <a:endParaRPr lang="en-IN"/>
        </a:p>
      </dgm:t>
    </dgm:pt>
    <dgm:pt modelId="{CB5E67A4-1915-493A-8E9D-3F6E70037A1E}">
      <dgm:prSet phldrT="[Text]" phldr="0"/>
      <dgm:spPr/>
      <dgm:t>
        <a:bodyPr/>
        <a:lstStyle/>
        <a:p>
          <a:pPr>
            <a:buNone/>
          </a:pPr>
          <a:r>
            <a:rPr lang="en-IN" dirty="0"/>
            <a:t>AI Inference</a:t>
          </a:r>
        </a:p>
      </dgm:t>
    </dgm:pt>
    <dgm:pt modelId="{A4AA7D20-3E4F-4120-B561-6B47337CA69B}" type="parTrans" cxnId="{C0CA3CCE-FFD3-452A-9753-99DE506E817A}">
      <dgm:prSet/>
      <dgm:spPr/>
      <dgm:t>
        <a:bodyPr/>
        <a:lstStyle/>
        <a:p>
          <a:endParaRPr lang="en-IN"/>
        </a:p>
      </dgm:t>
    </dgm:pt>
    <dgm:pt modelId="{5099AF5A-0E08-40DD-AD91-57B3DC7A5D67}" type="sibTrans" cxnId="{C0CA3CCE-FFD3-452A-9753-99DE506E817A}">
      <dgm:prSet/>
      <dgm:spPr/>
      <dgm:t>
        <a:bodyPr/>
        <a:lstStyle/>
        <a:p>
          <a:endParaRPr lang="en-IN"/>
        </a:p>
      </dgm:t>
    </dgm:pt>
    <dgm:pt modelId="{E271AB12-3472-450A-B230-CEA74BB37F11}" type="pres">
      <dgm:prSet presAssocID="{E14A36F8-D51D-4E07-8B93-94F73F92F22B}" presName="Name0" presStyleCnt="0">
        <dgm:presLayoutVars>
          <dgm:dir/>
          <dgm:resizeHandles val="exact"/>
        </dgm:presLayoutVars>
      </dgm:prSet>
      <dgm:spPr/>
    </dgm:pt>
    <dgm:pt modelId="{52D526B6-848B-4548-AD36-4093EC5AB3D6}" type="pres">
      <dgm:prSet presAssocID="{9D80B2F7-5BC4-4FC8-BB81-2990AFFBE9A0}" presName="node" presStyleLbl="node1" presStyleIdx="0" presStyleCnt="4">
        <dgm:presLayoutVars>
          <dgm:bulletEnabled val="1"/>
        </dgm:presLayoutVars>
      </dgm:prSet>
      <dgm:spPr/>
    </dgm:pt>
    <dgm:pt modelId="{AA2E9DB9-0480-4A4F-A719-87B49BED2339}" type="pres">
      <dgm:prSet presAssocID="{186A3F48-0A89-423F-8B6C-E1957F37B3C7}" presName="sibTrans" presStyleLbl="sibTrans2D1" presStyleIdx="0" presStyleCnt="3"/>
      <dgm:spPr/>
    </dgm:pt>
    <dgm:pt modelId="{A9453228-2831-475E-BD69-801BE222FE41}" type="pres">
      <dgm:prSet presAssocID="{186A3F48-0A89-423F-8B6C-E1957F37B3C7}" presName="connectorText" presStyleLbl="sibTrans2D1" presStyleIdx="0" presStyleCnt="3"/>
      <dgm:spPr/>
    </dgm:pt>
    <dgm:pt modelId="{ADB0A5AB-09F8-4C16-BC17-7C3FC6840BF7}" type="pres">
      <dgm:prSet presAssocID="{B20DAB3F-BD1A-439B-A741-546C7C46F1FB}" presName="node" presStyleLbl="node1" presStyleIdx="1" presStyleCnt="4">
        <dgm:presLayoutVars>
          <dgm:bulletEnabled val="1"/>
        </dgm:presLayoutVars>
      </dgm:prSet>
      <dgm:spPr/>
    </dgm:pt>
    <dgm:pt modelId="{13B7904A-6D13-4AC0-B547-9EA5B101B011}" type="pres">
      <dgm:prSet presAssocID="{5EE70C5C-71CD-4A5F-AFCC-483CAE04C4C5}" presName="sibTrans" presStyleLbl="sibTrans2D1" presStyleIdx="1" presStyleCnt="3"/>
      <dgm:spPr/>
    </dgm:pt>
    <dgm:pt modelId="{484AC9E2-FD84-47FF-8BB6-134B48559B84}" type="pres">
      <dgm:prSet presAssocID="{5EE70C5C-71CD-4A5F-AFCC-483CAE04C4C5}" presName="connectorText" presStyleLbl="sibTrans2D1" presStyleIdx="1" presStyleCnt="3"/>
      <dgm:spPr/>
    </dgm:pt>
    <dgm:pt modelId="{35BEBF60-69E4-40CC-999E-C1ACF9078624}" type="pres">
      <dgm:prSet presAssocID="{BCAAA5BD-B107-4E22-9ED1-650122EEBA95}" presName="node" presStyleLbl="node1" presStyleIdx="2" presStyleCnt="4">
        <dgm:presLayoutVars>
          <dgm:bulletEnabled val="1"/>
        </dgm:presLayoutVars>
      </dgm:prSet>
      <dgm:spPr/>
    </dgm:pt>
    <dgm:pt modelId="{F45D1D67-E6FC-40B1-AABB-293973B8B667}" type="pres">
      <dgm:prSet presAssocID="{408EB24D-91A8-4802-926D-2FFECFF0C1B2}" presName="sibTrans" presStyleLbl="sibTrans2D1" presStyleIdx="2" presStyleCnt="3"/>
      <dgm:spPr/>
    </dgm:pt>
    <dgm:pt modelId="{9BAA6A8A-CBE9-4F7D-B4E0-1211300E4043}" type="pres">
      <dgm:prSet presAssocID="{408EB24D-91A8-4802-926D-2FFECFF0C1B2}" presName="connectorText" presStyleLbl="sibTrans2D1" presStyleIdx="2" presStyleCnt="3"/>
      <dgm:spPr/>
    </dgm:pt>
    <dgm:pt modelId="{EB774E1A-872F-4036-AEE4-9A3CB113BC12}" type="pres">
      <dgm:prSet presAssocID="{CB5E67A4-1915-493A-8E9D-3F6E70037A1E}" presName="node" presStyleLbl="node1" presStyleIdx="3" presStyleCnt="4">
        <dgm:presLayoutVars>
          <dgm:bulletEnabled val="1"/>
        </dgm:presLayoutVars>
      </dgm:prSet>
      <dgm:spPr/>
    </dgm:pt>
  </dgm:ptLst>
  <dgm:cxnLst>
    <dgm:cxn modelId="{8BBAFB04-9304-443D-84DF-ED719FBD08D4}" type="presOf" srcId="{9D80B2F7-5BC4-4FC8-BB81-2990AFFBE9A0}" destId="{52D526B6-848B-4548-AD36-4093EC5AB3D6}" srcOrd="0" destOrd="0" presId="urn:microsoft.com/office/officeart/2005/8/layout/process1"/>
    <dgm:cxn modelId="{CB0B3429-CF9B-4328-AEC1-50694B4FC5DC}" type="presOf" srcId="{B20DAB3F-BD1A-439B-A741-546C7C46F1FB}" destId="{ADB0A5AB-09F8-4C16-BC17-7C3FC6840BF7}" srcOrd="0" destOrd="0" presId="urn:microsoft.com/office/officeart/2005/8/layout/process1"/>
    <dgm:cxn modelId="{9814122B-DA1B-412A-A88F-7495188A3479}" type="presOf" srcId="{186A3F48-0A89-423F-8B6C-E1957F37B3C7}" destId="{A9453228-2831-475E-BD69-801BE222FE41}" srcOrd="1" destOrd="0" presId="urn:microsoft.com/office/officeart/2005/8/layout/process1"/>
    <dgm:cxn modelId="{961CEE65-BF5A-407A-8139-EAE50D4E3DE6}" type="presOf" srcId="{5EE70C5C-71CD-4A5F-AFCC-483CAE04C4C5}" destId="{484AC9E2-FD84-47FF-8BB6-134B48559B84}" srcOrd="1" destOrd="0" presId="urn:microsoft.com/office/officeart/2005/8/layout/process1"/>
    <dgm:cxn modelId="{AB971B4E-405E-40B4-B946-BC5C25EDFE8A}" srcId="{E14A36F8-D51D-4E07-8B93-94F73F92F22B}" destId="{9D80B2F7-5BC4-4FC8-BB81-2990AFFBE9A0}" srcOrd="0" destOrd="0" parTransId="{2625AC73-06AF-4BAF-973E-1D40D0AA163D}" sibTransId="{186A3F48-0A89-423F-8B6C-E1957F37B3C7}"/>
    <dgm:cxn modelId="{8EC52079-EA30-4DDD-861D-FB314E307ACE}" type="presOf" srcId="{186A3F48-0A89-423F-8B6C-E1957F37B3C7}" destId="{AA2E9DB9-0480-4A4F-A719-87B49BED2339}" srcOrd="0" destOrd="0" presId="urn:microsoft.com/office/officeart/2005/8/layout/process1"/>
    <dgm:cxn modelId="{DC784F80-37B7-4496-9265-67A6915BA62E}" type="presOf" srcId="{408EB24D-91A8-4802-926D-2FFECFF0C1B2}" destId="{F45D1D67-E6FC-40B1-AABB-293973B8B667}" srcOrd="0" destOrd="0" presId="urn:microsoft.com/office/officeart/2005/8/layout/process1"/>
    <dgm:cxn modelId="{7B3BDCB4-9C3B-4D42-BE64-7710546E627A}" type="presOf" srcId="{408EB24D-91A8-4802-926D-2FFECFF0C1B2}" destId="{9BAA6A8A-CBE9-4F7D-B4E0-1211300E4043}" srcOrd="1" destOrd="0" presId="urn:microsoft.com/office/officeart/2005/8/layout/process1"/>
    <dgm:cxn modelId="{589075B6-4FC4-4C6E-B5D2-1D0E64226CCB}" type="presOf" srcId="{CB5E67A4-1915-493A-8E9D-3F6E70037A1E}" destId="{EB774E1A-872F-4036-AEE4-9A3CB113BC12}" srcOrd="0" destOrd="0" presId="urn:microsoft.com/office/officeart/2005/8/layout/process1"/>
    <dgm:cxn modelId="{FB7FCBBC-F26E-43B8-810C-EFD4E4FE9337}" type="presOf" srcId="{BCAAA5BD-B107-4E22-9ED1-650122EEBA95}" destId="{35BEBF60-69E4-40CC-999E-C1ACF9078624}" srcOrd="0" destOrd="0" presId="urn:microsoft.com/office/officeart/2005/8/layout/process1"/>
    <dgm:cxn modelId="{9CEDE3C9-191D-415C-9702-B91E276D8304}" type="presOf" srcId="{E14A36F8-D51D-4E07-8B93-94F73F92F22B}" destId="{E271AB12-3472-450A-B230-CEA74BB37F11}" srcOrd="0" destOrd="0" presId="urn:microsoft.com/office/officeart/2005/8/layout/process1"/>
    <dgm:cxn modelId="{C0CA3CCE-FFD3-452A-9753-99DE506E817A}" srcId="{E14A36F8-D51D-4E07-8B93-94F73F92F22B}" destId="{CB5E67A4-1915-493A-8E9D-3F6E70037A1E}" srcOrd="3" destOrd="0" parTransId="{A4AA7D20-3E4F-4120-B561-6B47337CA69B}" sibTransId="{5099AF5A-0E08-40DD-AD91-57B3DC7A5D67}"/>
    <dgm:cxn modelId="{B22E47CF-04F8-496F-9BCB-558DC6E2B6C9}" srcId="{E14A36F8-D51D-4E07-8B93-94F73F92F22B}" destId="{BCAAA5BD-B107-4E22-9ED1-650122EEBA95}" srcOrd="2" destOrd="0" parTransId="{E213878E-B99A-472A-BFAA-59ABC3C1BB0B}" sibTransId="{408EB24D-91A8-4802-926D-2FFECFF0C1B2}"/>
    <dgm:cxn modelId="{B0141AD1-3994-458C-B928-BDEBE0CC1529}" type="presOf" srcId="{5EE70C5C-71CD-4A5F-AFCC-483CAE04C4C5}" destId="{13B7904A-6D13-4AC0-B547-9EA5B101B011}" srcOrd="0" destOrd="0" presId="urn:microsoft.com/office/officeart/2005/8/layout/process1"/>
    <dgm:cxn modelId="{D7FF62D2-5331-4E25-B802-9C060474EE25}" srcId="{E14A36F8-D51D-4E07-8B93-94F73F92F22B}" destId="{B20DAB3F-BD1A-439B-A741-546C7C46F1FB}" srcOrd="1" destOrd="0" parTransId="{731B9381-5E59-4D70-8813-3D5F50501A39}" sibTransId="{5EE70C5C-71CD-4A5F-AFCC-483CAE04C4C5}"/>
    <dgm:cxn modelId="{77603B8B-5C7A-40A2-9BE1-C59A620B49FC}" type="presParOf" srcId="{E271AB12-3472-450A-B230-CEA74BB37F11}" destId="{52D526B6-848B-4548-AD36-4093EC5AB3D6}" srcOrd="0" destOrd="0" presId="urn:microsoft.com/office/officeart/2005/8/layout/process1"/>
    <dgm:cxn modelId="{6B7A90F3-CB41-40B8-8A21-91B1A1CE9315}" type="presParOf" srcId="{E271AB12-3472-450A-B230-CEA74BB37F11}" destId="{AA2E9DB9-0480-4A4F-A719-87B49BED2339}" srcOrd="1" destOrd="0" presId="urn:microsoft.com/office/officeart/2005/8/layout/process1"/>
    <dgm:cxn modelId="{09DB67C9-1735-4F35-8209-0F277023FF98}" type="presParOf" srcId="{AA2E9DB9-0480-4A4F-A719-87B49BED2339}" destId="{A9453228-2831-475E-BD69-801BE222FE41}" srcOrd="0" destOrd="0" presId="urn:microsoft.com/office/officeart/2005/8/layout/process1"/>
    <dgm:cxn modelId="{B630A0C4-70AB-4D3F-8CEE-D81C21376110}" type="presParOf" srcId="{E271AB12-3472-450A-B230-CEA74BB37F11}" destId="{ADB0A5AB-09F8-4C16-BC17-7C3FC6840BF7}" srcOrd="2" destOrd="0" presId="urn:microsoft.com/office/officeart/2005/8/layout/process1"/>
    <dgm:cxn modelId="{0B1DBBB4-A188-41AB-A5FF-542E503BD2ED}" type="presParOf" srcId="{E271AB12-3472-450A-B230-CEA74BB37F11}" destId="{13B7904A-6D13-4AC0-B547-9EA5B101B011}" srcOrd="3" destOrd="0" presId="urn:microsoft.com/office/officeart/2005/8/layout/process1"/>
    <dgm:cxn modelId="{F3F35246-5805-4497-BD5E-A31685360119}" type="presParOf" srcId="{13B7904A-6D13-4AC0-B547-9EA5B101B011}" destId="{484AC9E2-FD84-47FF-8BB6-134B48559B84}" srcOrd="0" destOrd="0" presId="urn:microsoft.com/office/officeart/2005/8/layout/process1"/>
    <dgm:cxn modelId="{5A5307C8-6A0A-4084-9A63-EFB8A27C7515}" type="presParOf" srcId="{E271AB12-3472-450A-B230-CEA74BB37F11}" destId="{35BEBF60-69E4-40CC-999E-C1ACF9078624}" srcOrd="4" destOrd="0" presId="urn:microsoft.com/office/officeart/2005/8/layout/process1"/>
    <dgm:cxn modelId="{A8C5B67C-B04A-4C84-8587-02BC452CA988}" type="presParOf" srcId="{E271AB12-3472-450A-B230-CEA74BB37F11}" destId="{F45D1D67-E6FC-40B1-AABB-293973B8B667}" srcOrd="5" destOrd="0" presId="urn:microsoft.com/office/officeart/2005/8/layout/process1"/>
    <dgm:cxn modelId="{70B7C0A3-E3AD-4222-82CD-C57C5CD63419}" type="presParOf" srcId="{F45D1D67-E6FC-40B1-AABB-293973B8B667}" destId="{9BAA6A8A-CBE9-4F7D-B4E0-1211300E4043}" srcOrd="0" destOrd="0" presId="urn:microsoft.com/office/officeart/2005/8/layout/process1"/>
    <dgm:cxn modelId="{DD068382-1604-419C-A4FE-29A8CB118D92}" type="presParOf" srcId="{E271AB12-3472-450A-B230-CEA74BB37F11}" destId="{EB774E1A-872F-4036-AEE4-9A3CB113BC12}" srcOrd="6" destOrd="0" presId="urn:microsoft.com/office/officeart/2005/8/layout/process1"/>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0937E440-BCFF-46E5-8A6E-5144C2A9E2B1}" type="doc">
      <dgm:prSet loTypeId="urn:microsoft.com/office/officeart/2005/8/layout/process1" loCatId="process" qsTypeId="urn:microsoft.com/office/officeart/2005/8/quickstyle/simple1" qsCatId="simple" csTypeId="urn:microsoft.com/office/officeart/2005/8/colors/accent6_2" csCatId="accent6" phldr="1"/>
      <dgm:spPr/>
      <dgm:t>
        <a:bodyPr/>
        <a:lstStyle/>
        <a:p>
          <a:endParaRPr lang="en-IN"/>
        </a:p>
      </dgm:t>
    </dgm:pt>
    <dgm:pt modelId="{B163C9E9-54D2-44EE-888C-FC69AB8120CD}">
      <dgm:prSet phldrT="[Text]"/>
      <dgm:spPr/>
      <dgm:t>
        <a:bodyPr/>
        <a:lstStyle/>
        <a:p>
          <a:pPr>
            <a:buNone/>
          </a:pPr>
          <a:r>
            <a:rPr lang="en-IN" dirty="0"/>
            <a:t>AI Result</a:t>
          </a:r>
        </a:p>
      </dgm:t>
    </dgm:pt>
    <dgm:pt modelId="{2E517A64-84EA-4483-9942-EAA4D4538FF1}" type="parTrans" cxnId="{442E9031-FC4D-4C3A-A0F8-0756A173FEA6}">
      <dgm:prSet/>
      <dgm:spPr/>
      <dgm:t>
        <a:bodyPr/>
        <a:lstStyle/>
        <a:p>
          <a:endParaRPr lang="en-IN"/>
        </a:p>
      </dgm:t>
    </dgm:pt>
    <dgm:pt modelId="{3AE4A1B6-6930-4103-9951-575A25162553}" type="sibTrans" cxnId="{442E9031-FC4D-4C3A-A0F8-0756A173FEA6}">
      <dgm:prSet/>
      <dgm:spPr/>
      <dgm:t>
        <a:bodyPr/>
        <a:lstStyle/>
        <a:p>
          <a:endParaRPr lang="en-IN"/>
        </a:p>
      </dgm:t>
    </dgm:pt>
    <dgm:pt modelId="{CDB957F9-3F43-4199-BFC9-2E6493166FBC}">
      <dgm:prSet phldrT="[Text]" phldr="0"/>
      <dgm:spPr/>
      <dgm:t>
        <a:bodyPr/>
        <a:lstStyle/>
        <a:p>
          <a:r>
            <a:rPr lang="en-IN" dirty="0"/>
            <a:t>Risk Level</a:t>
          </a:r>
        </a:p>
      </dgm:t>
    </dgm:pt>
    <dgm:pt modelId="{CBBE2F83-076B-4A1B-A0B8-C0620C65E6B2}" type="parTrans" cxnId="{8E7E5352-F425-41B5-AC6B-B1387C3F9AE2}">
      <dgm:prSet/>
      <dgm:spPr/>
      <dgm:t>
        <a:bodyPr/>
        <a:lstStyle/>
        <a:p>
          <a:endParaRPr lang="en-IN"/>
        </a:p>
      </dgm:t>
    </dgm:pt>
    <dgm:pt modelId="{5719F788-36A8-4F9B-BBFE-7B05080E7684}" type="sibTrans" cxnId="{8E7E5352-F425-41B5-AC6B-B1387C3F9AE2}">
      <dgm:prSet/>
      <dgm:spPr/>
      <dgm:t>
        <a:bodyPr/>
        <a:lstStyle/>
        <a:p>
          <a:endParaRPr lang="en-IN"/>
        </a:p>
      </dgm:t>
    </dgm:pt>
    <dgm:pt modelId="{CA216203-3D28-469F-B115-DD71E8B8790B}">
      <dgm:prSet phldrT="[Text]" phldr="0"/>
      <dgm:spPr/>
      <dgm:t>
        <a:bodyPr/>
        <a:lstStyle/>
        <a:p>
          <a:r>
            <a:rPr lang="en-IN" dirty="0"/>
            <a:t>Software Policy</a:t>
          </a:r>
        </a:p>
      </dgm:t>
    </dgm:pt>
    <dgm:pt modelId="{EBE64919-C651-4C9A-980D-FB8963EEFCA6}" type="parTrans" cxnId="{AE405068-55EA-4E05-83A8-DAA055ED32AA}">
      <dgm:prSet/>
      <dgm:spPr/>
      <dgm:t>
        <a:bodyPr/>
        <a:lstStyle/>
        <a:p>
          <a:endParaRPr lang="en-IN"/>
        </a:p>
      </dgm:t>
    </dgm:pt>
    <dgm:pt modelId="{40424057-856E-4F73-B784-86351FB9B4D8}" type="sibTrans" cxnId="{AE405068-55EA-4E05-83A8-DAA055ED32AA}">
      <dgm:prSet/>
      <dgm:spPr/>
      <dgm:t>
        <a:bodyPr/>
        <a:lstStyle/>
        <a:p>
          <a:endParaRPr lang="en-IN"/>
        </a:p>
      </dgm:t>
    </dgm:pt>
    <dgm:pt modelId="{42D7586D-3C28-4600-B482-7F9E4B6900E4}">
      <dgm:prSet phldrT="[Text]" phldr="0"/>
      <dgm:spPr/>
      <dgm:t>
        <a:bodyPr/>
        <a:lstStyle/>
        <a:p>
          <a:pPr>
            <a:buNone/>
          </a:pPr>
          <a:r>
            <a:rPr lang="en-IN" dirty="0"/>
            <a:t>BMS / Vehicle Action</a:t>
          </a:r>
        </a:p>
      </dgm:t>
    </dgm:pt>
    <dgm:pt modelId="{58B35461-85DC-40FB-B289-6326EC6AD9C5}" type="parTrans" cxnId="{9884B93C-91A9-4F45-AFD0-540FFAF0452B}">
      <dgm:prSet/>
      <dgm:spPr/>
      <dgm:t>
        <a:bodyPr/>
        <a:lstStyle/>
        <a:p>
          <a:endParaRPr lang="en-IN"/>
        </a:p>
      </dgm:t>
    </dgm:pt>
    <dgm:pt modelId="{FAD03D6C-E53A-460C-8485-132E4260B1B1}" type="sibTrans" cxnId="{9884B93C-91A9-4F45-AFD0-540FFAF0452B}">
      <dgm:prSet/>
      <dgm:spPr/>
      <dgm:t>
        <a:bodyPr/>
        <a:lstStyle/>
        <a:p>
          <a:endParaRPr lang="en-IN"/>
        </a:p>
      </dgm:t>
    </dgm:pt>
    <dgm:pt modelId="{EF0AA2D0-0F60-47FA-88F0-F9427F438664}" type="pres">
      <dgm:prSet presAssocID="{0937E440-BCFF-46E5-8A6E-5144C2A9E2B1}" presName="Name0" presStyleCnt="0">
        <dgm:presLayoutVars>
          <dgm:dir/>
          <dgm:resizeHandles val="exact"/>
        </dgm:presLayoutVars>
      </dgm:prSet>
      <dgm:spPr/>
    </dgm:pt>
    <dgm:pt modelId="{3AFA3F20-E734-4FEE-A837-3AF52B693852}" type="pres">
      <dgm:prSet presAssocID="{B163C9E9-54D2-44EE-888C-FC69AB8120CD}" presName="node" presStyleLbl="node1" presStyleIdx="0" presStyleCnt="4">
        <dgm:presLayoutVars>
          <dgm:bulletEnabled val="1"/>
        </dgm:presLayoutVars>
      </dgm:prSet>
      <dgm:spPr/>
    </dgm:pt>
    <dgm:pt modelId="{0352648C-E84A-442D-90EF-FE7C540967C8}" type="pres">
      <dgm:prSet presAssocID="{3AE4A1B6-6930-4103-9951-575A25162553}" presName="sibTrans" presStyleLbl="sibTrans2D1" presStyleIdx="0" presStyleCnt="3"/>
      <dgm:spPr/>
    </dgm:pt>
    <dgm:pt modelId="{5FB49572-5941-41DE-852D-E12DD3C74AE3}" type="pres">
      <dgm:prSet presAssocID="{3AE4A1B6-6930-4103-9951-575A25162553}" presName="connectorText" presStyleLbl="sibTrans2D1" presStyleIdx="0" presStyleCnt="3"/>
      <dgm:spPr/>
    </dgm:pt>
    <dgm:pt modelId="{015FDB89-5632-422F-B9D0-BD8F767A3DF9}" type="pres">
      <dgm:prSet presAssocID="{CDB957F9-3F43-4199-BFC9-2E6493166FBC}" presName="node" presStyleLbl="node1" presStyleIdx="1" presStyleCnt="4">
        <dgm:presLayoutVars>
          <dgm:bulletEnabled val="1"/>
        </dgm:presLayoutVars>
      </dgm:prSet>
      <dgm:spPr/>
    </dgm:pt>
    <dgm:pt modelId="{2DEA0C8E-0534-477F-AC6A-2815EBCD0396}" type="pres">
      <dgm:prSet presAssocID="{5719F788-36A8-4F9B-BBFE-7B05080E7684}" presName="sibTrans" presStyleLbl="sibTrans2D1" presStyleIdx="1" presStyleCnt="3"/>
      <dgm:spPr/>
    </dgm:pt>
    <dgm:pt modelId="{83095DF6-0BF2-4FD9-8D36-651A8DBF8EE5}" type="pres">
      <dgm:prSet presAssocID="{5719F788-36A8-4F9B-BBFE-7B05080E7684}" presName="connectorText" presStyleLbl="sibTrans2D1" presStyleIdx="1" presStyleCnt="3"/>
      <dgm:spPr/>
    </dgm:pt>
    <dgm:pt modelId="{4A2CB81B-57CD-44DF-9345-03C1CDE0851D}" type="pres">
      <dgm:prSet presAssocID="{CA216203-3D28-469F-B115-DD71E8B8790B}" presName="node" presStyleLbl="node1" presStyleIdx="2" presStyleCnt="4">
        <dgm:presLayoutVars>
          <dgm:bulletEnabled val="1"/>
        </dgm:presLayoutVars>
      </dgm:prSet>
      <dgm:spPr/>
    </dgm:pt>
    <dgm:pt modelId="{16629CDD-D311-45D9-A9E5-3F39DA43D2F9}" type="pres">
      <dgm:prSet presAssocID="{40424057-856E-4F73-B784-86351FB9B4D8}" presName="sibTrans" presStyleLbl="sibTrans2D1" presStyleIdx="2" presStyleCnt="3"/>
      <dgm:spPr/>
    </dgm:pt>
    <dgm:pt modelId="{9457EC16-D9A5-451D-9203-E68BBF1AA6CE}" type="pres">
      <dgm:prSet presAssocID="{40424057-856E-4F73-B784-86351FB9B4D8}" presName="connectorText" presStyleLbl="sibTrans2D1" presStyleIdx="2" presStyleCnt="3"/>
      <dgm:spPr/>
    </dgm:pt>
    <dgm:pt modelId="{7707A784-7661-452D-A1FF-80F914B6D00C}" type="pres">
      <dgm:prSet presAssocID="{42D7586D-3C28-4600-B482-7F9E4B6900E4}" presName="node" presStyleLbl="node1" presStyleIdx="3" presStyleCnt="4">
        <dgm:presLayoutVars>
          <dgm:bulletEnabled val="1"/>
        </dgm:presLayoutVars>
      </dgm:prSet>
      <dgm:spPr/>
    </dgm:pt>
  </dgm:ptLst>
  <dgm:cxnLst>
    <dgm:cxn modelId="{DD0A9B0B-A813-427E-8377-B2485253C078}" type="presOf" srcId="{5719F788-36A8-4F9B-BBFE-7B05080E7684}" destId="{83095DF6-0BF2-4FD9-8D36-651A8DBF8EE5}" srcOrd="1" destOrd="0" presId="urn:microsoft.com/office/officeart/2005/8/layout/process1"/>
    <dgm:cxn modelId="{39D0E61D-1747-4941-9736-E49D10AAEBFC}" type="presOf" srcId="{42D7586D-3C28-4600-B482-7F9E4B6900E4}" destId="{7707A784-7661-452D-A1FF-80F914B6D00C}" srcOrd="0" destOrd="0" presId="urn:microsoft.com/office/officeart/2005/8/layout/process1"/>
    <dgm:cxn modelId="{442E9031-FC4D-4C3A-A0F8-0756A173FEA6}" srcId="{0937E440-BCFF-46E5-8A6E-5144C2A9E2B1}" destId="{B163C9E9-54D2-44EE-888C-FC69AB8120CD}" srcOrd="0" destOrd="0" parTransId="{2E517A64-84EA-4483-9942-EAA4D4538FF1}" sibTransId="{3AE4A1B6-6930-4103-9951-575A25162553}"/>
    <dgm:cxn modelId="{9884B93C-91A9-4F45-AFD0-540FFAF0452B}" srcId="{0937E440-BCFF-46E5-8A6E-5144C2A9E2B1}" destId="{42D7586D-3C28-4600-B482-7F9E4B6900E4}" srcOrd="3" destOrd="0" parTransId="{58B35461-85DC-40FB-B289-6326EC6AD9C5}" sibTransId="{FAD03D6C-E53A-460C-8485-132E4260B1B1}"/>
    <dgm:cxn modelId="{ACBA515B-598E-4A30-B233-AC53168D494B}" type="presOf" srcId="{5719F788-36A8-4F9B-BBFE-7B05080E7684}" destId="{2DEA0C8E-0534-477F-AC6A-2815EBCD0396}" srcOrd="0" destOrd="0" presId="urn:microsoft.com/office/officeart/2005/8/layout/process1"/>
    <dgm:cxn modelId="{AE405068-55EA-4E05-83A8-DAA055ED32AA}" srcId="{0937E440-BCFF-46E5-8A6E-5144C2A9E2B1}" destId="{CA216203-3D28-469F-B115-DD71E8B8790B}" srcOrd="2" destOrd="0" parTransId="{EBE64919-C651-4C9A-980D-FB8963EEFCA6}" sibTransId="{40424057-856E-4F73-B784-86351FB9B4D8}"/>
    <dgm:cxn modelId="{F524454F-8BB5-4C61-A25C-67D0317C045D}" type="presOf" srcId="{CA216203-3D28-469F-B115-DD71E8B8790B}" destId="{4A2CB81B-57CD-44DF-9345-03C1CDE0851D}" srcOrd="0" destOrd="0" presId="urn:microsoft.com/office/officeart/2005/8/layout/process1"/>
    <dgm:cxn modelId="{8E7E5352-F425-41B5-AC6B-B1387C3F9AE2}" srcId="{0937E440-BCFF-46E5-8A6E-5144C2A9E2B1}" destId="{CDB957F9-3F43-4199-BFC9-2E6493166FBC}" srcOrd="1" destOrd="0" parTransId="{CBBE2F83-076B-4A1B-A0B8-C0620C65E6B2}" sibTransId="{5719F788-36A8-4F9B-BBFE-7B05080E7684}"/>
    <dgm:cxn modelId="{9B1D4F57-6A47-4D06-B94B-A9E9B56BE648}" type="presOf" srcId="{B163C9E9-54D2-44EE-888C-FC69AB8120CD}" destId="{3AFA3F20-E734-4FEE-A837-3AF52B693852}" srcOrd="0" destOrd="0" presId="urn:microsoft.com/office/officeart/2005/8/layout/process1"/>
    <dgm:cxn modelId="{29D9D87C-F900-45BC-8D6E-0CA1E117B070}" type="presOf" srcId="{0937E440-BCFF-46E5-8A6E-5144C2A9E2B1}" destId="{EF0AA2D0-0F60-47FA-88F0-F9427F438664}" srcOrd="0" destOrd="0" presId="urn:microsoft.com/office/officeart/2005/8/layout/process1"/>
    <dgm:cxn modelId="{BF3EF09D-897E-4EE8-AECF-6337D301FA42}" type="presOf" srcId="{CDB957F9-3F43-4199-BFC9-2E6493166FBC}" destId="{015FDB89-5632-422F-B9D0-BD8F767A3DF9}" srcOrd="0" destOrd="0" presId="urn:microsoft.com/office/officeart/2005/8/layout/process1"/>
    <dgm:cxn modelId="{0DB04CA6-A791-4111-9363-CEDE5EC86047}" type="presOf" srcId="{40424057-856E-4F73-B784-86351FB9B4D8}" destId="{9457EC16-D9A5-451D-9203-E68BBF1AA6CE}" srcOrd="1" destOrd="0" presId="urn:microsoft.com/office/officeart/2005/8/layout/process1"/>
    <dgm:cxn modelId="{221F6BC1-381D-4837-8418-ACE274E8047E}" type="presOf" srcId="{3AE4A1B6-6930-4103-9951-575A25162553}" destId="{0352648C-E84A-442D-90EF-FE7C540967C8}" srcOrd="0" destOrd="0" presId="urn:microsoft.com/office/officeart/2005/8/layout/process1"/>
    <dgm:cxn modelId="{15B7DEE2-F40E-40D3-B957-8FF34290DE51}" type="presOf" srcId="{3AE4A1B6-6930-4103-9951-575A25162553}" destId="{5FB49572-5941-41DE-852D-E12DD3C74AE3}" srcOrd="1" destOrd="0" presId="urn:microsoft.com/office/officeart/2005/8/layout/process1"/>
    <dgm:cxn modelId="{44CE95E6-BD93-4ACB-8E9F-E770C4BDD7E5}" type="presOf" srcId="{40424057-856E-4F73-B784-86351FB9B4D8}" destId="{16629CDD-D311-45D9-A9E5-3F39DA43D2F9}" srcOrd="0" destOrd="0" presId="urn:microsoft.com/office/officeart/2005/8/layout/process1"/>
    <dgm:cxn modelId="{19DA1CEF-DAEF-4CF7-8ECE-22DDC85B945A}" type="presParOf" srcId="{EF0AA2D0-0F60-47FA-88F0-F9427F438664}" destId="{3AFA3F20-E734-4FEE-A837-3AF52B693852}" srcOrd="0" destOrd="0" presId="urn:microsoft.com/office/officeart/2005/8/layout/process1"/>
    <dgm:cxn modelId="{0BBFB1FF-A78F-452A-A199-980C11DAA318}" type="presParOf" srcId="{EF0AA2D0-0F60-47FA-88F0-F9427F438664}" destId="{0352648C-E84A-442D-90EF-FE7C540967C8}" srcOrd="1" destOrd="0" presId="urn:microsoft.com/office/officeart/2005/8/layout/process1"/>
    <dgm:cxn modelId="{B2E6957B-AFA8-4CC3-A7EC-4CA31ECCCF9B}" type="presParOf" srcId="{0352648C-E84A-442D-90EF-FE7C540967C8}" destId="{5FB49572-5941-41DE-852D-E12DD3C74AE3}" srcOrd="0" destOrd="0" presId="urn:microsoft.com/office/officeart/2005/8/layout/process1"/>
    <dgm:cxn modelId="{99176247-6BA6-4126-B4FE-47CD5DB84F4A}" type="presParOf" srcId="{EF0AA2D0-0F60-47FA-88F0-F9427F438664}" destId="{015FDB89-5632-422F-B9D0-BD8F767A3DF9}" srcOrd="2" destOrd="0" presId="urn:microsoft.com/office/officeart/2005/8/layout/process1"/>
    <dgm:cxn modelId="{22830818-2784-48CD-B4DD-75F703C38281}" type="presParOf" srcId="{EF0AA2D0-0F60-47FA-88F0-F9427F438664}" destId="{2DEA0C8E-0534-477F-AC6A-2815EBCD0396}" srcOrd="3" destOrd="0" presId="urn:microsoft.com/office/officeart/2005/8/layout/process1"/>
    <dgm:cxn modelId="{ABABD51B-EFB9-4510-8598-91F15966ACD2}" type="presParOf" srcId="{2DEA0C8E-0534-477F-AC6A-2815EBCD0396}" destId="{83095DF6-0BF2-4FD9-8D36-651A8DBF8EE5}" srcOrd="0" destOrd="0" presId="urn:microsoft.com/office/officeart/2005/8/layout/process1"/>
    <dgm:cxn modelId="{8763E842-4CD9-41B5-BE84-F5491A7A5DEA}" type="presParOf" srcId="{EF0AA2D0-0F60-47FA-88F0-F9427F438664}" destId="{4A2CB81B-57CD-44DF-9345-03C1CDE0851D}" srcOrd="4" destOrd="0" presId="urn:microsoft.com/office/officeart/2005/8/layout/process1"/>
    <dgm:cxn modelId="{AD408FCF-5087-4B3E-8F5C-D16E1DD314E0}" type="presParOf" srcId="{EF0AA2D0-0F60-47FA-88F0-F9427F438664}" destId="{16629CDD-D311-45D9-A9E5-3F39DA43D2F9}" srcOrd="5" destOrd="0" presId="urn:microsoft.com/office/officeart/2005/8/layout/process1"/>
    <dgm:cxn modelId="{5CF2B844-1398-437D-AD2F-DE564548ED99}" type="presParOf" srcId="{16629CDD-D311-45D9-A9E5-3F39DA43D2F9}" destId="{9457EC16-D9A5-451D-9203-E68BBF1AA6CE}" srcOrd="0" destOrd="0" presId="urn:microsoft.com/office/officeart/2005/8/layout/process1"/>
    <dgm:cxn modelId="{A10E1BBA-B77F-4EC7-AF8B-36C054BD1286}" type="presParOf" srcId="{EF0AA2D0-0F60-47FA-88F0-F9427F438664}" destId="{7707A784-7661-452D-A1FF-80F914B6D00C}" srcOrd="6" destOrd="0" presId="urn:microsoft.com/office/officeart/2005/8/layout/process1"/>
  </dgm:cxnLst>
  <dgm:bg/>
  <dgm:whole/>
  <dgm:extLst>
    <a:ext uri="http://schemas.microsoft.com/office/drawing/2008/diagram">
      <dsp:dataModelExt xmlns:dsp="http://schemas.microsoft.com/office/drawing/2008/diagram" relId="rId1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3398F09-2D00-4555-93FC-B6EAB3EFAA44}">
      <dsp:nvSpPr>
        <dsp:cNvPr id="0" name=""/>
        <dsp:cNvSpPr/>
      </dsp:nvSpPr>
      <dsp:spPr>
        <a:xfrm>
          <a:off x="2888" y="444656"/>
          <a:ext cx="895554" cy="537332"/>
        </a:xfrm>
        <a:prstGeom prst="roundRect">
          <a:avLst>
            <a:gd name="adj" fmla="val 10000"/>
          </a:avLst>
        </a:prstGeom>
        <a:solidFill>
          <a:schemeClr val="accent6">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IN" sz="1100" kern="1200" dirty="0"/>
            <a:t>Real-Time Data</a:t>
          </a:r>
        </a:p>
      </dsp:txBody>
      <dsp:txXfrm>
        <a:off x="18626" y="460394"/>
        <a:ext cx="864078" cy="505856"/>
      </dsp:txXfrm>
    </dsp:sp>
    <dsp:sp modelId="{78133FEC-0D64-4462-8797-5A0119578E76}">
      <dsp:nvSpPr>
        <dsp:cNvPr id="0" name=""/>
        <dsp:cNvSpPr/>
      </dsp:nvSpPr>
      <dsp:spPr>
        <a:xfrm>
          <a:off x="987998" y="602273"/>
          <a:ext cx="189857" cy="222097"/>
        </a:xfrm>
        <a:prstGeom prst="rightArrow">
          <a:avLst>
            <a:gd name="adj1" fmla="val 60000"/>
            <a:gd name="adj2" fmla="val 50000"/>
          </a:avLst>
        </a:prstGeom>
        <a:solidFill>
          <a:schemeClr val="accent6">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00050">
            <a:lnSpc>
              <a:spcPct val="90000"/>
            </a:lnSpc>
            <a:spcBef>
              <a:spcPct val="0"/>
            </a:spcBef>
            <a:spcAft>
              <a:spcPct val="35000"/>
            </a:spcAft>
            <a:buNone/>
          </a:pPr>
          <a:endParaRPr lang="en-IN" sz="900" kern="1200"/>
        </a:p>
      </dsp:txBody>
      <dsp:txXfrm>
        <a:off x="987998" y="646692"/>
        <a:ext cx="132900" cy="133259"/>
      </dsp:txXfrm>
    </dsp:sp>
    <dsp:sp modelId="{C94553C7-0487-41B6-9D93-073FAE3A5F68}">
      <dsp:nvSpPr>
        <dsp:cNvPr id="0" name=""/>
        <dsp:cNvSpPr/>
      </dsp:nvSpPr>
      <dsp:spPr>
        <a:xfrm>
          <a:off x="1256664" y="444656"/>
          <a:ext cx="895554" cy="537332"/>
        </a:xfrm>
        <a:prstGeom prst="roundRect">
          <a:avLst>
            <a:gd name="adj" fmla="val 10000"/>
          </a:avLst>
        </a:prstGeom>
        <a:solidFill>
          <a:schemeClr val="accent6">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IN" sz="1100" kern="1200"/>
            <a:t>Screening</a:t>
          </a:r>
          <a:endParaRPr lang="en-IN" sz="1100" kern="1200" dirty="0"/>
        </a:p>
      </dsp:txBody>
      <dsp:txXfrm>
        <a:off x="1272402" y="460394"/>
        <a:ext cx="864078" cy="505856"/>
      </dsp:txXfrm>
    </dsp:sp>
    <dsp:sp modelId="{0EADC29A-4F6F-4F25-99D1-BEA335B79DE6}">
      <dsp:nvSpPr>
        <dsp:cNvPr id="0" name=""/>
        <dsp:cNvSpPr/>
      </dsp:nvSpPr>
      <dsp:spPr>
        <a:xfrm>
          <a:off x="2241774" y="602273"/>
          <a:ext cx="189857" cy="222097"/>
        </a:xfrm>
        <a:prstGeom prst="rightArrow">
          <a:avLst>
            <a:gd name="adj1" fmla="val 60000"/>
            <a:gd name="adj2" fmla="val 50000"/>
          </a:avLst>
        </a:prstGeom>
        <a:solidFill>
          <a:schemeClr val="accent6">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00050">
            <a:lnSpc>
              <a:spcPct val="90000"/>
            </a:lnSpc>
            <a:spcBef>
              <a:spcPct val="0"/>
            </a:spcBef>
            <a:spcAft>
              <a:spcPct val="35000"/>
            </a:spcAft>
            <a:buNone/>
          </a:pPr>
          <a:endParaRPr lang="en-IN" sz="900" kern="1200"/>
        </a:p>
      </dsp:txBody>
      <dsp:txXfrm>
        <a:off x="2241774" y="646692"/>
        <a:ext cx="132900" cy="133259"/>
      </dsp:txXfrm>
    </dsp:sp>
    <dsp:sp modelId="{96938582-E828-45AF-8432-69E0D47E755E}">
      <dsp:nvSpPr>
        <dsp:cNvPr id="0" name=""/>
        <dsp:cNvSpPr/>
      </dsp:nvSpPr>
      <dsp:spPr>
        <a:xfrm>
          <a:off x="2510440" y="444656"/>
          <a:ext cx="895554" cy="537332"/>
        </a:xfrm>
        <a:prstGeom prst="roundRect">
          <a:avLst>
            <a:gd name="adj" fmla="val 10000"/>
          </a:avLst>
        </a:prstGeom>
        <a:solidFill>
          <a:schemeClr val="accent6">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IN" sz="1100" kern="1200" dirty="0"/>
            <a:t>Suspicious? </a:t>
          </a:r>
        </a:p>
      </dsp:txBody>
      <dsp:txXfrm>
        <a:off x="2526178" y="460394"/>
        <a:ext cx="864078" cy="505856"/>
      </dsp:txXfrm>
    </dsp:sp>
    <dsp:sp modelId="{63A79F28-C3AE-4421-9140-C158ED07183E}">
      <dsp:nvSpPr>
        <dsp:cNvPr id="0" name=""/>
        <dsp:cNvSpPr/>
      </dsp:nvSpPr>
      <dsp:spPr>
        <a:xfrm>
          <a:off x="3495549" y="602273"/>
          <a:ext cx="189857" cy="222097"/>
        </a:xfrm>
        <a:prstGeom prst="rightArrow">
          <a:avLst>
            <a:gd name="adj1" fmla="val 60000"/>
            <a:gd name="adj2" fmla="val 50000"/>
          </a:avLst>
        </a:prstGeom>
        <a:solidFill>
          <a:schemeClr val="accent6">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00050">
            <a:lnSpc>
              <a:spcPct val="90000"/>
            </a:lnSpc>
            <a:spcBef>
              <a:spcPct val="0"/>
            </a:spcBef>
            <a:spcAft>
              <a:spcPct val="35000"/>
            </a:spcAft>
            <a:buNone/>
          </a:pPr>
          <a:endParaRPr lang="en-IN" sz="900" kern="1200"/>
        </a:p>
      </dsp:txBody>
      <dsp:txXfrm>
        <a:off x="3495549" y="646692"/>
        <a:ext cx="132900" cy="133259"/>
      </dsp:txXfrm>
    </dsp:sp>
    <dsp:sp modelId="{DB26D023-4D8B-49A2-8144-0386DBE5252A}">
      <dsp:nvSpPr>
        <dsp:cNvPr id="0" name=""/>
        <dsp:cNvSpPr/>
      </dsp:nvSpPr>
      <dsp:spPr>
        <a:xfrm>
          <a:off x="3764216" y="444656"/>
          <a:ext cx="895554" cy="537332"/>
        </a:xfrm>
        <a:prstGeom prst="roundRect">
          <a:avLst>
            <a:gd name="adj" fmla="val 10000"/>
          </a:avLst>
        </a:prstGeom>
        <a:solidFill>
          <a:schemeClr val="accent6">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IN" sz="1100" kern="1200" dirty="0"/>
            <a:t>AI Verification </a:t>
          </a:r>
        </a:p>
      </dsp:txBody>
      <dsp:txXfrm>
        <a:off x="3779954" y="460394"/>
        <a:ext cx="864078" cy="505856"/>
      </dsp:txXfrm>
    </dsp:sp>
    <dsp:sp modelId="{500A13C3-D461-46BD-ABC2-B5E645C84E97}">
      <dsp:nvSpPr>
        <dsp:cNvPr id="0" name=""/>
        <dsp:cNvSpPr/>
      </dsp:nvSpPr>
      <dsp:spPr>
        <a:xfrm>
          <a:off x="4749325" y="602273"/>
          <a:ext cx="189857" cy="222097"/>
        </a:xfrm>
        <a:prstGeom prst="rightArrow">
          <a:avLst>
            <a:gd name="adj1" fmla="val 60000"/>
            <a:gd name="adj2" fmla="val 50000"/>
          </a:avLst>
        </a:prstGeom>
        <a:solidFill>
          <a:schemeClr val="accent6">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00050">
            <a:lnSpc>
              <a:spcPct val="90000"/>
            </a:lnSpc>
            <a:spcBef>
              <a:spcPct val="0"/>
            </a:spcBef>
            <a:spcAft>
              <a:spcPct val="35000"/>
            </a:spcAft>
            <a:buNone/>
          </a:pPr>
          <a:endParaRPr lang="en-IN" sz="900" kern="1200"/>
        </a:p>
      </dsp:txBody>
      <dsp:txXfrm>
        <a:off x="4749325" y="646692"/>
        <a:ext cx="132900" cy="133259"/>
      </dsp:txXfrm>
    </dsp:sp>
    <dsp:sp modelId="{2221A82A-0AAA-45BA-A02F-1D6FA4027275}">
      <dsp:nvSpPr>
        <dsp:cNvPr id="0" name=""/>
        <dsp:cNvSpPr/>
      </dsp:nvSpPr>
      <dsp:spPr>
        <a:xfrm>
          <a:off x="5017991" y="444656"/>
          <a:ext cx="895554" cy="537332"/>
        </a:xfrm>
        <a:prstGeom prst="roundRect">
          <a:avLst>
            <a:gd name="adj" fmla="val 10000"/>
          </a:avLst>
        </a:prstGeom>
        <a:solidFill>
          <a:schemeClr val="accent6">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IN" sz="1100" kern="1200" dirty="0"/>
            <a:t>Risk Assessment</a:t>
          </a:r>
        </a:p>
      </dsp:txBody>
      <dsp:txXfrm>
        <a:off x="5033729" y="460394"/>
        <a:ext cx="864078" cy="50585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2D526B6-848B-4548-AD36-4093EC5AB3D6}">
      <dsp:nvSpPr>
        <dsp:cNvPr id="0" name=""/>
        <dsp:cNvSpPr/>
      </dsp:nvSpPr>
      <dsp:spPr>
        <a:xfrm>
          <a:off x="2026" y="96513"/>
          <a:ext cx="885905" cy="531543"/>
        </a:xfrm>
        <a:prstGeom prst="roundRect">
          <a:avLst>
            <a:gd name="adj" fmla="val 10000"/>
          </a:avLst>
        </a:prstGeom>
        <a:solidFill>
          <a:schemeClr val="accent6">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IN" sz="1300" kern="1200" dirty="0"/>
            <a:t>Monitor </a:t>
          </a:r>
        </a:p>
      </dsp:txBody>
      <dsp:txXfrm>
        <a:off x="17594" y="112081"/>
        <a:ext cx="854769" cy="500407"/>
      </dsp:txXfrm>
    </dsp:sp>
    <dsp:sp modelId="{AA2E9DB9-0480-4A4F-A719-87B49BED2339}">
      <dsp:nvSpPr>
        <dsp:cNvPr id="0" name=""/>
        <dsp:cNvSpPr/>
      </dsp:nvSpPr>
      <dsp:spPr>
        <a:xfrm>
          <a:off x="976522" y="252432"/>
          <a:ext cx="187812" cy="219704"/>
        </a:xfrm>
        <a:prstGeom prst="rightArrow">
          <a:avLst>
            <a:gd name="adj1" fmla="val 60000"/>
            <a:gd name="adj2" fmla="val 50000"/>
          </a:avLst>
        </a:prstGeom>
        <a:solidFill>
          <a:schemeClr val="accent6">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00050">
            <a:lnSpc>
              <a:spcPct val="90000"/>
            </a:lnSpc>
            <a:spcBef>
              <a:spcPct val="0"/>
            </a:spcBef>
            <a:spcAft>
              <a:spcPct val="35000"/>
            </a:spcAft>
            <a:buNone/>
          </a:pPr>
          <a:endParaRPr lang="en-IN" sz="900" kern="1200"/>
        </a:p>
      </dsp:txBody>
      <dsp:txXfrm>
        <a:off x="976522" y="296373"/>
        <a:ext cx="131468" cy="131822"/>
      </dsp:txXfrm>
    </dsp:sp>
    <dsp:sp modelId="{ADB0A5AB-09F8-4C16-BC17-7C3FC6840BF7}">
      <dsp:nvSpPr>
        <dsp:cNvPr id="0" name=""/>
        <dsp:cNvSpPr/>
      </dsp:nvSpPr>
      <dsp:spPr>
        <a:xfrm>
          <a:off x="1242294" y="96513"/>
          <a:ext cx="885905" cy="531543"/>
        </a:xfrm>
        <a:prstGeom prst="roundRect">
          <a:avLst>
            <a:gd name="adj" fmla="val 10000"/>
          </a:avLst>
        </a:prstGeom>
        <a:solidFill>
          <a:schemeClr val="accent6">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IN" sz="1300" kern="1200" dirty="0"/>
            <a:t>Fast Screening</a:t>
          </a:r>
        </a:p>
      </dsp:txBody>
      <dsp:txXfrm>
        <a:off x="1257862" y="112081"/>
        <a:ext cx="854769" cy="500407"/>
      </dsp:txXfrm>
    </dsp:sp>
    <dsp:sp modelId="{13B7904A-6D13-4AC0-B547-9EA5B101B011}">
      <dsp:nvSpPr>
        <dsp:cNvPr id="0" name=""/>
        <dsp:cNvSpPr/>
      </dsp:nvSpPr>
      <dsp:spPr>
        <a:xfrm>
          <a:off x="2216790" y="252432"/>
          <a:ext cx="187812" cy="219704"/>
        </a:xfrm>
        <a:prstGeom prst="rightArrow">
          <a:avLst>
            <a:gd name="adj1" fmla="val 60000"/>
            <a:gd name="adj2" fmla="val 50000"/>
          </a:avLst>
        </a:prstGeom>
        <a:solidFill>
          <a:schemeClr val="accent6">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00050">
            <a:lnSpc>
              <a:spcPct val="90000"/>
            </a:lnSpc>
            <a:spcBef>
              <a:spcPct val="0"/>
            </a:spcBef>
            <a:spcAft>
              <a:spcPct val="35000"/>
            </a:spcAft>
            <a:buNone/>
          </a:pPr>
          <a:endParaRPr lang="en-IN" sz="900" kern="1200"/>
        </a:p>
      </dsp:txBody>
      <dsp:txXfrm>
        <a:off x="2216790" y="296373"/>
        <a:ext cx="131468" cy="131822"/>
      </dsp:txXfrm>
    </dsp:sp>
    <dsp:sp modelId="{35BEBF60-69E4-40CC-999E-C1ACF9078624}">
      <dsp:nvSpPr>
        <dsp:cNvPr id="0" name=""/>
        <dsp:cNvSpPr/>
      </dsp:nvSpPr>
      <dsp:spPr>
        <a:xfrm>
          <a:off x="2482562" y="96513"/>
          <a:ext cx="885905" cy="531543"/>
        </a:xfrm>
        <a:prstGeom prst="roundRect">
          <a:avLst>
            <a:gd name="adj" fmla="val 10000"/>
          </a:avLst>
        </a:prstGeom>
        <a:solidFill>
          <a:schemeClr val="accent6">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IN" sz="1300" kern="1200"/>
            <a:t>Yes</a:t>
          </a:r>
          <a:endParaRPr lang="en-IN" sz="1300" kern="1200" dirty="0"/>
        </a:p>
      </dsp:txBody>
      <dsp:txXfrm>
        <a:off x="2498130" y="112081"/>
        <a:ext cx="854769" cy="500407"/>
      </dsp:txXfrm>
    </dsp:sp>
    <dsp:sp modelId="{F45D1D67-E6FC-40B1-AABB-293973B8B667}">
      <dsp:nvSpPr>
        <dsp:cNvPr id="0" name=""/>
        <dsp:cNvSpPr/>
      </dsp:nvSpPr>
      <dsp:spPr>
        <a:xfrm>
          <a:off x="3457058" y="252432"/>
          <a:ext cx="187812" cy="219704"/>
        </a:xfrm>
        <a:prstGeom prst="rightArrow">
          <a:avLst>
            <a:gd name="adj1" fmla="val 60000"/>
            <a:gd name="adj2" fmla="val 50000"/>
          </a:avLst>
        </a:prstGeom>
        <a:solidFill>
          <a:schemeClr val="accent6">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00050">
            <a:lnSpc>
              <a:spcPct val="90000"/>
            </a:lnSpc>
            <a:spcBef>
              <a:spcPct val="0"/>
            </a:spcBef>
            <a:spcAft>
              <a:spcPct val="35000"/>
            </a:spcAft>
            <a:buNone/>
          </a:pPr>
          <a:endParaRPr lang="en-IN" sz="900" kern="1200"/>
        </a:p>
      </dsp:txBody>
      <dsp:txXfrm>
        <a:off x="3457058" y="296373"/>
        <a:ext cx="131468" cy="131822"/>
      </dsp:txXfrm>
    </dsp:sp>
    <dsp:sp modelId="{EB774E1A-872F-4036-AEE4-9A3CB113BC12}">
      <dsp:nvSpPr>
        <dsp:cNvPr id="0" name=""/>
        <dsp:cNvSpPr/>
      </dsp:nvSpPr>
      <dsp:spPr>
        <a:xfrm>
          <a:off x="3722830" y="96513"/>
          <a:ext cx="885905" cy="531543"/>
        </a:xfrm>
        <a:prstGeom prst="roundRect">
          <a:avLst>
            <a:gd name="adj" fmla="val 10000"/>
          </a:avLst>
        </a:prstGeom>
        <a:solidFill>
          <a:schemeClr val="accent6">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IN" sz="1300" kern="1200" dirty="0"/>
            <a:t>AI Inference</a:t>
          </a:r>
        </a:p>
      </dsp:txBody>
      <dsp:txXfrm>
        <a:off x="3738398" y="112081"/>
        <a:ext cx="854769" cy="500407"/>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AFA3F20-E734-4FEE-A837-3AF52B693852}">
      <dsp:nvSpPr>
        <dsp:cNvPr id="0" name=""/>
        <dsp:cNvSpPr/>
      </dsp:nvSpPr>
      <dsp:spPr>
        <a:xfrm>
          <a:off x="2041" y="6485"/>
          <a:ext cx="892573" cy="635958"/>
        </a:xfrm>
        <a:prstGeom prst="roundRect">
          <a:avLst>
            <a:gd name="adj" fmla="val 10000"/>
          </a:avLst>
        </a:prstGeom>
        <a:solidFill>
          <a:schemeClr val="accent6">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IN" sz="1200" kern="1200" dirty="0"/>
            <a:t>AI Result</a:t>
          </a:r>
        </a:p>
      </dsp:txBody>
      <dsp:txXfrm>
        <a:off x="20668" y="25112"/>
        <a:ext cx="855319" cy="598704"/>
      </dsp:txXfrm>
    </dsp:sp>
    <dsp:sp modelId="{0352648C-E84A-442D-90EF-FE7C540967C8}">
      <dsp:nvSpPr>
        <dsp:cNvPr id="0" name=""/>
        <dsp:cNvSpPr/>
      </dsp:nvSpPr>
      <dsp:spPr>
        <a:xfrm>
          <a:off x="983872" y="213785"/>
          <a:ext cx="189225" cy="221358"/>
        </a:xfrm>
        <a:prstGeom prst="rightArrow">
          <a:avLst>
            <a:gd name="adj1" fmla="val 60000"/>
            <a:gd name="adj2" fmla="val 50000"/>
          </a:avLst>
        </a:prstGeom>
        <a:solidFill>
          <a:schemeClr val="accent6">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00050">
            <a:lnSpc>
              <a:spcPct val="90000"/>
            </a:lnSpc>
            <a:spcBef>
              <a:spcPct val="0"/>
            </a:spcBef>
            <a:spcAft>
              <a:spcPct val="35000"/>
            </a:spcAft>
            <a:buNone/>
          </a:pPr>
          <a:endParaRPr lang="en-IN" sz="900" kern="1200"/>
        </a:p>
      </dsp:txBody>
      <dsp:txXfrm>
        <a:off x="983872" y="258057"/>
        <a:ext cx="132458" cy="132814"/>
      </dsp:txXfrm>
    </dsp:sp>
    <dsp:sp modelId="{015FDB89-5632-422F-B9D0-BD8F767A3DF9}">
      <dsp:nvSpPr>
        <dsp:cNvPr id="0" name=""/>
        <dsp:cNvSpPr/>
      </dsp:nvSpPr>
      <dsp:spPr>
        <a:xfrm>
          <a:off x="1251644" y="6485"/>
          <a:ext cx="892573" cy="635958"/>
        </a:xfrm>
        <a:prstGeom prst="roundRect">
          <a:avLst>
            <a:gd name="adj" fmla="val 10000"/>
          </a:avLst>
        </a:prstGeom>
        <a:solidFill>
          <a:schemeClr val="accent6">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IN" sz="1200" kern="1200" dirty="0"/>
            <a:t>Risk Level</a:t>
          </a:r>
        </a:p>
      </dsp:txBody>
      <dsp:txXfrm>
        <a:off x="1270271" y="25112"/>
        <a:ext cx="855319" cy="598704"/>
      </dsp:txXfrm>
    </dsp:sp>
    <dsp:sp modelId="{2DEA0C8E-0534-477F-AC6A-2815EBCD0396}">
      <dsp:nvSpPr>
        <dsp:cNvPr id="0" name=""/>
        <dsp:cNvSpPr/>
      </dsp:nvSpPr>
      <dsp:spPr>
        <a:xfrm>
          <a:off x="2233476" y="213785"/>
          <a:ext cx="189225" cy="221358"/>
        </a:xfrm>
        <a:prstGeom prst="rightArrow">
          <a:avLst>
            <a:gd name="adj1" fmla="val 60000"/>
            <a:gd name="adj2" fmla="val 50000"/>
          </a:avLst>
        </a:prstGeom>
        <a:solidFill>
          <a:schemeClr val="accent6">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00050">
            <a:lnSpc>
              <a:spcPct val="90000"/>
            </a:lnSpc>
            <a:spcBef>
              <a:spcPct val="0"/>
            </a:spcBef>
            <a:spcAft>
              <a:spcPct val="35000"/>
            </a:spcAft>
            <a:buNone/>
          </a:pPr>
          <a:endParaRPr lang="en-IN" sz="900" kern="1200"/>
        </a:p>
      </dsp:txBody>
      <dsp:txXfrm>
        <a:off x="2233476" y="258057"/>
        <a:ext cx="132458" cy="132814"/>
      </dsp:txXfrm>
    </dsp:sp>
    <dsp:sp modelId="{4A2CB81B-57CD-44DF-9345-03C1CDE0851D}">
      <dsp:nvSpPr>
        <dsp:cNvPr id="0" name=""/>
        <dsp:cNvSpPr/>
      </dsp:nvSpPr>
      <dsp:spPr>
        <a:xfrm>
          <a:off x="2501248" y="6485"/>
          <a:ext cx="892573" cy="635958"/>
        </a:xfrm>
        <a:prstGeom prst="roundRect">
          <a:avLst>
            <a:gd name="adj" fmla="val 10000"/>
          </a:avLst>
        </a:prstGeom>
        <a:solidFill>
          <a:schemeClr val="accent6">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IN" sz="1200" kern="1200" dirty="0"/>
            <a:t>Software Policy</a:t>
          </a:r>
        </a:p>
      </dsp:txBody>
      <dsp:txXfrm>
        <a:off x="2519875" y="25112"/>
        <a:ext cx="855319" cy="598704"/>
      </dsp:txXfrm>
    </dsp:sp>
    <dsp:sp modelId="{16629CDD-D311-45D9-A9E5-3F39DA43D2F9}">
      <dsp:nvSpPr>
        <dsp:cNvPr id="0" name=""/>
        <dsp:cNvSpPr/>
      </dsp:nvSpPr>
      <dsp:spPr>
        <a:xfrm>
          <a:off x="3483079" y="213785"/>
          <a:ext cx="189225" cy="221358"/>
        </a:xfrm>
        <a:prstGeom prst="rightArrow">
          <a:avLst>
            <a:gd name="adj1" fmla="val 60000"/>
            <a:gd name="adj2" fmla="val 50000"/>
          </a:avLst>
        </a:prstGeom>
        <a:solidFill>
          <a:schemeClr val="accent6">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00050">
            <a:lnSpc>
              <a:spcPct val="90000"/>
            </a:lnSpc>
            <a:spcBef>
              <a:spcPct val="0"/>
            </a:spcBef>
            <a:spcAft>
              <a:spcPct val="35000"/>
            </a:spcAft>
            <a:buNone/>
          </a:pPr>
          <a:endParaRPr lang="en-IN" sz="900" kern="1200"/>
        </a:p>
      </dsp:txBody>
      <dsp:txXfrm>
        <a:off x="3483079" y="258057"/>
        <a:ext cx="132458" cy="132814"/>
      </dsp:txXfrm>
    </dsp:sp>
    <dsp:sp modelId="{7707A784-7661-452D-A1FF-80F914B6D00C}">
      <dsp:nvSpPr>
        <dsp:cNvPr id="0" name=""/>
        <dsp:cNvSpPr/>
      </dsp:nvSpPr>
      <dsp:spPr>
        <a:xfrm>
          <a:off x="3750851" y="6485"/>
          <a:ext cx="892573" cy="635958"/>
        </a:xfrm>
        <a:prstGeom prst="roundRect">
          <a:avLst>
            <a:gd name="adj" fmla="val 10000"/>
          </a:avLst>
        </a:prstGeom>
        <a:solidFill>
          <a:schemeClr val="accent6">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IN" sz="1200" kern="1200" dirty="0"/>
            <a:t>BMS / Vehicle Action</a:t>
          </a:r>
        </a:p>
      </dsp:txBody>
      <dsp:txXfrm>
        <a:off x="3769478" y="25112"/>
        <a:ext cx="855319" cy="598704"/>
      </dsp:txXfrm>
    </dsp:sp>
  </dsp:spTree>
</dsp:drawing>
</file>

<file path=ppt/diagrams/layout1.xml><?xml version="1.0" encoding="utf-8"?>
<dgm:layoutDef xmlns:dgm="http://schemas.openxmlformats.org/drawingml/2006/diagram" xmlns:a="http://schemas.openxmlformats.org/drawingml/2006/main" uniqueId="urn:microsoft.com/office/officeart/2005/8/layout/venn3">
  <dgm:title val=""/>
  <dgm:desc val=""/>
  <dgm:catLst>
    <dgm:cat type="relationship" pri="2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fallback" val="2D"/>
        </dgm:alg>
      </dgm:if>
      <dgm:else name="Name3">
        <dgm:alg type="lin">
          <dgm:param type="fallback" val="2D"/>
          <dgm:param type="linDir" val="fromR"/>
        </dgm:alg>
      </dgm:else>
    </dgm:choose>
    <dgm:shape xmlns:r="http://schemas.openxmlformats.org/officeDocument/2006/relationships" r:blip="">
      <dgm:adjLst/>
    </dgm:shape>
    <dgm:presOf/>
    <dgm:constrLst>
      <dgm:constr type="w" for="ch" ptType="node" refType="w"/>
      <dgm:constr type="h" for="ch" ptType="node" refType="w" refFor="ch" refPtType="node"/>
      <dgm:constr type="w" for="ch" forName="space" refType="w" refFor="ch" refPtType="node" fact="-0.2"/>
      <dgm:constr type="primFontSz" for="ch" ptType="node" op="equ" val="65"/>
    </dgm:constrLst>
    <dgm:ruleLst/>
    <dgm:forEach name="Name4" axis="ch" ptType="node">
      <dgm:layoutNode name="Name5" styleLbl="vennNode1">
        <dgm:varLst>
          <dgm:bulletEnabled val="1"/>
        </dgm:varLst>
        <dgm:alg type="tx">
          <dgm:param type="txAnchorVertCh" val="mid"/>
          <dgm:param type="txAnchorHorzCh" val="ctr"/>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w" fact="0.156"/>
          <dgm:constr type="rMarg" refType="w" fact="0.156"/>
        </dgm:constrLst>
        <dgm:ruleLst>
          <dgm:rule type="primFontSz" val="5" fact="NaN" max="NaN"/>
        </dgm:ruleLst>
      </dgm:layoutNode>
      <dgm:forEach name="Name6"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7">
  <dgm:title val=""/>
  <dgm:desc val=""/>
  <dgm:catLst>
    <dgm:cat type="3D" pri="11700"/>
  </dgm:catLst>
  <dgm:scene3d>
    <a:camera prst="perspectiveLeft" zoom="91000"/>
    <a:lightRig rig="threePt" dir="t">
      <a:rot lat="0" lon="0" rev="20640000"/>
    </a:lightRig>
  </dgm:scene3d>
  <dgm:styleLbl name="node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lnNod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vennNode1">
    <dgm:scene3d>
      <a:camera prst="orthographicFront"/>
      <a:lightRig rig="threePt" dir="t"/>
    </dgm:scene3d>
    <dgm:sp3d extrusionH="50600" prstMaterial="clear">
      <a:bevelT w="101600" h="80600" prst="relaxedInset"/>
      <a:bevelB w="80600" h="80600" prst="relaxedInset"/>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extrusionH="50600" prstMaterial="metal">
      <a:bevelT w="101600" h="80600" prst="relaxedInset"/>
      <a:bevelB w="80600" h="80600" prst="relaxedInset"/>
    </dgm:sp3d>
    <dgm:txPr/>
    <dgm:style>
      <a:lnRef idx="1">
        <a:scrgbClr r="0" g="0" b="0"/>
      </a:lnRef>
      <a:fillRef idx="1">
        <a:scrgbClr r="0" g="0" b="0"/>
      </a:fillRef>
      <a:effectRef idx="1">
        <a:scrgbClr r="0" g="0" b="0"/>
      </a:effectRef>
      <a:fontRef idx="minor">
        <a:schemeClr val="dk1"/>
      </a:fontRef>
    </dgm:style>
  </dgm:styleLbl>
  <dgm:styleLbl name="node1">
    <dgm:scene3d>
      <a:camera prst="orthographicFront"/>
      <a:lightRig rig="threePt" dir="t"/>
    </dgm:scene3d>
    <dgm:sp3d extrusionH="50600" prstMaterial="metal">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fgImgPlace1">
    <dgm:scene3d>
      <a:camera prst="orthographicFront"/>
      <a:lightRig rig="threePt" dir="t"/>
    </dgm:scene3d>
    <dgm:sp3d z="572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alignImgPlac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dgm:style>
  </dgm:styleLbl>
  <dgm:styleLbl name="bgImgPlace1">
    <dgm:scene3d>
      <a:camera prst="orthographicFront"/>
      <a:lightRig rig="threePt" dir="t"/>
    </dgm:scene3d>
    <dgm:sp3d z="-2118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sibTrans2D1">
    <dgm:scene3d>
      <a:camera prst="orthographicFront"/>
      <a:lightRig rig="threePt" dir="t"/>
    </dgm:scene3d>
    <dgm:sp3d z="-110000">
      <a:bevelT w="40600" h="20600" prst="relaxedInset"/>
    </dgm:sp3d>
    <dgm:txPr/>
    <dgm:style>
      <a:lnRef idx="0">
        <a:scrgbClr r="0" g="0" b="0"/>
      </a:lnRef>
      <a:fillRef idx="1">
        <a:scrgbClr r="0" g="0" b="0"/>
      </a:fillRef>
      <a:effectRef idx="2">
        <a:scrgbClr r="0" g="0" b="0"/>
      </a:effectRef>
      <a:fontRef idx="minor"/>
    </dgm:style>
  </dgm:styleLbl>
  <dgm:styleLbl name="fgSibTrans2D1">
    <dgm:scene3d>
      <a:camera prst="orthographicFront"/>
      <a:lightRig rig="threePt" dir="t"/>
    </dgm:scene3d>
    <dgm:sp3d z="10600">
      <a:bevelT w="40600" h="20600" prst="relaxedInset"/>
    </dgm:sp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sp3d z="-211800">
      <a:bevelT w="40600" h="20600" prst="relaxedInset"/>
    </dgm:sp3d>
    <dgm:txPr/>
    <dgm:style>
      <a:lnRef idx="0">
        <a:scrgbClr r="0" g="0" b="0"/>
      </a:lnRef>
      <a:fillRef idx="1">
        <a:scrgbClr r="0" g="0" b="0"/>
      </a:fillRef>
      <a:effectRef idx="2">
        <a:scrgbClr r="0" g="0" b="0"/>
      </a:effectRef>
      <a:fontRef idx="minor"/>
    </dgm:style>
  </dgm:styleLbl>
  <dgm:styleLbl name="sibTrans1D1">
    <dgm:scene3d>
      <a:camera prst="orthographicFront"/>
      <a:lightRig rig="threePt" dir="t"/>
    </dgm:scene3d>
    <dgm:sp3d z="-110000"/>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0000"/>
    <dgm:txPr/>
    <dgm:style>
      <a:lnRef idx="1">
        <a:scrgbClr r="0" g="0" b="0"/>
      </a:lnRef>
      <a:fillRef idx="1">
        <a:scrgbClr r="0" g="0" b="0"/>
      </a:fillRef>
      <a:effectRef idx="0">
        <a:scrgbClr r="0" g="0" b="0"/>
      </a:effectRef>
      <a:fontRef idx="minor"/>
    </dgm:style>
  </dgm:styleLbl>
  <dgm:styleLbl name="asst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parChTrans2D1">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2">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3">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parChTrans2D4">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parChTrans1D1">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extrusionH="50600">
      <a:bevelT w="101600" h="80600"/>
      <a:bevelB w="80600" h="80600"/>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extrusionH="50600">
      <a:bevelT w="101600" h="80600"/>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solidAlignAcc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solidBgAcc1">
    <dgm:scene3d>
      <a:camera prst="orthographicFront"/>
      <a:lightRig rig="threePt" dir="t"/>
    </dgm:scene3d>
    <dgm:sp3d z="-161800" extrusionH="10600" contourW="3000">
      <a:bevelT w="48600" h="8600" prst="softRound"/>
      <a:bevelB w="48600" h="8600" prst="relaxedInset"/>
    </dgm:sp3d>
    <dgm:txPr/>
    <dgm:style>
      <a:lnRef idx="0">
        <a:scrgbClr r="0" g="0" b="0"/>
      </a:lnRef>
      <a:fillRef idx="1">
        <a:scrgbClr r="0" g="0" b="0"/>
      </a:fillRef>
      <a:effectRef idx="0">
        <a:scrgbClr r="0" g="0" b="0"/>
      </a:effectRef>
      <a:fontRef idx="minor"/>
    </dgm:style>
  </dgm:styleLbl>
  <dgm:styleLbl name="fgAccFollowNode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alignAccFollowNode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bgAccFollowNode1">
    <dgm:scene3d>
      <a:camera prst="orthographicFront"/>
      <a:lightRig rig="threePt" dir="t"/>
    </dgm:scene3d>
    <dgm:sp3d z="-161800" extrusionH="10600" contourW="3000">
      <a:bevelT w="48600" h="8600" prst="relaxedInset"/>
      <a:bevelB w="48600" h="8600" prst="relaxedInset"/>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z="-1618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extrusionH="50600">
      <a:bevelT w="80600" h="80600" prst="relaxedInset"/>
      <a:bevelB w="80600" h="80600" prst="relaxedInset"/>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z="57200" extrusionH="600" contourW="3000" prstMaterial="plastic">
      <a:bevelT w="80600" h="18600" prst="relaxedInset"/>
      <a:bevelB w="80600" h="8600" prst="relaxedInset"/>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6830144-1B45-DAB1-394B-F2C3E223886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51FDD385-5B26-87D3-E354-BE6BF55142F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6C96921-92F3-49F4-9936-7884EE3F21CF}" type="datetimeFigureOut">
              <a:rPr lang="en-IN" smtClean="0"/>
              <a:t>13-08-2026</a:t>
            </a:fld>
            <a:endParaRPr lang="en-IN"/>
          </a:p>
        </p:txBody>
      </p:sp>
      <p:sp>
        <p:nvSpPr>
          <p:cNvPr id="4" name="Footer Placeholder 3">
            <a:extLst>
              <a:ext uri="{FF2B5EF4-FFF2-40B4-BE49-F238E27FC236}">
                <a16:creationId xmlns:a16="http://schemas.microsoft.com/office/drawing/2014/main" id="{E1F420C0-4CBC-96A1-AF4F-B18C406A1C7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5EBF801A-E4D6-D96D-14F1-1C24577D855F}"/>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CC7432A-17A1-4FF3-ADF0-C176E00C6EFE}" type="slidenum">
              <a:rPr lang="en-IN" smtClean="0"/>
              <a:t>‹#›</a:t>
            </a:fld>
            <a:endParaRPr lang="en-IN"/>
          </a:p>
        </p:txBody>
      </p:sp>
    </p:spTree>
    <p:extLst>
      <p:ext uri="{BB962C8B-B14F-4D97-AF65-F5344CB8AC3E}">
        <p14:creationId xmlns:p14="http://schemas.microsoft.com/office/powerpoint/2010/main" val="1781976483"/>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A666E0-C270-4F2D-A5DC-96BE795B540E}" type="datetimeFigureOut">
              <a:rPr lang="en-US" smtClean="0"/>
              <a:t>8/13/2026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F19044B-B5AF-477C-950C-4ED51263438D}" type="slidenum">
              <a:rPr lang="en-US" smtClean="0"/>
              <a:t>‹#›</a:t>
            </a:fld>
            <a:endParaRPr lang="en-US"/>
          </a:p>
        </p:txBody>
      </p:sp>
    </p:spTree>
    <p:extLst>
      <p:ext uri="{BB962C8B-B14F-4D97-AF65-F5344CB8AC3E}">
        <p14:creationId xmlns:p14="http://schemas.microsoft.com/office/powerpoint/2010/main" val="2208606093"/>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F84AE20-9EAE-4BB7-93AC-7EFA05BCA1CF}" type="slidenum">
              <a:rPr lang="en-IN" smtClean="0"/>
              <a:t>1</a:t>
            </a:fld>
            <a:endParaRPr lang="en-IN" dirty="0"/>
          </a:p>
        </p:txBody>
      </p:sp>
    </p:spTree>
    <p:extLst>
      <p:ext uri="{BB962C8B-B14F-4D97-AF65-F5344CB8AC3E}">
        <p14:creationId xmlns:p14="http://schemas.microsoft.com/office/powerpoint/2010/main" val="22274734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E162C7A-CC9D-4035-A213-68F795EB7A2A}" type="slidenum">
              <a:rPr lang="en-IN" smtClean="0"/>
              <a:t>5</a:t>
            </a:fld>
            <a:endParaRPr lang="en-IN"/>
          </a:p>
        </p:txBody>
      </p:sp>
    </p:spTree>
    <p:extLst>
      <p:ext uri="{BB962C8B-B14F-4D97-AF65-F5344CB8AC3E}">
        <p14:creationId xmlns:p14="http://schemas.microsoft.com/office/powerpoint/2010/main" val="16477035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E2BE77-A6B4-BF9A-F59F-6A1C17E6D45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9F4D497-63DE-C270-40A4-331A37D0B0E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7809C3A-1739-D230-186B-84454F605084}"/>
              </a:ext>
            </a:extLst>
          </p:cNvPr>
          <p:cNvSpPr>
            <a:spLocks noGrp="1"/>
          </p:cNvSpPr>
          <p:nvPr>
            <p:ph type="dt" sz="half" idx="10"/>
          </p:nvPr>
        </p:nvSpPr>
        <p:spPr/>
        <p:txBody>
          <a:bodyPr/>
          <a:lstStyle/>
          <a:p>
            <a:fld id="{EC0F087F-E41F-4E4B-B5FB-AD45405DB6DE}" type="datetime3">
              <a:rPr lang="en-US" smtClean="0"/>
              <a:t>13 August 2026</a:t>
            </a:fld>
            <a:endParaRPr lang="en-US"/>
          </a:p>
        </p:txBody>
      </p:sp>
      <p:sp>
        <p:nvSpPr>
          <p:cNvPr id="5" name="Footer Placeholder 4">
            <a:extLst>
              <a:ext uri="{FF2B5EF4-FFF2-40B4-BE49-F238E27FC236}">
                <a16:creationId xmlns:a16="http://schemas.microsoft.com/office/drawing/2014/main" id="{F5A63778-C058-1235-D3A3-7BCFF3CD01AB}"/>
              </a:ext>
            </a:extLst>
          </p:cNvPr>
          <p:cNvSpPr>
            <a:spLocks noGrp="1"/>
          </p:cNvSpPr>
          <p:nvPr>
            <p:ph type="ftr" sz="quarter" idx="11"/>
          </p:nvPr>
        </p:nvSpPr>
        <p:spPr/>
        <p:txBody>
          <a:bodyPr/>
          <a:lstStyle/>
          <a:p>
            <a:r>
              <a:rPr lang="en-US"/>
              <a:t>RTOS REVIEW-1</a:t>
            </a:r>
          </a:p>
        </p:txBody>
      </p:sp>
      <p:sp>
        <p:nvSpPr>
          <p:cNvPr id="6" name="Slide Number Placeholder 5">
            <a:extLst>
              <a:ext uri="{FF2B5EF4-FFF2-40B4-BE49-F238E27FC236}">
                <a16:creationId xmlns:a16="http://schemas.microsoft.com/office/drawing/2014/main" id="{F09A1708-DD63-B8A6-CDE5-A057B2CF873B}"/>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24086997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8A0280-1254-E679-102E-D8CC13C8C69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3784D78-2E62-1C74-D557-5115FDC295B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1B02B77-F303-2F09-80CB-35B74D2F58C9}"/>
              </a:ext>
            </a:extLst>
          </p:cNvPr>
          <p:cNvSpPr>
            <a:spLocks noGrp="1"/>
          </p:cNvSpPr>
          <p:nvPr>
            <p:ph type="dt" sz="half" idx="10"/>
          </p:nvPr>
        </p:nvSpPr>
        <p:spPr/>
        <p:txBody>
          <a:bodyPr/>
          <a:lstStyle/>
          <a:p>
            <a:fld id="{7B97EC70-8537-4F2E-8943-FC7A20929D29}" type="datetime3">
              <a:rPr lang="en-US" smtClean="0"/>
              <a:t>13 August 2026</a:t>
            </a:fld>
            <a:endParaRPr lang="en-US"/>
          </a:p>
        </p:txBody>
      </p:sp>
      <p:sp>
        <p:nvSpPr>
          <p:cNvPr id="5" name="Footer Placeholder 4">
            <a:extLst>
              <a:ext uri="{FF2B5EF4-FFF2-40B4-BE49-F238E27FC236}">
                <a16:creationId xmlns:a16="http://schemas.microsoft.com/office/drawing/2014/main" id="{A13359BF-B012-085F-389A-331E721BC90C}"/>
              </a:ext>
            </a:extLst>
          </p:cNvPr>
          <p:cNvSpPr>
            <a:spLocks noGrp="1"/>
          </p:cNvSpPr>
          <p:nvPr>
            <p:ph type="ftr" sz="quarter" idx="11"/>
          </p:nvPr>
        </p:nvSpPr>
        <p:spPr/>
        <p:txBody>
          <a:bodyPr/>
          <a:lstStyle/>
          <a:p>
            <a:r>
              <a:rPr lang="en-US"/>
              <a:t>RTOS REVIEW-1</a:t>
            </a:r>
          </a:p>
        </p:txBody>
      </p:sp>
      <p:sp>
        <p:nvSpPr>
          <p:cNvPr id="6" name="Slide Number Placeholder 5">
            <a:extLst>
              <a:ext uri="{FF2B5EF4-FFF2-40B4-BE49-F238E27FC236}">
                <a16:creationId xmlns:a16="http://schemas.microsoft.com/office/drawing/2014/main" id="{821B0460-9CE8-D43D-79E7-A7A9144A3AD0}"/>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26301623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787D46-3DEF-526E-5F46-4ADACBEC0AC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55A517A-D5B3-3AF2-38BE-1D89988138B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D602125-0289-3272-156D-A3C31E848252}"/>
              </a:ext>
            </a:extLst>
          </p:cNvPr>
          <p:cNvSpPr>
            <a:spLocks noGrp="1"/>
          </p:cNvSpPr>
          <p:nvPr>
            <p:ph type="dt" sz="half" idx="10"/>
          </p:nvPr>
        </p:nvSpPr>
        <p:spPr/>
        <p:txBody>
          <a:bodyPr/>
          <a:lstStyle/>
          <a:p>
            <a:fld id="{0297F116-FE00-479B-B672-D0648D44FB45}" type="datetime3">
              <a:rPr lang="en-US" smtClean="0"/>
              <a:t>13 August 2026</a:t>
            </a:fld>
            <a:endParaRPr lang="en-US"/>
          </a:p>
        </p:txBody>
      </p:sp>
      <p:sp>
        <p:nvSpPr>
          <p:cNvPr id="5" name="Footer Placeholder 4">
            <a:extLst>
              <a:ext uri="{FF2B5EF4-FFF2-40B4-BE49-F238E27FC236}">
                <a16:creationId xmlns:a16="http://schemas.microsoft.com/office/drawing/2014/main" id="{659971A6-CC5A-CC09-A1F2-E284284E8738}"/>
              </a:ext>
            </a:extLst>
          </p:cNvPr>
          <p:cNvSpPr>
            <a:spLocks noGrp="1"/>
          </p:cNvSpPr>
          <p:nvPr>
            <p:ph type="ftr" sz="quarter" idx="11"/>
          </p:nvPr>
        </p:nvSpPr>
        <p:spPr/>
        <p:txBody>
          <a:bodyPr/>
          <a:lstStyle/>
          <a:p>
            <a:r>
              <a:rPr lang="en-US"/>
              <a:t>RTOS REVIEW-1</a:t>
            </a:r>
          </a:p>
        </p:txBody>
      </p:sp>
      <p:sp>
        <p:nvSpPr>
          <p:cNvPr id="6" name="Slide Number Placeholder 5">
            <a:extLst>
              <a:ext uri="{FF2B5EF4-FFF2-40B4-BE49-F238E27FC236}">
                <a16:creationId xmlns:a16="http://schemas.microsoft.com/office/drawing/2014/main" id="{049898D5-FC90-9DA1-FE2F-D07DEDDAD616}"/>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0399524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389433-0D52-95EF-D78E-4FC912D4FCA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F1A2DAE-6EF3-6910-5373-1A5DF409095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991AE70-38B9-B797-DE71-57CAE4C82D2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725E50E-F402-07A4-460F-3431CA999232}"/>
              </a:ext>
            </a:extLst>
          </p:cNvPr>
          <p:cNvSpPr>
            <a:spLocks noGrp="1"/>
          </p:cNvSpPr>
          <p:nvPr>
            <p:ph type="dt" sz="half" idx="10"/>
          </p:nvPr>
        </p:nvSpPr>
        <p:spPr/>
        <p:txBody>
          <a:bodyPr/>
          <a:lstStyle/>
          <a:p>
            <a:fld id="{1D386F63-4C33-44AE-89B9-DE0C34FA8BBB}" type="datetime3">
              <a:rPr lang="en-US" smtClean="0"/>
              <a:t>13 August 2026</a:t>
            </a:fld>
            <a:endParaRPr lang="en-US"/>
          </a:p>
        </p:txBody>
      </p:sp>
      <p:sp>
        <p:nvSpPr>
          <p:cNvPr id="6" name="Footer Placeholder 5">
            <a:extLst>
              <a:ext uri="{FF2B5EF4-FFF2-40B4-BE49-F238E27FC236}">
                <a16:creationId xmlns:a16="http://schemas.microsoft.com/office/drawing/2014/main" id="{664D7A32-7B4B-0167-CBD3-4FB4F42F73A4}"/>
              </a:ext>
            </a:extLst>
          </p:cNvPr>
          <p:cNvSpPr>
            <a:spLocks noGrp="1"/>
          </p:cNvSpPr>
          <p:nvPr>
            <p:ph type="ftr" sz="quarter" idx="11"/>
          </p:nvPr>
        </p:nvSpPr>
        <p:spPr/>
        <p:txBody>
          <a:bodyPr/>
          <a:lstStyle/>
          <a:p>
            <a:r>
              <a:rPr lang="en-US"/>
              <a:t>RTOS REVIEW-1</a:t>
            </a:r>
          </a:p>
        </p:txBody>
      </p:sp>
      <p:sp>
        <p:nvSpPr>
          <p:cNvPr id="7" name="Slide Number Placeholder 6">
            <a:extLst>
              <a:ext uri="{FF2B5EF4-FFF2-40B4-BE49-F238E27FC236}">
                <a16:creationId xmlns:a16="http://schemas.microsoft.com/office/drawing/2014/main" id="{EDEB928D-DF00-B9C5-1A36-1E52C14CBBB7}"/>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4671984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1CFE06-EEED-5CC3-A38A-576DD2C8AF0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DB0BA8C-9EDE-BB49-BD35-49BAFCB8D3F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E1DDD39-7D2C-4493-F56F-81F6BC3F98D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714469B-6213-D34D-07A9-FCDC82AC0F1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46440F3-3F2D-85CC-D2E2-6D0D54B8A29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D346DE1-9818-60AF-EAF8-FFED39BA5E89}"/>
              </a:ext>
            </a:extLst>
          </p:cNvPr>
          <p:cNvSpPr>
            <a:spLocks noGrp="1"/>
          </p:cNvSpPr>
          <p:nvPr>
            <p:ph type="dt" sz="half" idx="10"/>
          </p:nvPr>
        </p:nvSpPr>
        <p:spPr/>
        <p:txBody>
          <a:bodyPr/>
          <a:lstStyle/>
          <a:p>
            <a:fld id="{8E2D20E7-BFA5-4169-8716-CB7FC338BD21}" type="datetime3">
              <a:rPr lang="en-US" smtClean="0"/>
              <a:t>13 August 2026</a:t>
            </a:fld>
            <a:endParaRPr lang="en-US"/>
          </a:p>
        </p:txBody>
      </p:sp>
      <p:sp>
        <p:nvSpPr>
          <p:cNvPr id="8" name="Footer Placeholder 7">
            <a:extLst>
              <a:ext uri="{FF2B5EF4-FFF2-40B4-BE49-F238E27FC236}">
                <a16:creationId xmlns:a16="http://schemas.microsoft.com/office/drawing/2014/main" id="{265E9E00-6460-F360-EDFD-B03FBA2C63B4}"/>
              </a:ext>
            </a:extLst>
          </p:cNvPr>
          <p:cNvSpPr>
            <a:spLocks noGrp="1"/>
          </p:cNvSpPr>
          <p:nvPr>
            <p:ph type="ftr" sz="quarter" idx="11"/>
          </p:nvPr>
        </p:nvSpPr>
        <p:spPr/>
        <p:txBody>
          <a:bodyPr/>
          <a:lstStyle/>
          <a:p>
            <a:r>
              <a:rPr lang="en-US"/>
              <a:t>RTOS REVIEW-1</a:t>
            </a:r>
          </a:p>
        </p:txBody>
      </p:sp>
      <p:sp>
        <p:nvSpPr>
          <p:cNvPr id="9" name="Slide Number Placeholder 8">
            <a:extLst>
              <a:ext uri="{FF2B5EF4-FFF2-40B4-BE49-F238E27FC236}">
                <a16:creationId xmlns:a16="http://schemas.microsoft.com/office/drawing/2014/main" id="{1ABFFDD7-5BFE-EA3B-6250-A381A569564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3362514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8CE0FC-511C-2C2C-E510-CDDF263418E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C796671-3C71-777F-3A4D-A89D7E5D68FA}"/>
              </a:ext>
            </a:extLst>
          </p:cNvPr>
          <p:cNvSpPr>
            <a:spLocks noGrp="1"/>
          </p:cNvSpPr>
          <p:nvPr>
            <p:ph type="dt" sz="half" idx="10"/>
          </p:nvPr>
        </p:nvSpPr>
        <p:spPr/>
        <p:txBody>
          <a:bodyPr/>
          <a:lstStyle/>
          <a:p>
            <a:fld id="{E5934F5E-29A2-4DF1-A8C1-2CA7AF648EBF}" type="datetime3">
              <a:rPr lang="en-US" smtClean="0"/>
              <a:t>13 August 2026</a:t>
            </a:fld>
            <a:endParaRPr lang="en-US"/>
          </a:p>
        </p:txBody>
      </p:sp>
      <p:sp>
        <p:nvSpPr>
          <p:cNvPr id="4" name="Footer Placeholder 3">
            <a:extLst>
              <a:ext uri="{FF2B5EF4-FFF2-40B4-BE49-F238E27FC236}">
                <a16:creationId xmlns:a16="http://schemas.microsoft.com/office/drawing/2014/main" id="{30024A6A-95A8-2753-339B-FC09D4CAEB87}"/>
              </a:ext>
            </a:extLst>
          </p:cNvPr>
          <p:cNvSpPr>
            <a:spLocks noGrp="1"/>
          </p:cNvSpPr>
          <p:nvPr>
            <p:ph type="ftr" sz="quarter" idx="11"/>
          </p:nvPr>
        </p:nvSpPr>
        <p:spPr/>
        <p:txBody>
          <a:bodyPr/>
          <a:lstStyle/>
          <a:p>
            <a:r>
              <a:rPr lang="en-US"/>
              <a:t>RTOS REVIEW-1</a:t>
            </a:r>
          </a:p>
        </p:txBody>
      </p:sp>
      <p:sp>
        <p:nvSpPr>
          <p:cNvPr id="5" name="Slide Number Placeholder 4">
            <a:extLst>
              <a:ext uri="{FF2B5EF4-FFF2-40B4-BE49-F238E27FC236}">
                <a16:creationId xmlns:a16="http://schemas.microsoft.com/office/drawing/2014/main" id="{859E07AF-B1A0-E180-D5AC-3F2F0031C98B}"/>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41824662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8527A8-9BA5-6E6B-9B96-E6F6FADC46A2}"/>
              </a:ext>
            </a:extLst>
          </p:cNvPr>
          <p:cNvSpPr>
            <a:spLocks noGrp="1"/>
          </p:cNvSpPr>
          <p:nvPr>
            <p:ph type="dt" sz="half" idx="10"/>
          </p:nvPr>
        </p:nvSpPr>
        <p:spPr/>
        <p:txBody>
          <a:bodyPr/>
          <a:lstStyle/>
          <a:p>
            <a:fld id="{233DC3F9-78A7-44FE-8396-A8C5C34F159B}" type="datetime3">
              <a:rPr lang="en-US" smtClean="0"/>
              <a:t>13 August 2026</a:t>
            </a:fld>
            <a:endParaRPr lang="en-US"/>
          </a:p>
        </p:txBody>
      </p:sp>
      <p:sp>
        <p:nvSpPr>
          <p:cNvPr id="3" name="Footer Placeholder 2">
            <a:extLst>
              <a:ext uri="{FF2B5EF4-FFF2-40B4-BE49-F238E27FC236}">
                <a16:creationId xmlns:a16="http://schemas.microsoft.com/office/drawing/2014/main" id="{4EAB8C98-6C07-7CF9-228C-EF7E6514747A}"/>
              </a:ext>
            </a:extLst>
          </p:cNvPr>
          <p:cNvSpPr>
            <a:spLocks noGrp="1"/>
          </p:cNvSpPr>
          <p:nvPr>
            <p:ph type="ftr" sz="quarter" idx="11"/>
          </p:nvPr>
        </p:nvSpPr>
        <p:spPr/>
        <p:txBody>
          <a:bodyPr/>
          <a:lstStyle/>
          <a:p>
            <a:r>
              <a:rPr lang="en-US"/>
              <a:t>RTOS REVIEW-1</a:t>
            </a:r>
          </a:p>
        </p:txBody>
      </p:sp>
      <p:sp>
        <p:nvSpPr>
          <p:cNvPr id="4" name="Slide Number Placeholder 3">
            <a:extLst>
              <a:ext uri="{FF2B5EF4-FFF2-40B4-BE49-F238E27FC236}">
                <a16:creationId xmlns:a16="http://schemas.microsoft.com/office/drawing/2014/main" id="{72347070-DD15-038E-31F6-EF9EAD920E5F}"/>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3483214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528049-15BD-A06B-510D-51342C765D0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B77F51D-EFF8-F91B-8F7D-613493BF844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443686E-4EC3-3B25-F2B1-DEF00AA476F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E24C9A3-A390-80A1-50AD-21AB6B252580}"/>
              </a:ext>
            </a:extLst>
          </p:cNvPr>
          <p:cNvSpPr>
            <a:spLocks noGrp="1"/>
          </p:cNvSpPr>
          <p:nvPr>
            <p:ph type="dt" sz="half" idx="10"/>
          </p:nvPr>
        </p:nvSpPr>
        <p:spPr/>
        <p:txBody>
          <a:bodyPr/>
          <a:lstStyle/>
          <a:p>
            <a:fld id="{AE755436-D059-46C1-A249-E499776E43AA}" type="datetime3">
              <a:rPr lang="en-US" smtClean="0"/>
              <a:t>13 August 2026</a:t>
            </a:fld>
            <a:endParaRPr lang="en-US"/>
          </a:p>
        </p:txBody>
      </p:sp>
      <p:sp>
        <p:nvSpPr>
          <p:cNvPr id="6" name="Footer Placeholder 5">
            <a:extLst>
              <a:ext uri="{FF2B5EF4-FFF2-40B4-BE49-F238E27FC236}">
                <a16:creationId xmlns:a16="http://schemas.microsoft.com/office/drawing/2014/main" id="{E83FB16C-3A67-2F8D-2205-B1FF3BE2C63B}"/>
              </a:ext>
            </a:extLst>
          </p:cNvPr>
          <p:cNvSpPr>
            <a:spLocks noGrp="1"/>
          </p:cNvSpPr>
          <p:nvPr>
            <p:ph type="ftr" sz="quarter" idx="11"/>
          </p:nvPr>
        </p:nvSpPr>
        <p:spPr/>
        <p:txBody>
          <a:bodyPr/>
          <a:lstStyle/>
          <a:p>
            <a:r>
              <a:rPr lang="en-US"/>
              <a:t>RTOS REVIEW-1</a:t>
            </a:r>
          </a:p>
        </p:txBody>
      </p:sp>
      <p:sp>
        <p:nvSpPr>
          <p:cNvPr id="7" name="Slide Number Placeholder 6">
            <a:extLst>
              <a:ext uri="{FF2B5EF4-FFF2-40B4-BE49-F238E27FC236}">
                <a16:creationId xmlns:a16="http://schemas.microsoft.com/office/drawing/2014/main" id="{ED137A69-0E62-6668-A184-42A6DBF6B07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40894807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8AFB01-3CD4-CFD9-5A71-411262FAAC8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9DCEFF8-AB3F-42A6-ADAF-1080336CCBE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3914F7C-5D5A-7C5D-50F2-B5067E1E61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AE767C3-2493-217A-8E1D-03F6BBB4ACBD}"/>
              </a:ext>
            </a:extLst>
          </p:cNvPr>
          <p:cNvSpPr>
            <a:spLocks noGrp="1"/>
          </p:cNvSpPr>
          <p:nvPr>
            <p:ph type="dt" sz="half" idx="10"/>
          </p:nvPr>
        </p:nvSpPr>
        <p:spPr/>
        <p:txBody>
          <a:bodyPr/>
          <a:lstStyle/>
          <a:p>
            <a:fld id="{9C3DBEDF-BE3C-41A5-81DD-DE25D3ABF7A7}" type="datetime3">
              <a:rPr lang="en-US" smtClean="0"/>
              <a:t>13 August 2026</a:t>
            </a:fld>
            <a:endParaRPr lang="en-US"/>
          </a:p>
        </p:txBody>
      </p:sp>
      <p:sp>
        <p:nvSpPr>
          <p:cNvPr id="6" name="Footer Placeholder 5">
            <a:extLst>
              <a:ext uri="{FF2B5EF4-FFF2-40B4-BE49-F238E27FC236}">
                <a16:creationId xmlns:a16="http://schemas.microsoft.com/office/drawing/2014/main" id="{348FEBF7-64BD-7F85-1240-C02E3705BD10}"/>
              </a:ext>
            </a:extLst>
          </p:cNvPr>
          <p:cNvSpPr>
            <a:spLocks noGrp="1"/>
          </p:cNvSpPr>
          <p:nvPr>
            <p:ph type="ftr" sz="quarter" idx="11"/>
          </p:nvPr>
        </p:nvSpPr>
        <p:spPr/>
        <p:txBody>
          <a:bodyPr/>
          <a:lstStyle/>
          <a:p>
            <a:r>
              <a:rPr lang="en-US"/>
              <a:t>RTOS REVIEW-1</a:t>
            </a:r>
          </a:p>
        </p:txBody>
      </p:sp>
      <p:sp>
        <p:nvSpPr>
          <p:cNvPr id="7" name="Slide Number Placeholder 6">
            <a:extLst>
              <a:ext uri="{FF2B5EF4-FFF2-40B4-BE49-F238E27FC236}">
                <a16:creationId xmlns:a16="http://schemas.microsoft.com/office/drawing/2014/main" id="{70064DB1-56E3-B1C9-BED9-904A25C29434}"/>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2129736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EBCD61-B1C9-A34D-6022-ADB9D4B22C3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124F7E8-10E7-E6C8-474D-2A06ED50159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E7D405-5D32-C40F-1430-5F5A97DD4FAF}"/>
              </a:ext>
            </a:extLst>
          </p:cNvPr>
          <p:cNvSpPr>
            <a:spLocks noGrp="1"/>
          </p:cNvSpPr>
          <p:nvPr>
            <p:ph type="dt" sz="half" idx="10"/>
          </p:nvPr>
        </p:nvSpPr>
        <p:spPr/>
        <p:txBody>
          <a:bodyPr/>
          <a:lstStyle/>
          <a:p>
            <a:fld id="{E676E7E6-A04D-4714-8B70-5D2EE3E2195F}" type="datetime3">
              <a:rPr lang="en-US" smtClean="0"/>
              <a:t>13 August 2026</a:t>
            </a:fld>
            <a:endParaRPr lang="en-US"/>
          </a:p>
        </p:txBody>
      </p:sp>
      <p:sp>
        <p:nvSpPr>
          <p:cNvPr id="5" name="Footer Placeholder 4">
            <a:extLst>
              <a:ext uri="{FF2B5EF4-FFF2-40B4-BE49-F238E27FC236}">
                <a16:creationId xmlns:a16="http://schemas.microsoft.com/office/drawing/2014/main" id="{7BD9955A-6D2E-8ABB-AF09-EC9590F01F84}"/>
              </a:ext>
            </a:extLst>
          </p:cNvPr>
          <p:cNvSpPr>
            <a:spLocks noGrp="1"/>
          </p:cNvSpPr>
          <p:nvPr>
            <p:ph type="ftr" sz="quarter" idx="11"/>
          </p:nvPr>
        </p:nvSpPr>
        <p:spPr/>
        <p:txBody>
          <a:bodyPr/>
          <a:lstStyle/>
          <a:p>
            <a:r>
              <a:rPr lang="en-US"/>
              <a:t>RTOS REVIEW-1</a:t>
            </a:r>
          </a:p>
        </p:txBody>
      </p:sp>
      <p:sp>
        <p:nvSpPr>
          <p:cNvPr id="6" name="Slide Number Placeholder 5">
            <a:extLst>
              <a:ext uri="{FF2B5EF4-FFF2-40B4-BE49-F238E27FC236}">
                <a16:creationId xmlns:a16="http://schemas.microsoft.com/office/drawing/2014/main" id="{219E1B21-A5D1-C625-FE7B-A0232576A69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9178863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5699036-2042-AC93-5117-4059611F3CE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22DD23D-712F-710C-F8D8-B4B2B3E0592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9095516-E45F-6DA1-08EA-04E781DF5CCB}"/>
              </a:ext>
            </a:extLst>
          </p:cNvPr>
          <p:cNvSpPr>
            <a:spLocks noGrp="1"/>
          </p:cNvSpPr>
          <p:nvPr>
            <p:ph type="dt" sz="half" idx="10"/>
          </p:nvPr>
        </p:nvSpPr>
        <p:spPr/>
        <p:txBody>
          <a:bodyPr/>
          <a:lstStyle/>
          <a:p>
            <a:fld id="{0B854410-63CB-43F9-80EA-C505EDECE096}" type="datetime3">
              <a:rPr lang="en-US" smtClean="0"/>
              <a:t>13 August 2026</a:t>
            </a:fld>
            <a:endParaRPr lang="en-US"/>
          </a:p>
        </p:txBody>
      </p:sp>
      <p:sp>
        <p:nvSpPr>
          <p:cNvPr id="5" name="Footer Placeholder 4">
            <a:extLst>
              <a:ext uri="{FF2B5EF4-FFF2-40B4-BE49-F238E27FC236}">
                <a16:creationId xmlns:a16="http://schemas.microsoft.com/office/drawing/2014/main" id="{8B171DB9-D5C7-9EFA-0532-06B0BAAF4177}"/>
              </a:ext>
            </a:extLst>
          </p:cNvPr>
          <p:cNvSpPr>
            <a:spLocks noGrp="1"/>
          </p:cNvSpPr>
          <p:nvPr>
            <p:ph type="ftr" sz="quarter" idx="11"/>
          </p:nvPr>
        </p:nvSpPr>
        <p:spPr/>
        <p:txBody>
          <a:bodyPr/>
          <a:lstStyle/>
          <a:p>
            <a:r>
              <a:rPr lang="en-US"/>
              <a:t>RTOS REVIEW-1</a:t>
            </a:r>
          </a:p>
        </p:txBody>
      </p:sp>
      <p:sp>
        <p:nvSpPr>
          <p:cNvPr id="6" name="Slide Number Placeholder 5">
            <a:extLst>
              <a:ext uri="{FF2B5EF4-FFF2-40B4-BE49-F238E27FC236}">
                <a16:creationId xmlns:a16="http://schemas.microsoft.com/office/drawing/2014/main" id="{94735D92-5A89-BE34-CC33-93F56B3EDB49}"/>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387349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6501419-84AB-4116-81A7-A292B0F5AC24}" type="datetime3">
              <a:rPr lang="en-US" smtClean="0"/>
              <a:t>13 August 2026</a:t>
            </a:fld>
            <a:endParaRPr lang="en-IN"/>
          </a:p>
        </p:txBody>
      </p:sp>
      <p:sp>
        <p:nvSpPr>
          <p:cNvPr id="5" name="Footer Placeholder 4"/>
          <p:cNvSpPr>
            <a:spLocks noGrp="1"/>
          </p:cNvSpPr>
          <p:nvPr>
            <p:ph type="ftr" sz="quarter" idx="11"/>
          </p:nvPr>
        </p:nvSpPr>
        <p:spPr/>
        <p:txBody>
          <a:bodyPr/>
          <a:lstStyle/>
          <a:p>
            <a:r>
              <a:rPr lang="en-IN"/>
              <a:t>RTOS REVIEW-1</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208086027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2C4CF2A-5216-4D38-A11C-223EE97BBCB1}" type="datetime3">
              <a:rPr lang="en-US" smtClean="0"/>
              <a:t>13 August 2026</a:t>
            </a:fld>
            <a:endParaRPr lang="en-IN"/>
          </a:p>
        </p:txBody>
      </p:sp>
      <p:sp>
        <p:nvSpPr>
          <p:cNvPr id="5" name="Footer Placeholder 4"/>
          <p:cNvSpPr>
            <a:spLocks noGrp="1"/>
          </p:cNvSpPr>
          <p:nvPr>
            <p:ph type="ftr" sz="quarter" idx="11"/>
          </p:nvPr>
        </p:nvSpPr>
        <p:spPr/>
        <p:txBody>
          <a:bodyPr/>
          <a:lstStyle/>
          <a:p>
            <a:r>
              <a:rPr lang="en-IN"/>
              <a:t>RTOS REVIEW-1</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134829834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CB0C8EA-2643-4B6B-AB1F-A2677167E623}" type="datetime3">
              <a:rPr lang="en-US" smtClean="0"/>
              <a:t>13 August 2026</a:t>
            </a:fld>
            <a:endParaRPr lang="en-IN"/>
          </a:p>
        </p:txBody>
      </p:sp>
      <p:sp>
        <p:nvSpPr>
          <p:cNvPr id="5" name="Footer Placeholder 4"/>
          <p:cNvSpPr>
            <a:spLocks noGrp="1"/>
          </p:cNvSpPr>
          <p:nvPr>
            <p:ph type="ftr" sz="quarter" idx="11"/>
          </p:nvPr>
        </p:nvSpPr>
        <p:spPr/>
        <p:txBody>
          <a:bodyPr/>
          <a:lstStyle/>
          <a:p>
            <a:r>
              <a:rPr lang="en-IN"/>
              <a:t>RTOS REVIEW-1</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273992301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D6F5A00-3DB8-4869-BB62-BFC9219F13A7}" type="datetime3">
              <a:rPr lang="en-US" smtClean="0"/>
              <a:t>13 August 2026</a:t>
            </a:fld>
            <a:endParaRPr lang="en-IN"/>
          </a:p>
        </p:txBody>
      </p:sp>
      <p:sp>
        <p:nvSpPr>
          <p:cNvPr id="6" name="Footer Placeholder 5"/>
          <p:cNvSpPr>
            <a:spLocks noGrp="1"/>
          </p:cNvSpPr>
          <p:nvPr>
            <p:ph type="ftr" sz="quarter" idx="11"/>
          </p:nvPr>
        </p:nvSpPr>
        <p:spPr/>
        <p:txBody>
          <a:bodyPr/>
          <a:lstStyle/>
          <a:p>
            <a:r>
              <a:rPr lang="en-IN"/>
              <a:t>RTOS REVIEW-1</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407190834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0C1F1D6-DB8E-40E2-847A-F86A39F8CFE6}" type="datetime3">
              <a:rPr lang="en-US" smtClean="0"/>
              <a:t>13 August 2026</a:t>
            </a:fld>
            <a:endParaRPr lang="en-IN"/>
          </a:p>
        </p:txBody>
      </p:sp>
      <p:sp>
        <p:nvSpPr>
          <p:cNvPr id="8" name="Footer Placeholder 7"/>
          <p:cNvSpPr>
            <a:spLocks noGrp="1"/>
          </p:cNvSpPr>
          <p:nvPr>
            <p:ph type="ftr" sz="quarter" idx="11"/>
          </p:nvPr>
        </p:nvSpPr>
        <p:spPr/>
        <p:txBody>
          <a:bodyPr/>
          <a:lstStyle/>
          <a:p>
            <a:r>
              <a:rPr lang="en-IN"/>
              <a:t>RTOS REVIEW-1</a:t>
            </a:r>
          </a:p>
        </p:txBody>
      </p:sp>
      <p:sp>
        <p:nvSpPr>
          <p:cNvPr id="9" name="Slide Number Placeholder 8"/>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57848570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0597C4F-EFEC-4358-A2F7-E3ADDB6CB3D1}" type="datetime3">
              <a:rPr lang="en-US" smtClean="0"/>
              <a:t>13 August 2026</a:t>
            </a:fld>
            <a:endParaRPr lang="en-IN"/>
          </a:p>
        </p:txBody>
      </p:sp>
      <p:sp>
        <p:nvSpPr>
          <p:cNvPr id="4" name="Footer Placeholder 3"/>
          <p:cNvSpPr>
            <a:spLocks noGrp="1"/>
          </p:cNvSpPr>
          <p:nvPr>
            <p:ph type="ftr" sz="quarter" idx="11"/>
          </p:nvPr>
        </p:nvSpPr>
        <p:spPr/>
        <p:txBody>
          <a:bodyPr/>
          <a:lstStyle/>
          <a:p>
            <a:r>
              <a:rPr lang="en-IN"/>
              <a:t>RTOS REVIEW-1</a:t>
            </a:r>
          </a:p>
        </p:txBody>
      </p:sp>
      <p:sp>
        <p:nvSpPr>
          <p:cNvPr id="5" name="Slide Number Placeholder 4"/>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373388491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93351C8-7F3A-4E8A-8A01-610A245CD1B4}" type="datetime3">
              <a:rPr lang="en-US" smtClean="0"/>
              <a:t>13 August 2026</a:t>
            </a:fld>
            <a:endParaRPr lang="en-IN"/>
          </a:p>
        </p:txBody>
      </p:sp>
      <p:sp>
        <p:nvSpPr>
          <p:cNvPr id="3" name="Footer Placeholder 2"/>
          <p:cNvSpPr>
            <a:spLocks noGrp="1"/>
          </p:cNvSpPr>
          <p:nvPr>
            <p:ph type="ftr" sz="quarter" idx="11"/>
          </p:nvPr>
        </p:nvSpPr>
        <p:spPr/>
        <p:txBody>
          <a:bodyPr/>
          <a:lstStyle/>
          <a:p>
            <a:r>
              <a:rPr lang="en-IN"/>
              <a:t>RTOS REVIEW-1</a:t>
            </a:r>
          </a:p>
        </p:txBody>
      </p:sp>
      <p:sp>
        <p:nvSpPr>
          <p:cNvPr id="4" name="Slide Number Placeholder 3"/>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167188672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F3C7B4-D89D-4403-81C2-393F3BB686DE}" type="datetime3">
              <a:rPr lang="en-US" smtClean="0"/>
              <a:t>13 August 2026</a:t>
            </a:fld>
            <a:endParaRPr lang="en-IN"/>
          </a:p>
        </p:txBody>
      </p:sp>
      <p:sp>
        <p:nvSpPr>
          <p:cNvPr id="6" name="Footer Placeholder 5"/>
          <p:cNvSpPr>
            <a:spLocks noGrp="1"/>
          </p:cNvSpPr>
          <p:nvPr>
            <p:ph type="ftr" sz="quarter" idx="11"/>
          </p:nvPr>
        </p:nvSpPr>
        <p:spPr/>
        <p:txBody>
          <a:bodyPr/>
          <a:lstStyle/>
          <a:p>
            <a:r>
              <a:rPr lang="en-IN"/>
              <a:t>RTOS REVIEW-1</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404749178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235A84F-97F9-48F2-ACF7-B81A48779720}" type="datetime3">
              <a:rPr lang="en-US" smtClean="0"/>
              <a:t>13 August 2026</a:t>
            </a:fld>
            <a:endParaRPr lang="en-IN"/>
          </a:p>
        </p:txBody>
      </p:sp>
      <p:sp>
        <p:nvSpPr>
          <p:cNvPr id="6" name="Footer Placeholder 5"/>
          <p:cNvSpPr>
            <a:spLocks noGrp="1"/>
          </p:cNvSpPr>
          <p:nvPr>
            <p:ph type="ftr" sz="quarter" idx="11"/>
          </p:nvPr>
        </p:nvSpPr>
        <p:spPr/>
        <p:txBody>
          <a:bodyPr/>
          <a:lstStyle/>
          <a:p>
            <a:r>
              <a:rPr lang="en-IN"/>
              <a:t>RTOS REVIEW-1</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104633191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A899588-01A4-4E93-8C0A-BAE75E8A7730}" type="datetime3">
              <a:rPr lang="en-US" smtClean="0"/>
              <a:t>13 August 2026</a:t>
            </a:fld>
            <a:endParaRPr lang="en-IN"/>
          </a:p>
        </p:txBody>
      </p:sp>
      <p:sp>
        <p:nvSpPr>
          <p:cNvPr id="5" name="Footer Placeholder 4"/>
          <p:cNvSpPr>
            <a:spLocks noGrp="1"/>
          </p:cNvSpPr>
          <p:nvPr>
            <p:ph type="ftr" sz="quarter" idx="11"/>
          </p:nvPr>
        </p:nvSpPr>
        <p:spPr/>
        <p:txBody>
          <a:bodyPr/>
          <a:lstStyle/>
          <a:p>
            <a:r>
              <a:rPr lang="en-IN"/>
              <a:t>RTOS REVIEW-1</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330758400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96F5EDE-47A7-46C9-AD3A-5BBC24255ABE}" type="datetime3">
              <a:rPr lang="en-US" smtClean="0"/>
              <a:t>13 August 2026</a:t>
            </a:fld>
            <a:endParaRPr lang="en-IN"/>
          </a:p>
        </p:txBody>
      </p:sp>
      <p:sp>
        <p:nvSpPr>
          <p:cNvPr id="5" name="Footer Placeholder 4"/>
          <p:cNvSpPr>
            <a:spLocks noGrp="1"/>
          </p:cNvSpPr>
          <p:nvPr>
            <p:ph type="ftr" sz="quarter" idx="11"/>
          </p:nvPr>
        </p:nvSpPr>
        <p:spPr/>
        <p:txBody>
          <a:bodyPr/>
          <a:lstStyle/>
          <a:p>
            <a:r>
              <a:rPr lang="en-IN"/>
              <a:t>RTOS REVIEW-1</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42045954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9711898-360B-AD49-DD62-FA3B7B66269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1A2BE89-A274-4461-2B81-50587446319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C4B2A70-C1DC-D783-67E1-97822E79A51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356931D-7667-474A-9F58-6D0A1F8E0831}" type="datetime3">
              <a:rPr lang="en-US" smtClean="0"/>
              <a:t>13 August 2026</a:t>
            </a:fld>
            <a:endParaRPr lang="en-US"/>
          </a:p>
        </p:txBody>
      </p:sp>
      <p:sp>
        <p:nvSpPr>
          <p:cNvPr id="5" name="Footer Placeholder 4">
            <a:extLst>
              <a:ext uri="{FF2B5EF4-FFF2-40B4-BE49-F238E27FC236}">
                <a16:creationId xmlns:a16="http://schemas.microsoft.com/office/drawing/2014/main" id="{08C5D01A-229C-E067-7B4E-BC254D65441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US"/>
              <a:t>RTOS REVIEW-1</a:t>
            </a:r>
          </a:p>
        </p:txBody>
      </p:sp>
      <p:sp>
        <p:nvSpPr>
          <p:cNvPr id="6" name="Slide Number Placeholder 5">
            <a:extLst>
              <a:ext uri="{FF2B5EF4-FFF2-40B4-BE49-F238E27FC236}">
                <a16:creationId xmlns:a16="http://schemas.microsoft.com/office/drawing/2014/main" id="{50741767-E51C-1DAB-E3C8-F047E87A83D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639234F-78F1-4984-9C4D-D4C7AB587871}" type="slidenum">
              <a:rPr lang="en-US" smtClean="0"/>
              <a:t>‹#›</a:t>
            </a:fld>
            <a:endParaRPr lang="en-US"/>
          </a:p>
        </p:txBody>
      </p:sp>
    </p:spTree>
    <p:extLst>
      <p:ext uri="{BB962C8B-B14F-4D97-AF65-F5344CB8AC3E}">
        <p14:creationId xmlns:p14="http://schemas.microsoft.com/office/powerpoint/2010/main" val="16456373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47270E2-304D-4CF3-895F-69CDBB863DDE}" type="datetime3">
              <a:rPr lang="en-US" smtClean="0"/>
              <a:t>13 August 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RTOS REVIEW-1</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1AD1135-6E10-4422-AC8B-257B84239C9C}" type="slidenum">
              <a:rPr lang="en-IN" smtClean="0"/>
              <a:t>‹#›</a:t>
            </a:fld>
            <a:endParaRPr lang="en-IN"/>
          </a:p>
        </p:txBody>
      </p:sp>
    </p:spTree>
    <p:extLst>
      <p:ext uri="{BB962C8B-B14F-4D97-AF65-F5344CB8AC3E}">
        <p14:creationId xmlns:p14="http://schemas.microsoft.com/office/powerpoint/2010/main" val="291376645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hyperlink" Target="https://svgsilh.com/03a9f4/image/98809.html" TargetMode="External"/><Relationship Id="rId7" Type="http://schemas.openxmlformats.org/officeDocument/2006/relationships/diagramColors" Target="../diagrams/colors1.xml"/><Relationship Id="rId2" Type="http://schemas.openxmlformats.org/officeDocument/2006/relationships/image" Target="../media/image2.svg"/><Relationship Id="rId1" Type="http://schemas.openxmlformats.org/officeDocument/2006/relationships/slideLayout" Target="../slideLayouts/slideLayout18.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 Id="rId9" Type="http://schemas.openxmlformats.org/officeDocument/2006/relationships/image" Target="../media/image1.png"/></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doi.org/10.1109/tpel.2020.3008194?utm_source=chatgpt.com" TargetMode="External"/><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1.png"/><Relationship Id="rId5" Type="http://schemas.openxmlformats.org/officeDocument/2006/relationships/hyperlink" Target="https://doaj.org/article/d4db699b1c104160af5568dbc25ca69c?utm_source=chatgpt.com" TargetMode="External"/><Relationship Id="rId4" Type="http://schemas.openxmlformats.org/officeDocument/2006/relationships/hyperlink" Target="https://ieeexplore.ieee.org/document/10083768?utm_source=chatgpt.com" TargetMode="Externa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jpeg"/><Relationship Id="rId7" Type="http://schemas.openxmlformats.org/officeDocument/2006/relationships/image" Target="../media/image8.jpeg"/><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image" Target="../media/image7.jpeg"/><Relationship Id="rId5" Type="http://schemas.openxmlformats.org/officeDocument/2006/relationships/image" Target="../media/image6.png"/><Relationship Id="rId4" Type="http://schemas.openxmlformats.org/officeDocument/2006/relationships/image" Target="../media/image5.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diagramData" Target="../diagrams/data3.xml"/><Relationship Id="rId13" Type="http://schemas.openxmlformats.org/officeDocument/2006/relationships/diagramData" Target="../diagrams/data4.xml"/><Relationship Id="rId3" Type="http://schemas.openxmlformats.org/officeDocument/2006/relationships/diagramData" Target="../diagrams/data2.xml"/><Relationship Id="rId7" Type="http://schemas.microsoft.com/office/2007/relationships/diagramDrawing" Target="../diagrams/drawing2.xml"/><Relationship Id="rId12" Type="http://schemas.microsoft.com/office/2007/relationships/diagramDrawing" Target="../diagrams/drawing3.xml"/><Relationship Id="rId17" Type="http://schemas.microsoft.com/office/2007/relationships/diagramDrawing" Target="../diagrams/drawing4.xml"/><Relationship Id="rId2" Type="http://schemas.openxmlformats.org/officeDocument/2006/relationships/image" Target="../media/image1.png"/><Relationship Id="rId16" Type="http://schemas.openxmlformats.org/officeDocument/2006/relationships/diagramColors" Target="../diagrams/colors4.xml"/><Relationship Id="rId1" Type="http://schemas.openxmlformats.org/officeDocument/2006/relationships/slideLayout" Target="../slideLayouts/slideLayout2.xml"/><Relationship Id="rId6" Type="http://schemas.openxmlformats.org/officeDocument/2006/relationships/diagramColors" Target="../diagrams/colors2.xml"/><Relationship Id="rId11" Type="http://schemas.openxmlformats.org/officeDocument/2006/relationships/diagramColors" Target="../diagrams/colors3.xml"/><Relationship Id="rId5" Type="http://schemas.openxmlformats.org/officeDocument/2006/relationships/diagramQuickStyle" Target="../diagrams/quickStyle2.xml"/><Relationship Id="rId15" Type="http://schemas.openxmlformats.org/officeDocument/2006/relationships/diagramQuickStyle" Target="../diagrams/quickStyle4.xml"/><Relationship Id="rId10" Type="http://schemas.openxmlformats.org/officeDocument/2006/relationships/diagramQuickStyle" Target="../diagrams/quickStyle3.xml"/><Relationship Id="rId4" Type="http://schemas.openxmlformats.org/officeDocument/2006/relationships/diagramLayout" Target="../diagrams/layout2.xml"/><Relationship Id="rId9" Type="http://schemas.openxmlformats.org/officeDocument/2006/relationships/diagramLayout" Target="../diagrams/layout3.xml"/><Relationship Id="rId14" Type="http://schemas.openxmlformats.org/officeDocument/2006/relationships/diagramLayout" Target="../diagrams/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500C0830-A1CA-96AE-68D2-18C57ABE4802}"/>
              </a:ext>
            </a:extLst>
          </p:cNvPr>
          <p:cNvSpPr txBox="1"/>
          <p:nvPr/>
        </p:nvSpPr>
        <p:spPr>
          <a:xfrm>
            <a:off x="2995612" y="2868213"/>
            <a:ext cx="6200774" cy="492443"/>
          </a:xfrm>
          <a:prstGeom prst="rect">
            <a:avLst/>
          </a:prstGeom>
          <a:noFill/>
          <a:effectLst>
            <a:glow rad="139700">
              <a:schemeClr val="accent2">
                <a:satMod val="175000"/>
                <a:alpha val="40000"/>
              </a:schemeClr>
            </a:glow>
          </a:effectLst>
        </p:spPr>
        <p:txBody>
          <a:bodyPr wrap="square">
            <a:spAutoFit/>
          </a:bodyPr>
          <a:lstStyle/>
          <a:p>
            <a:pPr algn="ctr"/>
            <a:endParaRPr lang="en-IN" sz="600" dirty="0">
              <a:latin typeface="Times New Roman" panose="02020603050405020304" pitchFamily="18" charset="0"/>
              <a:cs typeface="Times New Roman" panose="02020603050405020304" pitchFamily="18" charset="0"/>
            </a:endParaRPr>
          </a:p>
          <a:p>
            <a:pPr algn="ctr"/>
            <a:r>
              <a:rPr lang="en-IN" sz="2000" b="1" dirty="0">
                <a:solidFill>
                  <a:srgbClr val="FF0000"/>
                </a:solidFill>
                <a:latin typeface="Times New Roman" panose="02020603050405020304" pitchFamily="18" charset="0"/>
                <a:cs typeface="Times New Roman" panose="02020603050405020304" pitchFamily="18" charset="0"/>
              </a:rPr>
              <a:t>Wednesday, August 12</a:t>
            </a:r>
            <a:r>
              <a:rPr lang="en-IN" sz="2000" b="1" baseline="30000" dirty="0">
                <a:solidFill>
                  <a:srgbClr val="FF0000"/>
                </a:solidFill>
                <a:latin typeface="Times New Roman" panose="02020603050405020304" pitchFamily="18" charset="0"/>
                <a:cs typeface="Times New Roman" panose="02020603050405020304" pitchFamily="18" charset="0"/>
              </a:rPr>
              <a:t>th</a:t>
            </a:r>
            <a:r>
              <a:rPr lang="en-IN" sz="2000" b="1" dirty="0">
                <a:solidFill>
                  <a:srgbClr val="FF0000"/>
                </a:solidFill>
                <a:latin typeface="Times New Roman" panose="02020603050405020304" pitchFamily="18" charset="0"/>
                <a:cs typeface="Times New Roman" panose="02020603050405020304" pitchFamily="18" charset="0"/>
              </a:rPr>
              <a:t>, 2026</a:t>
            </a:r>
          </a:p>
        </p:txBody>
      </p:sp>
      <p:graphicFrame>
        <p:nvGraphicFramePr>
          <p:cNvPr id="18" name="Table 17">
            <a:extLst>
              <a:ext uri="{FF2B5EF4-FFF2-40B4-BE49-F238E27FC236}">
                <a16:creationId xmlns:a16="http://schemas.microsoft.com/office/drawing/2014/main" id="{BD22BC4D-4857-7D81-7819-37B7BB426420}"/>
              </a:ext>
            </a:extLst>
          </p:cNvPr>
          <p:cNvGraphicFramePr>
            <a:graphicFrameLocks noGrp="1"/>
          </p:cNvGraphicFramePr>
          <p:nvPr>
            <p:extLst>
              <p:ext uri="{D42A27DB-BD31-4B8C-83A1-F6EECF244321}">
                <p14:modId xmlns:p14="http://schemas.microsoft.com/office/powerpoint/2010/main" val="3009097721"/>
              </p:ext>
            </p:extLst>
          </p:nvPr>
        </p:nvGraphicFramePr>
        <p:xfrm>
          <a:off x="8153400" y="4843478"/>
          <a:ext cx="3702050" cy="1615440"/>
        </p:xfrm>
        <a:graphic>
          <a:graphicData uri="http://schemas.openxmlformats.org/drawingml/2006/table">
            <a:tbl>
              <a:tblPr firstRow="1" bandRow="1">
                <a:tableStyleId>{5940675A-B579-460E-94D1-54222C63F5DA}</a:tableStyleId>
              </a:tblPr>
              <a:tblGrid>
                <a:gridCol w="3702050">
                  <a:extLst>
                    <a:ext uri="{9D8B030D-6E8A-4147-A177-3AD203B41FA5}">
                      <a16:colId xmlns:a16="http://schemas.microsoft.com/office/drawing/2014/main" val="40058472"/>
                    </a:ext>
                  </a:extLst>
                </a:gridCol>
              </a:tblGrid>
              <a:tr h="75236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600" b="1" dirty="0">
                          <a:solidFill>
                            <a:srgbClr val="C00000"/>
                          </a:solidFill>
                          <a:latin typeface="Times New Roman" panose="02020603050405020304" pitchFamily="18" charset="0"/>
                          <a:cs typeface="Times New Roman" panose="02020603050405020304" pitchFamily="18" charset="0"/>
                        </a:rPr>
                        <a:t>Team Members</a:t>
                      </a:r>
                      <a:br>
                        <a:rPr lang="en-IN" sz="1600" b="1" dirty="0">
                          <a:solidFill>
                            <a:srgbClr val="C00000"/>
                          </a:solidFill>
                          <a:latin typeface="Times New Roman" panose="02020603050405020304" pitchFamily="18" charset="0"/>
                          <a:cs typeface="Times New Roman" panose="02020603050405020304" pitchFamily="18" charset="0"/>
                        </a:rPr>
                      </a:br>
                      <a:r>
                        <a:rPr lang="en-IN" sz="1400" b="1" dirty="0" err="1">
                          <a:solidFill>
                            <a:schemeClr val="tx1"/>
                          </a:solidFill>
                          <a:latin typeface="Times New Roman" panose="02020603050405020304" pitchFamily="18" charset="0"/>
                          <a:cs typeface="Times New Roman" panose="02020603050405020304" pitchFamily="18" charset="0"/>
                        </a:rPr>
                        <a:t>B.Srihitha</a:t>
                      </a:r>
                      <a:br>
                        <a:rPr lang="en-IN" sz="1400" b="1" dirty="0">
                          <a:solidFill>
                            <a:schemeClr val="tx1"/>
                          </a:solidFill>
                          <a:latin typeface="Times New Roman" panose="02020603050405020304" pitchFamily="18" charset="0"/>
                          <a:cs typeface="Times New Roman" panose="02020603050405020304" pitchFamily="18" charset="0"/>
                        </a:rPr>
                      </a:br>
                      <a:r>
                        <a:rPr lang="en-IN" sz="1400" b="1" dirty="0">
                          <a:solidFill>
                            <a:schemeClr val="tx1"/>
                          </a:solidFill>
                          <a:latin typeface="Times New Roman" panose="02020603050405020304" pitchFamily="18" charset="0"/>
                          <a:cs typeface="Times New Roman" panose="02020603050405020304" pitchFamily="18" charset="0"/>
                        </a:rPr>
                        <a:t>2420030099</a:t>
                      </a:r>
                      <a:br>
                        <a:rPr lang="en-IN" sz="1400" b="1" dirty="0">
                          <a:solidFill>
                            <a:schemeClr val="tx1"/>
                          </a:solidFill>
                          <a:latin typeface="Times New Roman" panose="02020603050405020304" pitchFamily="18" charset="0"/>
                          <a:cs typeface="Times New Roman" panose="02020603050405020304" pitchFamily="18" charset="0"/>
                        </a:rPr>
                      </a:br>
                      <a:r>
                        <a:rPr lang="en-IN" sz="1400" b="1" dirty="0" err="1">
                          <a:solidFill>
                            <a:schemeClr val="tx1"/>
                          </a:solidFill>
                          <a:latin typeface="Times New Roman" panose="02020603050405020304" pitchFamily="18" charset="0"/>
                          <a:cs typeface="Times New Roman" panose="02020603050405020304" pitchFamily="18" charset="0"/>
                        </a:rPr>
                        <a:t>R.L.S.Giridhar</a:t>
                      </a:r>
                      <a:br>
                        <a:rPr lang="en-IN" sz="1400" b="1" dirty="0">
                          <a:solidFill>
                            <a:schemeClr val="tx1"/>
                          </a:solidFill>
                          <a:latin typeface="Times New Roman" panose="02020603050405020304" pitchFamily="18" charset="0"/>
                          <a:cs typeface="Times New Roman" panose="02020603050405020304" pitchFamily="18" charset="0"/>
                        </a:rPr>
                      </a:br>
                      <a:r>
                        <a:rPr lang="en-IN" sz="1400" b="1" dirty="0">
                          <a:solidFill>
                            <a:schemeClr val="tx1"/>
                          </a:solidFill>
                          <a:latin typeface="Times New Roman" panose="02020603050405020304" pitchFamily="18" charset="0"/>
                          <a:cs typeface="Times New Roman" panose="02020603050405020304" pitchFamily="18" charset="0"/>
                        </a:rPr>
                        <a:t>2420030171</a:t>
                      </a:r>
                      <a:endParaRPr lang="en-IN" sz="1400" b="1" dirty="0">
                        <a:solidFill>
                          <a:srgbClr val="C00000"/>
                        </a:solidFill>
                        <a:latin typeface="Times New Roman" panose="02020603050405020304" pitchFamily="18" charset="0"/>
                        <a:cs typeface="Times New Roman" panose="02020603050405020304" pitchFamily="18" charset="0"/>
                      </a:endParaRPr>
                    </a:p>
                    <a:p>
                      <a:pPr marL="0" algn="l" defTabSz="914400" rtl="0" eaLnBrk="1" latinLnBrk="0" hangingPunct="1"/>
                      <a:r>
                        <a:rPr lang="en-IN" sz="1400" b="1" kern="1200" dirty="0" err="1">
                          <a:solidFill>
                            <a:schemeClr val="dk1"/>
                          </a:solidFill>
                          <a:latin typeface="Times New Roman" panose="02020603050405020304" pitchFamily="18" charset="0"/>
                          <a:ea typeface="Cambria"/>
                          <a:cs typeface="Times New Roman" panose="02020603050405020304" pitchFamily="18" charset="0"/>
                        </a:rPr>
                        <a:t>P.Satwika</a:t>
                      </a:r>
                      <a:r>
                        <a:rPr lang="en-IN" sz="1400" b="1" kern="1200" dirty="0">
                          <a:solidFill>
                            <a:schemeClr val="dk1"/>
                          </a:solidFill>
                          <a:latin typeface="Times New Roman" panose="02020603050405020304" pitchFamily="18" charset="0"/>
                          <a:ea typeface="Cambria"/>
                          <a:cs typeface="Times New Roman" panose="02020603050405020304" pitchFamily="18" charset="0"/>
                        </a:rPr>
                        <a:t> Reddy</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400" b="1" kern="1200" dirty="0">
                          <a:solidFill>
                            <a:schemeClr val="dk1"/>
                          </a:solidFill>
                          <a:latin typeface="Times New Roman" panose="02020603050405020304" pitchFamily="18" charset="0"/>
                          <a:ea typeface="Cambria"/>
                          <a:cs typeface="Times New Roman" panose="02020603050405020304" pitchFamily="18" charset="0"/>
                        </a:rPr>
                        <a:t>2420030172</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8782725"/>
                  </a:ext>
                </a:extLst>
              </a:tr>
            </a:tbl>
          </a:graphicData>
        </a:graphic>
      </p:graphicFrame>
      <p:grpSp>
        <p:nvGrpSpPr>
          <p:cNvPr id="21" name="Group 20">
            <a:extLst>
              <a:ext uri="{FF2B5EF4-FFF2-40B4-BE49-F238E27FC236}">
                <a16:creationId xmlns:a16="http://schemas.microsoft.com/office/drawing/2014/main" id="{B5A8CA37-C090-A9D8-75D0-A7A7D5DEBE24}"/>
              </a:ext>
            </a:extLst>
          </p:cNvPr>
          <p:cNvGrpSpPr/>
          <p:nvPr/>
        </p:nvGrpSpPr>
        <p:grpSpPr>
          <a:xfrm>
            <a:off x="8038280" y="4586515"/>
            <a:ext cx="230240" cy="232995"/>
            <a:chOff x="1567861" y="1613059"/>
            <a:chExt cx="230240" cy="232995"/>
          </a:xfrm>
          <a:solidFill>
            <a:srgbClr val="FF66FF"/>
          </a:solidFill>
        </p:grpSpPr>
        <p:sp>
          <p:nvSpPr>
            <p:cNvPr id="22" name="Isosceles Triangle 21">
              <a:extLst>
                <a:ext uri="{FF2B5EF4-FFF2-40B4-BE49-F238E27FC236}">
                  <a16:creationId xmlns:a16="http://schemas.microsoft.com/office/drawing/2014/main" id="{E48399A6-AAB5-B502-9670-34E0FCDF5541}"/>
                </a:ext>
              </a:extLst>
            </p:cNvPr>
            <p:cNvSpPr/>
            <p:nvPr/>
          </p:nvSpPr>
          <p:spPr>
            <a:xfrm rot="8294948">
              <a:off x="1567861" y="1613059"/>
              <a:ext cx="160845" cy="232995"/>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highlight>
                  <a:srgbClr val="FFFF00"/>
                </a:highlight>
              </a:endParaRPr>
            </a:p>
          </p:txBody>
        </p:sp>
        <p:sp>
          <p:nvSpPr>
            <p:cNvPr id="23" name="Isosceles Triangle 22">
              <a:extLst>
                <a:ext uri="{FF2B5EF4-FFF2-40B4-BE49-F238E27FC236}">
                  <a16:creationId xmlns:a16="http://schemas.microsoft.com/office/drawing/2014/main" id="{67E59050-351C-0873-0298-AB77EA522C22}"/>
                </a:ext>
              </a:extLst>
            </p:cNvPr>
            <p:cNvSpPr/>
            <p:nvPr/>
          </p:nvSpPr>
          <p:spPr>
            <a:xfrm rot="11852143">
              <a:off x="1683856" y="1639371"/>
              <a:ext cx="114245" cy="153379"/>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graphicFrame>
        <p:nvGraphicFramePr>
          <p:cNvPr id="30" name="Table 29">
            <a:extLst>
              <a:ext uri="{FF2B5EF4-FFF2-40B4-BE49-F238E27FC236}">
                <a16:creationId xmlns:a16="http://schemas.microsoft.com/office/drawing/2014/main" id="{9091FADF-77DB-CB1D-CD72-56C53CF76308}"/>
              </a:ext>
            </a:extLst>
          </p:cNvPr>
          <p:cNvGraphicFramePr>
            <a:graphicFrameLocks noGrp="1"/>
          </p:cNvGraphicFramePr>
          <p:nvPr>
            <p:extLst>
              <p:ext uri="{D42A27DB-BD31-4B8C-83A1-F6EECF244321}">
                <p14:modId xmlns:p14="http://schemas.microsoft.com/office/powerpoint/2010/main" val="4108838424"/>
              </p:ext>
            </p:extLst>
          </p:nvPr>
        </p:nvGraphicFramePr>
        <p:xfrm>
          <a:off x="-795813" y="4774125"/>
          <a:ext cx="5902325" cy="1366520"/>
        </p:xfrm>
        <a:graphic>
          <a:graphicData uri="http://schemas.openxmlformats.org/drawingml/2006/table">
            <a:tbl>
              <a:tblPr firstRow="1" bandRow="1">
                <a:tableStyleId>{5940675A-B579-460E-94D1-54222C63F5DA}</a:tableStyleId>
              </a:tblPr>
              <a:tblGrid>
                <a:gridCol w="1373565">
                  <a:extLst>
                    <a:ext uri="{9D8B030D-6E8A-4147-A177-3AD203B41FA5}">
                      <a16:colId xmlns:a16="http://schemas.microsoft.com/office/drawing/2014/main" val="40058472"/>
                    </a:ext>
                  </a:extLst>
                </a:gridCol>
                <a:gridCol w="4528760">
                  <a:extLst>
                    <a:ext uri="{9D8B030D-6E8A-4147-A177-3AD203B41FA5}">
                      <a16:colId xmlns:a16="http://schemas.microsoft.com/office/drawing/2014/main" val="1330242319"/>
                    </a:ext>
                  </a:extLst>
                </a:gridCol>
              </a:tblGrid>
              <a:tr h="1332118">
                <a:tc>
                  <a:txBody>
                    <a:bodyPr/>
                    <a:lstStyle/>
                    <a:p>
                      <a:endParaRPr lang="en-IN"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en-IN" sz="500" b="1" dirty="0">
                        <a:solidFill>
                          <a:srgbClr val="C00000"/>
                        </a:solidFill>
                        <a:latin typeface="Times New Roman" panose="02020603050405020304" pitchFamily="18" charset="0"/>
                        <a:cs typeface="Times New Roman" panose="02020603050405020304" pitchFamily="18" charset="0"/>
                      </a:endParaRPr>
                    </a:p>
                    <a:p>
                      <a:r>
                        <a:rPr lang="en-IN" sz="1600" b="1" dirty="0">
                          <a:solidFill>
                            <a:srgbClr val="C00000"/>
                          </a:solidFill>
                          <a:latin typeface="Times New Roman" panose="02020603050405020304" pitchFamily="18" charset="0"/>
                          <a:cs typeface="Times New Roman" panose="02020603050405020304" pitchFamily="18" charset="0"/>
                        </a:rPr>
                        <a:t>Under the Guidance of</a:t>
                      </a:r>
                    </a:p>
                    <a:p>
                      <a:pPr marL="0" indent="0" algn="l">
                        <a:lnSpc>
                          <a:spcPct val="100000"/>
                        </a:lnSpc>
                        <a:spcBef>
                          <a:spcPts val="200"/>
                        </a:spcBef>
                        <a:buSzPts val="810"/>
                        <a:buNone/>
                      </a:pPr>
                      <a:r>
                        <a:rPr lang="en-US" sz="1400" b="1" dirty="0">
                          <a:solidFill>
                            <a:schemeClr val="dk1"/>
                          </a:solidFill>
                          <a:latin typeface="Times New Roman" panose="02020603050405020304" pitchFamily="18" charset="0"/>
                          <a:ea typeface="Cambria"/>
                          <a:cs typeface="Times New Roman" panose="02020603050405020304" pitchFamily="18" charset="0"/>
                          <a:sym typeface="Cambria"/>
                        </a:rPr>
                        <a:t>Dr. Srikanth </a:t>
                      </a:r>
                      <a:r>
                        <a:rPr lang="en-US" sz="1400" b="1" dirty="0" err="1">
                          <a:solidFill>
                            <a:schemeClr val="dk1"/>
                          </a:solidFill>
                          <a:latin typeface="Times New Roman" panose="02020603050405020304" pitchFamily="18" charset="0"/>
                          <a:ea typeface="Cambria"/>
                          <a:cs typeface="Times New Roman" panose="02020603050405020304" pitchFamily="18" charset="0"/>
                          <a:sym typeface="Cambria"/>
                        </a:rPr>
                        <a:t>Cherukuvada</a:t>
                      </a:r>
                      <a:endParaRPr lang="en-US" sz="1400" b="1" dirty="0">
                        <a:solidFill>
                          <a:schemeClr val="dk1"/>
                        </a:solidFill>
                        <a:latin typeface="Times New Roman" panose="02020603050405020304" pitchFamily="18" charset="0"/>
                        <a:ea typeface="Cambria"/>
                        <a:cs typeface="Times New Roman" panose="02020603050405020304" pitchFamily="18" charset="0"/>
                        <a:sym typeface="Cambria"/>
                      </a:endParaRPr>
                    </a:p>
                    <a:p>
                      <a:pPr marL="0" indent="0" algn="l">
                        <a:lnSpc>
                          <a:spcPct val="100000"/>
                        </a:lnSpc>
                        <a:spcBef>
                          <a:spcPts val="200"/>
                        </a:spcBef>
                        <a:buSzPts val="810"/>
                        <a:buNone/>
                      </a:pPr>
                      <a:r>
                        <a:rPr lang="en-US" sz="1400" dirty="0">
                          <a:solidFill>
                            <a:schemeClr val="dk1"/>
                          </a:solidFill>
                          <a:latin typeface="Times New Roman" panose="02020603050405020304" pitchFamily="18" charset="0"/>
                          <a:ea typeface="Cambria"/>
                          <a:cs typeface="Times New Roman" panose="02020603050405020304" pitchFamily="18" charset="0"/>
                          <a:sym typeface="Cambria"/>
                        </a:rPr>
                        <a:t>Assistant Professor, </a:t>
                      </a:r>
                    </a:p>
                    <a:p>
                      <a:pPr marL="0" indent="0" algn="l">
                        <a:lnSpc>
                          <a:spcPct val="100000"/>
                        </a:lnSpc>
                        <a:spcBef>
                          <a:spcPts val="200"/>
                        </a:spcBef>
                        <a:buSzPts val="810"/>
                        <a:buNone/>
                      </a:pPr>
                      <a:r>
                        <a:rPr lang="en-US" sz="1400" b="1" dirty="0">
                          <a:solidFill>
                            <a:schemeClr val="dk1"/>
                          </a:solidFill>
                          <a:latin typeface="Times New Roman" panose="02020603050405020304" pitchFamily="18" charset="0"/>
                          <a:ea typeface="Cambria"/>
                          <a:cs typeface="Times New Roman" panose="02020603050405020304" pitchFamily="18" charset="0"/>
                          <a:sym typeface="Cambria"/>
                        </a:rPr>
                        <a:t>Department of </a:t>
                      </a:r>
                      <a:r>
                        <a:rPr lang="en-US" sz="1400" b="1" dirty="0">
                          <a:solidFill>
                            <a:prstClr val="black"/>
                          </a:solidFill>
                          <a:latin typeface="Times New Roman" panose="02020603050405020304" pitchFamily="18" charset="0"/>
                          <a:ea typeface="Cambria"/>
                          <a:cs typeface="Times New Roman" panose="02020603050405020304" pitchFamily="18" charset="0"/>
                          <a:sym typeface="Cambria"/>
                        </a:rPr>
                        <a:t>Computer Science and Engineering, </a:t>
                      </a:r>
                    </a:p>
                    <a:p>
                      <a:pPr marL="0" indent="0" algn="l">
                        <a:lnSpc>
                          <a:spcPct val="100000"/>
                        </a:lnSpc>
                        <a:spcBef>
                          <a:spcPts val="200"/>
                        </a:spcBef>
                        <a:buSzPts val="810"/>
                        <a:buNone/>
                      </a:pPr>
                      <a:r>
                        <a:rPr lang="en-US" sz="1400" dirty="0">
                          <a:solidFill>
                            <a:schemeClr val="dk1"/>
                          </a:solidFill>
                          <a:latin typeface="Times New Roman" panose="02020603050405020304" pitchFamily="18" charset="0"/>
                          <a:ea typeface="Cambria"/>
                          <a:cs typeface="Times New Roman" panose="02020603050405020304" pitchFamily="18" charset="0"/>
                          <a:sym typeface="Cambria"/>
                        </a:rPr>
                        <a:t>KLH CSE Bowrampet Campus</a:t>
                      </a:r>
                      <a:endParaRPr lang="en-US" sz="1400" dirty="0">
                        <a:solidFill>
                          <a:schemeClr val="dk1"/>
                        </a:solidFill>
                        <a:latin typeface="Times New Roman" panose="02020603050405020304" pitchFamily="18" charset="0"/>
                        <a:ea typeface="Cambria"/>
                        <a:cs typeface="Times New Roman" panose="02020603050405020304" pitchFamily="18" charset="0"/>
                        <a:sym typeface="Arial"/>
                      </a:endParaRPr>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8782725"/>
                  </a:ext>
                </a:extLst>
              </a:tr>
            </a:tbl>
          </a:graphicData>
        </a:graphic>
      </p:graphicFrame>
      <p:grpSp>
        <p:nvGrpSpPr>
          <p:cNvPr id="31" name="Group 30">
            <a:extLst>
              <a:ext uri="{FF2B5EF4-FFF2-40B4-BE49-F238E27FC236}">
                <a16:creationId xmlns:a16="http://schemas.microsoft.com/office/drawing/2014/main" id="{8A67E7A6-1F33-FBD3-09B8-F35F17C8F890}"/>
              </a:ext>
            </a:extLst>
          </p:cNvPr>
          <p:cNvGrpSpPr/>
          <p:nvPr/>
        </p:nvGrpSpPr>
        <p:grpSpPr>
          <a:xfrm>
            <a:off x="442519" y="4562547"/>
            <a:ext cx="230240" cy="232995"/>
            <a:chOff x="1567861" y="1613059"/>
            <a:chExt cx="230240" cy="232995"/>
          </a:xfrm>
          <a:solidFill>
            <a:srgbClr val="00B0F0"/>
          </a:solidFill>
        </p:grpSpPr>
        <p:sp>
          <p:nvSpPr>
            <p:cNvPr id="32" name="Isosceles Triangle 31">
              <a:extLst>
                <a:ext uri="{FF2B5EF4-FFF2-40B4-BE49-F238E27FC236}">
                  <a16:creationId xmlns:a16="http://schemas.microsoft.com/office/drawing/2014/main" id="{FE269535-B3A3-75F2-310C-D43D8AC3F905}"/>
                </a:ext>
              </a:extLst>
            </p:cNvPr>
            <p:cNvSpPr/>
            <p:nvPr/>
          </p:nvSpPr>
          <p:spPr>
            <a:xfrm rot="8294948">
              <a:off x="1567861" y="1613059"/>
              <a:ext cx="160845" cy="232995"/>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highlight>
                  <a:srgbClr val="FFFF00"/>
                </a:highlight>
              </a:endParaRPr>
            </a:p>
          </p:txBody>
        </p:sp>
        <p:sp>
          <p:nvSpPr>
            <p:cNvPr id="33" name="Isosceles Triangle 32">
              <a:extLst>
                <a:ext uri="{FF2B5EF4-FFF2-40B4-BE49-F238E27FC236}">
                  <a16:creationId xmlns:a16="http://schemas.microsoft.com/office/drawing/2014/main" id="{FA8E9237-F9D3-FB94-D6EB-94D77AEFD506}"/>
                </a:ext>
              </a:extLst>
            </p:cNvPr>
            <p:cNvSpPr/>
            <p:nvPr/>
          </p:nvSpPr>
          <p:spPr>
            <a:xfrm rot="11852143">
              <a:off x="1683856" y="1639371"/>
              <a:ext cx="114245" cy="153379"/>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sp>
        <p:nvSpPr>
          <p:cNvPr id="4" name="Rectangle: Rounded Corners 3">
            <a:extLst>
              <a:ext uri="{FF2B5EF4-FFF2-40B4-BE49-F238E27FC236}">
                <a16:creationId xmlns:a16="http://schemas.microsoft.com/office/drawing/2014/main" id="{4EE5F681-D3B5-BC4B-8AA4-5688DCEEFB44}"/>
              </a:ext>
            </a:extLst>
          </p:cNvPr>
          <p:cNvSpPr/>
          <p:nvPr/>
        </p:nvSpPr>
        <p:spPr>
          <a:xfrm>
            <a:off x="638175" y="769267"/>
            <a:ext cx="10915650" cy="985640"/>
          </a:xfrm>
          <a:prstGeom prst="round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dirty="0">
              <a:ln>
                <a:noFill/>
              </a:ln>
              <a:solidFill>
                <a:srgbClr val="C00000"/>
              </a:solidFill>
              <a:effectLst/>
              <a:uLnTx/>
              <a:uFillTx/>
              <a:latin typeface="Times New Roman" panose="02020603050405020304" pitchFamily="18" charset="0"/>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800" b="1" i="0" u="none" strike="noStrike" kern="1200" cap="none" spc="0" normalizeH="0" baseline="0" noProof="0" dirty="0">
              <a:ln>
                <a:noFill/>
              </a:ln>
              <a:solidFill>
                <a:schemeClr val="bg1"/>
              </a:solidFill>
              <a:effectLst/>
              <a:uLnTx/>
              <a:uFillTx/>
              <a:latin typeface="Times New Roman" panose="02020603050405020304" pitchFamily="18" charset="0"/>
              <a:cs typeface="Times New Roman" panose="02020603050405020304" pitchFamily="18" charset="0"/>
            </a:endParaRPr>
          </a:p>
          <a:p>
            <a:pPr algn="ctr"/>
            <a:endParaRPr lang="en-IN"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A4782FAE-AFAF-27B2-2591-CFAF7695BD03}"/>
              </a:ext>
            </a:extLst>
          </p:cNvPr>
          <p:cNvPicPr>
            <a:picLocks noChangeAspect="1"/>
          </p:cNvPicPr>
          <p:nvPr/>
        </p:nvPicPr>
        <p:blipFill>
          <a:blip r:embed="rId3"/>
          <a:stretch>
            <a:fillRect/>
          </a:stretch>
        </p:blipFill>
        <p:spPr>
          <a:xfrm>
            <a:off x="10249380" y="0"/>
            <a:ext cx="1942620" cy="622550"/>
          </a:xfrm>
          <a:prstGeom prst="rect">
            <a:avLst/>
          </a:prstGeom>
        </p:spPr>
      </p:pic>
      <p:sp>
        <p:nvSpPr>
          <p:cNvPr id="14" name="TextBox 13">
            <a:extLst>
              <a:ext uri="{FF2B5EF4-FFF2-40B4-BE49-F238E27FC236}">
                <a16:creationId xmlns:a16="http://schemas.microsoft.com/office/drawing/2014/main" id="{DD4CF64F-3FB6-0CE4-B778-63C5D5A1D343}"/>
              </a:ext>
            </a:extLst>
          </p:cNvPr>
          <p:cNvSpPr txBox="1"/>
          <p:nvPr/>
        </p:nvSpPr>
        <p:spPr>
          <a:xfrm>
            <a:off x="738187" y="810857"/>
            <a:ext cx="10715625" cy="954107"/>
          </a:xfrm>
          <a:prstGeom prst="rect">
            <a:avLst/>
          </a:prstGeom>
          <a:noFill/>
        </p:spPr>
        <p:txBody>
          <a:bodyPr wrap="square">
            <a:spAutoFit/>
          </a:bodyPr>
          <a:lstStyle/>
          <a:p>
            <a:pPr lvl="0" algn="ctr">
              <a:defRPr/>
            </a:pPr>
            <a:r>
              <a:rPr lang="en-IN" sz="2800" b="1" dirty="0">
                <a:solidFill>
                  <a:schemeClr val="bg1"/>
                </a:solidFill>
                <a:latin typeface="Times New Roman" panose="02020603050405020304" pitchFamily="18" charset="0"/>
                <a:cs typeface="Times New Roman" panose="02020603050405020304" pitchFamily="18" charset="0"/>
              </a:rPr>
              <a:t>INTELLIGENT BATTERY MANAGEMENT SYSTEM FOR </a:t>
            </a:r>
            <a:br>
              <a:rPr lang="en-IN" sz="2800" b="1" dirty="0">
                <a:solidFill>
                  <a:schemeClr val="bg1"/>
                </a:solidFill>
                <a:latin typeface="Times New Roman" panose="02020603050405020304" pitchFamily="18" charset="0"/>
                <a:cs typeface="Times New Roman" panose="02020603050405020304" pitchFamily="18" charset="0"/>
              </a:rPr>
            </a:br>
            <a:r>
              <a:rPr lang="en-IN" sz="2800" b="1" dirty="0">
                <a:solidFill>
                  <a:schemeClr val="bg1"/>
                </a:solidFill>
                <a:latin typeface="Times New Roman" panose="02020603050405020304" pitchFamily="18" charset="0"/>
                <a:cs typeface="Times New Roman" panose="02020603050405020304" pitchFamily="18" charset="0"/>
              </a:rPr>
              <a:t>SOFTWARE-DEFINED EVS</a:t>
            </a:r>
            <a:endParaRPr kumimoji="0" lang="en-US" sz="3600" b="0" i="0" u="none" strike="noStrike" kern="1200" cap="none" spc="0" normalizeH="0" baseline="0" noProof="0" dirty="0">
              <a:ln>
                <a:noFill/>
              </a:ln>
              <a:solidFill>
                <a:schemeClr val="bg1"/>
              </a:solidFill>
              <a:effectLst/>
              <a:uLnTx/>
              <a:uFillTx/>
              <a:latin typeface="Calibri" panose="020F0502020204030204"/>
              <a:ea typeface="+mn-ea"/>
              <a:cs typeface="Poppins" pitchFamily="2" charset="77"/>
            </a:endParaRPr>
          </a:p>
        </p:txBody>
      </p:sp>
      <p:sp>
        <p:nvSpPr>
          <p:cNvPr id="17" name="TextBox 16">
            <a:extLst>
              <a:ext uri="{FF2B5EF4-FFF2-40B4-BE49-F238E27FC236}">
                <a16:creationId xmlns:a16="http://schemas.microsoft.com/office/drawing/2014/main" id="{D25BC1A0-FDE4-1557-375E-6E0BD69BC77B}"/>
              </a:ext>
            </a:extLst>
          </p:cNvPr>
          <p:cNvSpPr txBox="1"/>
          <p:nvPr/>
        </p:nvSpPr>
        <p:spPr>
          <a:xfrm>
            <a:off x="738187" y="2246806"/>
            <a:ext cx="10715625" cy="584775"/>
          </a:xfrm>
          <a:prstGeom prst="rect">
            <a:avLst/>
          </a:prstGeom>
          <a:noFill/>
        </p:spPr>
        <p:txBody>
          <a:bodyPr wrap="square">
            <a:spAutoFit/>
          </a:bodyPr>
          <a:lstStyle/>
          <a:p>
            <a:pPr lvl="0" algn="ctr">
              <a:defRPr/>
            </a:pPr>
            <a:r>
              <a:rPr lang="en-IN" sz="3200" b="1" dirty="0">
                <a:latin typeface="Times New Roman" panose="02020603050405020304" pitchFamily="18" charset="0"/>
                <a:cs typeface="Times New Roman" panose="02020603050405020304" pitchFamily="18" charset="0"/>
              </a:rPr>
              <a:t>RTOS Project Review-1</a:t>
            </a:r>
          </a:p>
        </p:txBody>
      </p:sp>
      <p:sp>
        <p:nvSpPr>
          <p:cNvPr id="2" name="Slide Number Placeholder 1">
            <a:extLst>
              <a:ext uri="{FF2B5EF4-FFF2-40B4-BE49-F238E27FC236}">
                <a16:creationId xmlns:a16="http://schemas.microsoft.com/office/drawing/2014/main" id="{5AEB4724-3A4A-C832-4834-B09183A2B772}"/>
              </a:ext>
            </a:extLst>
          </p:cNvPr>
          <p:cNvSpPr>
            <a:spLocks noGrp="1"/>
          </p:cNvSpPr>
          <p:nvPr>
            <p:ph type="sldNum" sz="quarter" idx="12"/>
          </p:nvPr>
        </p:nvSpPr>
        <p:spPr/>
        <p:txBody>
          <a:bodyPr/>
          <a:lstStyle/>
          <a:p>
            <a:fld id="{E639234F-78F1-4984-9C4D-D4C7AB587871}" type="slidenum">
              <a:rPr lang="en-US" smtClean="0"/>
              <a:t>1</a:t>
            </a:fld>
            <a:endParaRPr lang="en-US"/>
          </a:p>
        </p:txBody>
      </p:sp>
      <p:sp>
        <p:nvSpPr>
          <p:cNvPr id="3" name="Footer Placeholder 2">
            <a:extLst>
              <a:ext uri="{FF2B5EF4-FFF2-40B4-BE49-F238E27FC236}">
                <a16:creationId xmlns:a16="http://schemas.microsoft.com/office/drawing/2014/main" id="{802EC303-DDA9-94B2-0BD0-3E30038A2F5E}"/>
              </a:ext>
            </a:extLst>
          </p:cNvPr>
          <p:cNvSpPr>
            <a:spLocks noGrp="1"/>
          </p:cNvSpPr>
          <p:nvPr>
            <p:ph type="ftr" sz="quarter" idx="11"/>
          </p:nvPr>
        </p:nvSpPr>
        <p:spPr/>
        <p:txBody>
          <a:bodyPr/>
          <a:lstStyle/>
          <a:p>
            <a:r>
              <a:rPr lang="en-US"/>
              <a:t>RTOS REVIEW-1</a:t>
            </a:r>
          </a:p>
        </p:txBody>
      </p:sp>
    </p:spTree>
    <p:extLst>
      <p:ext uri="{BB962C8B-B14F-4D97-AF65-F5344CB8AC3E}">
        <p14:creationId xmlns:p14="http://schemas.microsoft.com/office/powerpoint/2010/main" val="22476026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9797C6D7-F4DC-4908-B610-D10EE43A9B41}"/>
              </a:ext>
            </a:extLst>
          </p:cNvPr>
          <p:cNvSpPr txBox="1"/>
          <p:nvPr/>
        </p:nvSpPr>
        <p:spPr>
          <a:xfrm>
            <a:off x="2587637" y="133952"/>
            <a:ext cx="5854242" cy="646331"/>
          </a:xfrm>
          <a:prstGeom prst="rect">
            <a:avLst/>
          </a:prstGeom>
          <a:ln>
            <a:noFill/>
          </a:ln>
        </p:spPr>
        <p:style>
          <a:lnRef idx="2">
            <a:schemeClr val="accent2"/>
          </a:lnRef>
          <a:fillRef idx="1">
            <a:schemeClr val="lt1"/>
          </a:fillRef>
          <a:effectRef idx="0">
            <a:schemeClr val="accent2"/>
          </a:effectRef>
          <a:fontRef idx="minor">
            <a:schemeClr val="dk1"/>
          </a:fontRef>
        </p:style>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IN" sz="3600" b="1" i="0" u="none" strike="noStrike" kern="1200" cap="none" spc="0" normalizeH="0" baseline="0" noProof="0" dirty="0">
                <a:ln w="0"/>
                <a:solidFill>
                  <a:srgbClr val="FF0000"/>
                </a:solidFill>
                <a:effectLst/>
                <a:uLnTx/>
                <a:uFillTx/>
                <a:latin typeface="Times New Roman" panose="02020603050405020304" pitchFamily="18" charset="0"/>
                <a:ea typeface="Cambria"/>
                <a:cs typeface="Times New Roman" panose="02020603050405020304" pitchFamily="18" charset="0"/>
              </a:rPr>
              <a:t>Outline of Research Work</a:t>
            </a:r>
          </a:p>
        </p:txBody>
      </p:sp>
      <p:grpSp>
        <p:nvGrpSpPr>
          <p:cNvPr id="8" name="Group 7">
            <a:extLst>
              <a:ext uri="{FF2B5EF4-FFF2-40B4-BE49-F238E27FC236}">
                <a16:creationId xmlns:a16="http://schemas.microsoft.com/office/drawing/2014/main" id="{B25CDE63-8DDC-4AC4-7713-9D89D6D0F4B1}"/>
              </a:ext>
            </a:extLst>
          </p:cNvPr>
          <p:cNvGrpSpPr/>
          <p:nvPr/>
        </p:nvGrpSpPr>
        <p:grpSpPr>
          <a:xfrm>
            <a:off x="2894617" y="1057757"/>
            <a:ext cx="6784432" cy="4438977"/>
            <a:chOff x="1929643" y="1656655"/>
            <a:chExt cx="6784432" cy="4438977"/>
          </a:xfrm>
        </p:grpSpPr>
        <p:sp>
          <p:nvSpPr>
            <p:cNvPr id="16" name="TextBox 15">
              <a:extLst>
                <a:ext uri="{FF2B5EF4-FFF2-40B4-BE49-F238E27FC236}">
                  <a16:creationId xmlns:a16="http://schemas.microsoft.com/office/drawing/2014/main" id="{C0A4CA55-824E-91B2-D5F9-032778D4B8B3}"/>
                </a:ext>
              </a:extLst>
            </p:cNvPr>
            <p:cNvSpPr txBox="1"/>
            <p:nvPr/>
          </p:nvSpPr>
          <p:spPr>
            <a:xfrm>
              <a:off x="2675533" y="3257433"/>
              <a:ext cx="4267376" cy="960328"/>
            </a:xfrm>
            <a:prstGeom prst="rect">
              <a:avLst/>
            </a:prstGeom>
            <a:solidFill>
              <a:srgbClr val="09E5E5"/>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schemeClr val="tx1"/>
                  </a:solidFill>
                  <a:effectLst/>
                  <a:uLnTx/>
                  <a:uFillTx/>
                  <a:latin typeface="Times New Roman" pitchFamily="18" charset="0"/>
                  <a:ea typeface="Calibri"/>
                  <a:cs typeface="Times New Roman" pitchFamily="18" charset="0"/>
                  <a:sym typeface="Calibri"/>
                </a:rPr>
                <a:t>Challenges</a:t>
              </a:r>
            </a:p>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schemeClr val="tx1"/>
                </a:solidFill>
                <a:effectLst/>
                <a:uLnTx/>
                <a:uFillTx/>
                <a:latin typeface="Times New Roman" pitchFamily="18" charset="0"/>
                <a:ea typeface="Calibri"/>
                <a:cs typeface="Times New Roman" pitchFamily="18" charset="0"/>
                <a:sym typeface="Calibri"/>
              </a:endParaRPr>
            </a:p>
          </p:txBody>
        </p:sp>
        <p:sp>
          <p:nvSpPr>
            <p:cNvPr id="18" name="TextBox 17">
              <a:extLst>
                <a:ext uri="{FF2B5EF4-FFF2-40B4-BE49-F238E27FC236}">
                  <a16:creationId xmlns:a16="http://schemas.microsoft.com/office/drawing/2014/main" id="{EE7E17B2-5AF8-C463-91C3-5B87FC773369}"/>
                </a:ext>
              </a:extLst>
            </p:cNvPr>
            <p:cNvSpPr txBox="1"/>
            <p:nvPr/>
          </p:nvSpPr>
          <p:spPr>
            <a:xfrm>
              <a:off x="2922896" y="3753448"/>
              <a:ext cx="4374693" cy="873572"/>
            </a:xfrm>
            <a:prstGeom prst="rect">
              <a:avLst/>
            </a:prstGeom>
            <a:solidFill>
              <a:srgbClr val="09E5E5"/>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1800" b="1" i="0" u="none" strike="noStrike" kern="1200" cap="none" spc="0" normalizeH="0" baseline="0" noProof="0" dirty="0">
                  <a:ln>
                    <a:noFill/>
                  </a:ln>
                  <a:solidFill>
                    <a:schemeClr val="tx1"/>
                  </a:solidFill>
                  <a:effectLst/>
                  <a:uLnTx/>
                  <a:uFillTx/>
                  <a:latin typeface="Times New Roman" pitchFamily="18" charset="0"/>
                  <a:ea typeface="Calibri"/>
                  <a:cs typeface="Times New Roman" pitchFamily="18" charset="0"/>
                  <a:sym typeface="Calibri"/>
                </a:rPr>
                <a:t>Research Objectives</a:t>
              </a:r>
            </a:p>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1800" b="1" i="0" u="none" strike="noStrike" kern="1200" cap="none" spc="0" normalizeH="0" baseline="0" noProof="0" dirty="0">
                <a:ln>
                  <a:noFill/>
                </a:ln>
                <a:solidFill>
                  <a:schemeClr val="tx1"/>
                </a:solidFill>
                <a:effectLst/>
                <a:uLnTx/>
                <a:uFillTx/>
                <a:latin typeface="Times New Roman" pitchFamily="18" charset="0"/>
                <a:ea typeface="Calibri"/>
                <a:cs typeface="Times New Roman" pitchFamily="18" charset="0"/>
                <a:sym typeface="Calibri"/>
              </a:endParaRPr>
            </a:p>
          </p:txBody>
        </p:sp>
        <p:sp>
          <p:nvSpPr>
            <p:cNvPr id="20" name="TextBox 19">
              <a:extLst>
                <a:ext uri="{FF2B5EF4-FFF2-40B4-BE49-F238E27FC236}">
                  <a16:creationId xmlns:a16="http://schemas.microsoft.com/office/drawing/2014/main" id="{6D160BA9-A291-1BA5-C03E-7218C2169C28}"/>
                </a:ext>
              </a:extLst>
            </p:cNvPr>
            <p:cNvSpPr txBox="1"/>
            <p:nvPr/>
          </p:nvSpPr>
          <p:spPr>
            <a:xfrm>
              <a:off x="3139925" y="4332926"/>
              <a:ext cx="4529560" cy="937693"/>
            </a:xfrm>
            <a:prstGeom prst="rect">
              <a:avLst/>
            </a:prstGeom>
            <a:solidFill>
              <a:srgbClr val="09E5E5"/>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r>
                <a:rPr kumimoji="0" lang="en-US" sz="1800" b="1" i="0" u="none" strike="noStrike" kern="1200" cap="none" spc="0" normalizeH="0" baseline="0" noProof="0" dirty="0">
                  <a:ln>
                    <a:noFill/>
                  </a:ln>
                  <a:solidFill>
                    <a:schemeClr val="tx1"/>
                  </a:solidFill>
                  <a:effectLst/>
                  <a:uLnTx/>
                  <a:uFillTx/>
                  <a:latin typeface="Times New Roman" pitchFamily="18" charset="0"/>
                  <a:ea typeface="Calibri"/>
                  <a:cs typeface="Times New Roman" pitchFamily="18" charset="0"/>
                  <a:sym typeface="Calibri"/>
                </a:rPr>
                <a:t>Conclusion &amp; Future Work</a:t>
              </a:r>
            </a:p>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1800" b="1" i="0" u="none" strike="noStrike" kern="1200" cap="none" spc="0" normalizeH="0" baseline="0" noProof="0" dirty="0">
                <a:ln>
                  <a:noFill/>
                </a:ln>
                <a:solidFill>
                  <a:schemeClr val="tx1"/>
                </a:solidFill>
                <a:effectLst/>
                <a:uLnTx/>
                <a:uFillTx/>
                <a:latin typeface="Times New Roman" pitchFamily="18" charset="0"/>
                <a:ea typeface="Calibri"/>
                <a:cs typeface="Times New Roman" pitchFamily="18" charset="0"/>
                <a:sym typeface="Calibri"/>
              </a:endParaRPr>
            </a:p>
          </p:txBody>
        </p:sp>
        <p:sp>
          <p:nvSpPr>
            <p:cNvPr id="22" name="TextBox 21">
              <a:extLst>
                <a:ext uri="{FF2B5EF4-FFF2-40B4-BE49-F238E27FC236}">
                  <a16:creationId xmlns:a16="http://schemas.microsoft.com/office/drawing/2014/main" id="{6C792DA3-F484-948A-E346-F158FE24CE3F}"/>
                </a:ext>
              </a:extLst>
            </p:cNvPr>
            <p:cNvSpPr txBox="1"/>
            <p:nvPr/>
          </p:nvSpPr>
          <p:spPr>
            <a:xfrm>
              <a:off x="3426151" y="4880317"/>
              <a:ext cx="4774676" cy="919739"/>
            </a:xfrm>
            <a:prstGeom prst="rect">
              <a:avLst/>
            </a:prstGeom>
            <a:solidFill>
              <a:srgbClr val="09E5E5"/>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schemeClr val="tx1"/>
                  </a:solidFill>
                  <a:effectLst/>
                  <a:uLnTx/>
                  <a:uFillTx/>
                  <a:latin typeface="Times New Roman" pitchFamily="18" charset="0"/>
                  <a:ea typeface="Calibri"/>
                  <a:cs typeface="Times New Roman" pitchFamily="18" charset="0"/>
                  <a:sym typeface="Calibri"/>
                </a:rPr>
                <a:t>References</a:t>
              </a:r>
              <a:br>
                <a:rPr kumimoji="0" lang="en-US" sz="1800" b="1" i="0" u="none" strike="noStrike" kern="1200" cap="none" spc="0" normalizeH="0" baseline="0" noProof="0" dirty="0">
                  <a:ln>
                    <a:noFill/>
                  </a:ln>
                  <a:solidFill>
                    <a:schemeClr val="tx1"/>
                  </a:solidFill>
                  <a:effectLst/>
                  <a:uLnTx/>
                  <a:uFillTx/>
                  <a:latin typeface="Times New Roman" pitchFamily="18" charset="0"/>
                  <a:ea typeface="Calibri"/>
                  <a:cs typeface="Times New Roman" pitchFamily="18" charset="0"/>
                  <a:sym typeface="Calibri"/>
                </a:rPr>
              </a:br>
              <a:endParaRPr kumimoji="0" lang="en-US" sz="1800" b="1" i="0" u="none" strike="noStrike" kern="1200" cap="none" spc="0" normalizeH="0" baseline="0" noProof="0" dirty="0">
                <a:ln>
                  <a:noFill/>
                </a:ln>
                <a:solidFill>
                  <a:schemeClr val="tx1"/>
                </a:solidFill>
                <a:effectLst/>
                <a:uLnTx/>
                <a:uFillTx/>
                <a:latin typeface="Times New Roman" pitchFamily="18" charset="0"/>
                <a:ea typeface="Calibri"/>
                <a:cs typeface="Times New Roman" pitchFamily="18" charset="0"/>
                <a:sym typeface="Calibri"/>
              </a:endParaRPr>
            </a:p>
          </p:txBody>
        </p:sp>
        <p:sp>
          <p:nvSpPr>
            <p:cNvPr id="24" name="TextBox 23">
              <a:extLst>
                <a:ext uri="{FF2B5EF4-FFF2-40B4-BE49-F238E27FC236}">
                  <a16:creationId xmlns:a16="http://schemas.microsoft.com/office/drawing/2014/main" id="{957E2443-43F4-3FA3-6C83-796D6B456220}"/>
                </a:ext>
              </a:extLst>
            </p:cNvPr>
            <p:cNvSpPr txBox="1"/>
            <p:nvPr/>
          </p:nvSpPr>
          <p:spPr>
            <a:xfrm>
              <a:off x="3822549" y="5483028"/>
              <a:ext cx="4891526" cy="612604"/>
            </a:xfrm>
            <a:prstGeom prst="rect">
              <a:avLst/>
            </a:prstGeom>
            <a:solidFill>
              <a:srgbClr val="09E5E5"/>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r>
                <a:rPr kumimoji="0" lang="en-US" sz="1800" b="1" i="0" u="none" strike="noStrike" kern="1200" cap="none" spc="0" normalizeH="0" baseline="0" noProof="0" dirty="0">
                  <a:ln>
                    <a:noFill/>
                  </a:ln>
                  <a:solidFill>
                    <a:schemeClr val="tx1"/>
                  </a:solidFill>
                  <a:effectLst/>
                  <a:uLnTx/>
                  <a:uFillTx/>
                  <a:latin typeface="Times New Roman" pitchFamily="18" charset="0"/>
                  <a:ea typeface="Calibri"/>
                  <a:cs typeface="Times New Roman" pitchFamily="18" charset="0"/>
                  <a:sym typeface="Calibri"/>
                </a:rPr>
                <a:t>Publications Details</a:t>
              </a:r>
            </a:p>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100" b="1" i="0" u="none" strike="noStrike" kern="1200" cap="none" spc="0" normalizeH="0" baseline="0" noProof="0" dirty="0">
                <a:ln>
                  <a:noFill/>
                </a:ln>
                <a:solidFill>
                  <a:schemeClr val="tx1"/>
                </a:solidFill>
                <a:effectLst/>
                <a:uLnTx/>
                <a:uFillTx/>
                <a:latin typeface="Times New Roman" pitchFamily="18" charset="0"/>
                <a:ea typeface="Calibri"/>
                <a:cs typeface="Times New Roman" pitchFamily="18" charset="0"/>
                <a:sym typeface="Calibri"/>
              </a:endParaRPr>
            </a:p>
          </p:txBody>
        </p:sp>
        <p:pic>
          <p:nvPicPr>
            <p:cNvPr id="7" name="Graphic 6">
              <a:extLst>
                <a:ext uri="{FF2B5EF4-FFF2-40B4-BE49-F238E27FC236}">
                  <a16:creationId xmlns:a16="http://schemas.microsoft.com/office/drawing/2014/main" id="{FEE87FCF-6A51-9005-163C-5E3B5C1257B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8229530" y="5002476"/>
              <a:ext cx="455841" cy="536286"/>
            </a:xfrm>
            <a:prstGeom prst="rect">
              <a:avLst/>
            </a:prstGeom>
          </p:spPr>
        </p:pic>
        <p:sp>
          <p:nvSpPr>
            <p:cNvPr id="28" name="Content Placeholder 11">
              <a:extLst>
                <a:ext uri="{FF2B5EF4-FFF2-40B4-BE49-F238E27FC236}">
                  <a16:creationId xmlns:a16="http://schemas.microsoft.com/office/drawing/2014/main" id="{F1211E34-5F1E-9B5C-4C59-2549F412DCD1}"/>
                </a:ext>
              </a:extLst>
            </p:cNvPr>
            <p:cNvSpPr txBox="1">
              <a:spLocks/>
            </p:cNvSpPr>
            <p:nvPr/>
          </p:nvSpPr>
          <p:spPr>
            <a:xfrm>
              <a:off x="1929643" y="1656655"/>
              <a:ext cx="3548330" cy="748994"/>
            </a:xfrm>
            <a:prstGeom prst="rect">
              <a:avLst/>
            </a:prstGeom>
            <a:solidFill>
              <a:srgbClr val="09E5E5"/>
            </a:solidFill>
            <a:ln w="19050" cap="flat" cmpd="sng" algn="ctr">
              <a:solidFill>
                <a:schemeClr val="accent4"/>
              </a:solidFill>
              <a:prstDash val="solid"/>
              <a:miter lim="800000"/>
            </a:ln>
          </p:spPr>
          <p:style>
            <a:lnRef idx="1">
              <a:schemeClr val="accent2"/>
            </a:lnRef>
            <a:fillRef idx="2">
              <a:schemeClr val="accent2"/>
            </a:fillRef>
            <a:effectRef idx="1">
              <a:schemeClr val="accent2"/>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schemeClr val="tx1"/>
                  </a:solidFill>
                  <a:effectLst/>
                  <a:uLnTx/>
                  <a:uFillTx/>
                  <a:latin typeface="Times New Roman" pitchFamily="18" charset="0"/>
                  <a:ea typeface="Calibri"/>
                  <a:cs typeface="Times New Roman" pitchFamily="18" charset="0"/>
                  <a:sym typeface="Calibri"/>
                </a:rPr>
                <a:t>Focus</a:t>
              </a: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schemeClr val="tx1"/>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schemeClr val="tx1"/>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schemeClr val="tx1"/>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schemeClr val="tx1"/>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schemeClr val="tx1"/>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schemeClr val="tx1"/>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schemeClr val="tx1"/>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IN"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31" name="Content Placeholder 11">
              <a:extLst>
                <a:ext uri="{FF2B5EF4-FFF2-40B4-BE49-F238E27FC236}">
                  <a16:creationId xmlns:a16="http://schemas.microsoft.com/office/drawing/2014/main" id="{4D713724-2EA7-CA04-47B9-F63B3DAC496D}"/>
                </a:ext>
              </a:extLst>
            </p:cNvPr>
            <p:cNvSpPr txBox="1">
              <a:spLocks/>
            </p:cNvSpPr>
            <p:nvPr/>
          </p:nvSpPr>
          <p:spPr>
            <a:xfrm>
              <a:off x="2209801" y="2217836"/>
              <a:ext cx="3886200" cy="666229"/>
            </a:xfrm>
            <a:prstGeom prst="rect">
              <a:avLst/>
            </a:prstGeom>
            <a:solidFill>
              <a:srgbClr val="09E5E5"/>
            </a:solidFill>
            <a:ln w="19050" cap="flat" cmpd="sng" algn="ctr">
              <a:solidFill>
                <a:schemeClr val="accent4"/>
              </a:solidFill>
              <a:prstDash val="solid"/>
              <a:miter lim="800000"/>
            </a:ln>
          </p:spPr>
          <p:style>
            <a:lnRef idx="1">
              <a:schemeClr val="accent2"/>
            </a:lnRef>
            <a:fillRef idx="2">
              <a:schemeClr val="accent2"/>
            </a:fillRef>
            <a:effectRef idx="1">
              <a:schemeClr val="accent2"/>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schemeClr val="tx1"/>
                  </a:solidFill>
                  <a:effectLst/>
                  <a:uLnTx/>
                  <a:uFillTx/>
                  <a:latin typeface="Times New Roman" pitchFamily="18" charset="0"/>
                  <a:ea typeface="Calibri"/>
                  <a:cs typeface="Times New Roman" pitchFamily="18" charset="0"/>
                  <a:sym typeface="Calibri"/>
                </a:rPr>
                <a:t>Introduction</a:t>
              </a: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schemeClr val="tx1"/>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schemeClr val="tx1"/>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schemeClr val="tx1"/>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schemeClr val="tx1"/>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schemeClr val="tx1"/>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schemeClr val="tx1"/>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schemeClr val="tx1"/>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IN"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pic>
          <p:nvPicPr>
            <p:cNvPr id="36" name="Graphic 35">
              <a:extLst>
                <a:ext uri="{FF2B5EF4-FFF2-40B4-BE49-F238E27FC236}">
                  <a16:creationId xmlns:a16="http://schemas.microsoft.com/office/drawing/2014/main" id="{55B3B570-3194-94D5-869B-2F3E3E133BA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7683523" y="4358877"/>
              <a:ext cx="455841" cy="536286"/>
            </a:xfrm>
            <a:prstGeom prst="rect">
              <a:avLst/>
            </a:prstGeom>
          </p:spPr>
        </p:pic>
        <p:pic>
          <p:nvPicPr>
            <p:cNvPr id="37" name="Graphic 36">
              <a:extLst>
                <a:ext uri="{FF2B5EF4-FFF2-40B4-BE49-F238E27FC236}">
                  <a16:creationId xmlns:a16="http://schemas.microsoft.com/office/drawing/2014/main" id="{A01B3509-5090-7764-12FF-0CDB13E360A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7229942" y="3813495"/>
              <a:ext cx="455841" cy="536286"/>
            </a:xfrm>
            <a:prstGeom prst="rect">
              <a:avLst/>
            </a:prstGeom>
          </p:spPr>
        </p:pic>
        <p:pic>
          <p:nvPicPr>
            <p:cNvPr id="38" name="Graphic 37">
              <a:extLst>
                <a:ext uri="{FF2B5EF4-FFF2-40B4-BE49-F238E27FC236}">
                  <a16:creationId xmlns:a16="http://schemas.microsoft.com/office/drawing/2014/main" id="{4A5FDD7E-5A46-92A5-C963-19E091BBF72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6863353" y="3200501"/>
              <a:ext cx="455841" cy="536286"/>
            </a:xfrm>
            <a:prstGeom prst="rect">
              <a:avLst/>
            </a:prstGeom>
          </p:spPr>
        </p:pic>
        <p:pic>
          <p:nvPicPr>
            <p:cNvPr id="39" name="Graphic 38">
              <a:extLst>
                <a:ext uri="{FF2B5EF4-FFF2-40B4-BE49-F238E27FC236}">
                  <a16:creationId xmlns:a16="http://schemas.microsoft.com/office/drawing/2014/main" id="{C50C5009-E2F0-E358-4C45-CAEADDEC93B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6443196" y="2766955"/>
              <a:ext cx="455841" cy="536286"/>
            </a:xfrm>
            <a:prstGeom prst="rect">
              <a:avLst/>
            </a:prstGeom>
          </p:spPr>
        </p:pic>
        <p:pic>
          <p:nvPicPr>
            <p:cNvPr id="40" name="Graphic 39">
              <a:extLst>
                <a:ext uri="{FF2B5EF4-FFF2-40B4-BE49-F238E27FC236}">
                  <a16:creationId xmlns:a16="http://schemas.microsoft.com/office/drawing/2014/main" id="{F1D91F2F-C2FB-3146-467B-21A20C8410D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6040392" y="2252522"/>
              <a:ext cx="455841" cy="536286"/>
            </a:xfrm>
            <a:prstGeom prst="rect">
              <a:avLst/>
            </a:prstGeom>
          </p:spPr>
        </p:pic>
        <p:pic>
          <p:nvPicPr>
            <p:cNvPr id="41" name="Graphic 40">
              <a:extLst>
                <a:ext uri="{FF2B5EF4-FFF2-40B4-BE49-F238E27FC236}">
                  <a16:creationId xmlns:a16="http://schemas.microsoft.com/office/drawing/2014/main" id="{7B0FD951-BFA0-1228-E572-2BFE866AEE7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5626122" y="1721293"/>
              <a:ext cx="455841" cy="536286"/>
            </a:xfrm>
            <a:prstGeom prst="rect">
              <a:avLst/>
            </a:prstGeom>
          </p:spPr>
        </p:pic>
        <p:sp>
          <p:nvSpPr>
            <p:cNvPr id="14" name="TextBox 13">
              <a:extLst>
                <a:ext uri="{FF2B5EF4-FFF2-40B4-BE49-F238E27FC236}">
                  <a16:creationId xmlns:a16="http://schemas.microsoft.com/office/drawing/2014/main" id="{576F380C-3238-E430-3C22-3C23884CE532}"/>
                </a:ext>
              </a:extLst>
            </p:cNvPr>
            <p:cNvSpPr txBox="1"/>
            <p:nvPr/>
          </p:nvSpPr>
          <p:spPr>
            <a:xfrm>
              <a:off x="2490411" y="2773626"/>
              <a:ext cx="4004225" cy="506870"/>
            </a:xfrm>
            <a:prstGeom prst="rect">
              <a:avLst/>
            </a:prstGeom>
            <a:solidFill>
              <a:srgbClr val="09E5E5"/>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40" b="1" i="0" u="none" strike="noStrike" kern="1200" cap="none" spc="0" normalizeH="0" baseline="0" noProof="0" dirty="0">
                  <a:ln>
                    <a:noFill/>
                  </a:ln>
                  <a:solidFill>
                    <a:schemeClr val="tx1"/>
                  </a:solidFill>
                  <a:effectLst/>
                  <a:uLnTx/>
                  <a:uFillTx/>
                  <a:latin typeface="Times New Roman" pitchFamily="18" charset="0"/>
                  <a:ea typeface="Calibri"/>
                  <a:cs typeface="Times New Roman" pitchFamily="18" charset="0"/>
                  <a:sym typeface="Calibri"/>
                </a:rPr>
                <a:t>Literature Survey</a:t>
              </a:r>
            </a:p>
          </p:txBody>
        </p:sp>
      </p:grpSp>
      <p:graphicFrame>
        <p:nvGraphicFramePr>
          <p:cNvPr id="26" name="Diagram 25">
            <a:extLst>
              <a:ext uri="{FF2B5EF4-FFF2-40B4-BE49-F238E27FC236}">
                <a16:creationId xmlns:a16="http://schemas.microsoft.com/office/drawing/2014/main" id="{C044B753-17EC-8A45-927F-C44CC40ED5BA}"/>
              </a:ext>
            </a:extLst>
          </p:cNvPr>
          <p:cNvGraphicFramePr/>
          <p:nvPr/>
        </p:nvGraphicFramePr>
        <p:xfrm>
          <a:off x="41510" y="115414"/>
          <a:ext cx="1474694" cy="94234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10" name="Picture 9">
            <a:extLst>
              <a:ext uri="{FF2B5EF4-FFF2-40B4-BE49-F238E27FC236}">
                <a16:creationId xmlns:a16="http://schemas.microsoft.com/office/drawing/2014/main" id="{0B4D1914-919F-D842-1FC2-1BBFC0E95C24}"/>
              </a:ext>
            </a:extLst>
          </p:cNvPr>
          <p:cNvPicPr>
            <a:picLocks noChangeAspect="1"/>
          </p:cNvPicPr>
          <p:nvPr/>
        </p:nvPicPr>
        <p:blipFill>
          <a:blip r:embed="rId9"/>
          <a:stretch>
            <a:fillRect/>
          </a:stretch>
        </p:blipFill>
        <p:spPr>
          <a:xfrm>
            <a:off x="10249380" y="0"/>
            <a:ext cx="1901110" cy="622550"/>
          </a:xfrm>
          <a:prstGeom prst="rect">
            <a:avLst/>
          </a:prstGeom>
        </p:spPr>
      </p:pic>
      <p:sp>
        <p:nvSpPr>
          <p:cNvPr id="2" name="Slide Number Placeholder 1">
            <a:extLst>
              <a:ext uri="{FF2B5EF4-FFF2-40B4-BE49-F238E27FC236}">
                <a16:creationId xmlns:a16="http://schemas.microsoft.com/office/drawing/2014/main" id="{793E1BA3-88E7-0EA5-0336-FC195DA11A57}"/>
              </a:ext>
            </a:extLst>
          </p:cNvPr>
          <p:cNvSpPr>
            <a:spLocks noGrp="1"/>
          </p:cNvSpPr>
          <p:nvPr>
            <p:ph type="sldNum" sz="quarter" idx="12"/>
          </p:nvPr>
        </p:nvSpPr>
        <p:spPr/>
        <p:txBody>
          <a:bodyPr/>
          <a:lstStyle/>
          <a:p>
            <a:fld id="{01AD1135-6E10-4422-AC8B-257B84239C9C}" type="slidenum">
              <a:rPr lang="en-IN" smtClean="0"/>
              <a:t>2</a:t>
            </a:fld>
            <a:endParaRPr lang="en-IN"/>
          </a:p>
        </p:txBody>
      </p:sp>
      <p:sp>
        <p:nvSpPr>
          <p:cNvPr id="6" name="Footer Placeholder 5">
            <a:extLst>
              <a:ext uri="{FF2B5EF4-FFF2-40B4-BE49-F238E27FC236}">
                <a16:creationId xmlns:a16="http://schemas.microsoft.com/office/drawing/2014/main" id="{4341E7AA-66BA-F25A-8163-3D157D2A396C}"/>
              </a:ext>
            </a:extLst>
          </p:cNvPr>
          <p:cNvSpPr>
            <a:spLocks noGrp="1"/>
          </p:cNvSpPr>
          <p:nvPr>
            <p:ph type="ftr" sz="quarter" idx="11"/>
          </p:nvPr>
        </p:nvSpPr>
        <p:spPr/>
        <p:txBody>
          <a:bodyPr/>
          <a:lstStyle/>
          <a:p>
            <a:r>
              <a:rPr lang="en-IN"/>
              <a:t>RTOS REVIEW-1</a:t>
            </a:r>
          </a:p>
        </p:txBody>
      </p:sp>
    </p:spTree>
    <p:extLst>
      <p:ext uri="{BB962C8B-B14F-4D97-AF65-F5344CB8AC3E}">
        <p14:creationId xmlns:p14="http://schemas.microsoft.com/office/powerpoint/2010/main" val="27479694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8C8F81-5402-FBBE-D32A-834F3C60336F}"/>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DBD4C9C-9DEB-26F4-AA75-F51C06DD64DC}"/>
              </a:ext>
            </a:extLst>
          </p:cNvPr>
          <p:cNvSpPr txBox="1"/>
          <p:nvPr/>
        </p:nvSpPr>
        <p:spPr>
          <a:xfrm>
            <a:off x="3991897" y="482232"/>
            <a:ext cx="6096000" cy="646331"/>
          </a:xfrm>
          <a:prstGeom prst="rect">
            <a:avLst/>
          </a:prstGeom>
          <a:noFill/>
        </p:spPr>
        <p:txBody>
          <a:bodyPr wrap="square">
            <a:spAutoFit/>
          </a:bodyPr>
          <a:lstStyle/>
          <a:p>
            <a:r>
              <a:rPr lang="en-US" sz="3600" b="1" dirty="0">
                <a:solidFill>
                  <a:srgbClr val="FF0000"/>
                </a:solidFill>
              </a:rPr>
              <a:t>Problem Statement</a:t>
            </a:r>
          </a:p>
        </p:txBody>
      </p:sp>
      <p:pic>
        <p:nvPicPr>
          <p:cNvPr id="3" name="Picture 2">
            <a:extLst>
              <a:ext uri="{FF2B5EF4-FFF2-40B4-BE49-F238E27FC236}">
                <a16:creationId xmlns:a16="http://schemas.microsoft.com/office/drawing/2014/main" id="{17A614DC-364B-1BD9-B452-BC2E55FD9D04}"/>
              </a:ext>
            </a:extLst>
          </p:cNvPr>
          <p:cNvPicPr>
            <a:picLocks noChangeAspect="1"/>
          </p:cNvPicPr>
          <p:nvPr/>
        </p:nvPicPr>
        <p:blipFill>
          <a:blip r:embed="rId2"/>
          <a:stretch>
            <a:fillRect/>
          </a:stretch>
        </p:blipFill>
        <p:spPr>
          <a:xfrm>
            <a:off x="10249380" y="0"/>
            <a:ext cx="1942620" cy="622550"/>
          </a:xfrm>
          <a:prstGeom prst="rect">
            <a:avLst/>
          </a:prstGeom>
        </p:spPr>
      </p:pic>
      <p:sp>
        <p:nvSpPr>
          <p:cNvPr id="4" name="Content Placeholder 3">
            <a:extLst>
              <a:ext uri="{FF2B5EF4-FFF2-40B4-BE49-F238E27FC236}">
                <a16:creationId xmlns:a16="http://schemas.microsoft.com/office/drawing/2014/main" id="{42381AC7-B063-177D-2550-D12CEA5F0110}"/>
              </a:ext>
            </a:extLst>
          </p:cNvPr>
          <p:cNvSpPr>
            <a:spLocks noGrp="1"/>
          </p:cNvSpPr>
          <p:nvPr>
            <p:ph idx="1"/>
          </p:nvPr>
        </p:nvSpPr>
        <p:spPr>
          <a:xfrm>
            <a:off x="1279422" y="1390983"/>
            <a:ext cx="9633155" cy="4351338"/>
          </a:xfrm>
        </p:spPr>
        <p:txBody>
          <a:bodyPr>
            <a:normAutofit fontScale="92500" lnSpcReduction="10000"/>
          </a:bodyPr>
          <a:lstStyle/>
          <a:p>
            <a:pPr marL="0" indent="0" algn="just">
              <a:lnSpc>
                <a:spcPct val="150000"/>
              </a:lnSpc>
              <a:buNone/>
            </a:pPr>
            <a:r>
              <a:rPr lang="en-IN" sz="1600" dirty="0">
                <a:latin typeface="Times New Roman" panose="02020603050405020304" pitchFamily="18" charset="0"/>
                <a:cs typeface="Times New Roman" panose="02020603050405020304" pitchFamily="18" charset="0"/>
              </a:rPr>
              <a:t>EV battery packs require continuous monitoring of voltage, current, temperature, SOC, and SOH for safe operation. Conventional BMS based on fixed rules may miss early abnormalities, while continuous AI inference adds computational and power overhead. Hence, this project proposes an </a:t>
            </a:r>
            <a:r>
              <a:rPr lang="en-IN" sz="1600" b="1" dirty="0">
                <a:latin typeface="Times New Roman" panose="02020603050405020304" pitchFamily="18" charset="0"/>
                <a:cs typeface="Times New Roman" panose="02020603050405020304" pitchFamily="18" charset="0"/>
              </a:rPr>
              <a:t>Intelligent Event-Triggered AI-Based BMS</a:t>
            </a:r>
            <a:r>
              <a:rPr lang="en-IN" sz="1600" dirty="0">
                <a:latin typeface="Times New Roman" panose="02020603050405020304" pitchFamily="18" charset="0"/>
                <a:cs typeface="Times New Roman" panose="02020603050405020304" pitchFamily="18" charset="0"/>
              </a:rPr>
              <a:t> that activates AI only when needed, evaluates battery risks, and enables configurable actions using </a:t>
            </a:r>
            <a:r>
              <a:rPr lang="en-IN" sz="1600" b="1" dirty="0" err="1">
                <a:latin typeface="Times New Roman" panose="02020603050405020304" pitchFamily="18" charset="0"/>
                <a:cs typeface="Times New Roman" panose="02020603050405020304" pitchFamily="18" charset="0"/>
              </a:rPr>
              <a:t>FreeRTOS</a:t>
            </a:r>
            <a:r>
              <a:rPr lang="en-IN" sz="1600" b="1" dirty="0">
                <a:latin typeface="Times New Roman" panose="02020603050405020304" pitchFamily="18" charset="0"/>
                <a:cs typeface="Times New Roman" panose="02020603050405020304" pitchFamily="18" charset="0"/>
              </a:rPr>
              <a:t>, Embedded C, CAN Bus, and TensorFlow Lite</a:t>
            </a:r>
            <a:r>
              <a:rPr lang="en-IN" sz="1600" dirty="0">
                <a:latin typeface="Times New Roman" panose="02020603050405020304" pitchFamily="18" charset="0"/>
                <a:cs typeface="Times New Roman" panose="02020603050405020304" pitchFamily="18" charset="0"/>
              </a:rPr>
              <a:t>.</a:t>
            </a:r>
          </a:p>
          <a:p>
            <a:pPr marL="0" indent="0" algn="just">
              <a:lnSpc>
                <a:spcPct val="150000"/>
              </a:lnSpc>
              <a:buNone/>
            </a:pPr>
            <a:endParaRPr lang="en-IN" sz="1600" dirty="0">
              <a:latin typeface="Times New Roman" panose="02020603050405020304" pitchFamily="18" charset="0"/>
              <a:cs typeface="Times New Roman" panose="02020603050405020304" pitchFamily="18" charset="0"/>
            </a:endParaRPr>
          </a:p>
          <a:p>
            <a:pPr marL="0" indent="0">
              <a:buNone/>
            </a:pPr>
            <a:r>
              <a:rPr lang="en-IN" sz="1600" b="1" dirty="0">
                <a:latin typeface="Times New Roman" panose="02020603050405020304" pitchFamily="18" charset="0"/>
                <a:cs typeface="Times New Roman" panose="02020603050405020304" pitchFamily="18" charset="0"/>
              </a:rPr>
              <a:t>Motivation :</a:t>
            </a:r>
          </a:p>
          <a:p>
            <a:pPr lvl="0">
              <a:lnSpc>
                <a:spcPct val="110000"/>
              </a:lnSpc>
            </a:pPr>
            <a:r>
              <a:rPr lang="en-IN" sz="1600" dirty="0">
                <a:latin typeface="Times New Roman" panose="02020603050405020304" pitchFamily="18" charset="0"/>
                <a:cs typeface="Times New Roman" panose="02020603050405020304" pitchFamily="18" charset="0"/>
              </a:rPr>
              <a:t>Improve </a:t>
            </a:r>
            <a:r>
              <a:rPr lang="en-IN" sz="1600" b="1" dirty="0">
                <a:latin typeface="Times New Roman" panose="02020603050405020304" pitchFamily="18" charset="0"/>
                <a:cs typeface="Times New Roman" panose="02020603050405020304" pitchFamily="18" charset="0"/>
              </a:rPr>
              <a:t>EV battery safety</a:t>
            </a:r>
            <a:r>
              <a:rPr lang="en-IN" sz="1600" dirty="0">
                <a:latin typeface="Times New Roman" panose="02020603050405020304" pitchFamily="18" charset="0"/>
                <a:cs typeface="Times New Roman" panose="02020603050405020304" pitchFamily="18" charset="0"/>
              </a:rPr>
              <a:t> through early fault detection. </a:t>
            </a:r>
          </a:p>
          <a:p>
            <a:pPr lvl="0">
              <a:lnSpc>
                <a:spcPct val="110000"/>
              </a:lnSpc>
            </a:pPr>
            <a:r>
              <a:rPr lang="en-IN" sz="1600" dirty="0">
                <a:latin typeface="Times New Roman" panose="02020603050405020304" pitchFamily="18" charset="0"/>
                <a:cs typeface="Times New Roman" panose="02020603050405020304" pitchFamily="18" charset="0"/>
              </a:rPr>
              <a:t>Reduce </a:t>
            </a:r>
            <a:r>
              <a:rPr lang="en-IN" sz="1600" b="1" dirty="0">
                <a:latin typeface="Times New Roman" panose="02020603050405020304" pitchFamily="18" charset="0"/>
                <a:cs typeface="Times New Roman" panose="02020603050405020304" pitchFamily="18" charset="0"/>
              </a:rPr>
              <a:t>computational and power overhead</a:t>
            </a:r>
            <a:r>
              <a:rPr lang="en-IN" sz="1600" dirty="0">
                <a:latin typeface="Times New Roman" panose="02020603050405020304" pitchFamily="18" charset="0"/>
                <a:cs typeface="Times New Roman" panose="02020603050405020304" pitchFamily="18" charset="0"/>
              </a:rPr>
              <a:t> by triggering AI only when needed. </a:t>
            </a:r>
          </a:p>
          <a:p>
            <a:pPr lvl="0">
              <a:lnSpc>
                <a:spcPct val="110000"/>
              </a:lnSpc>
            </a:pPr>
            <a:r>
              <a:rPr lang="en-IN" sz="1600" dirty="0">
                <a:latin typeface="Times New Roman" panose="02020603050405020304" pitchFamily="18" charset="0"/>
                <a:cs typeface="Times New Roman" panose="02020603050405020304" pitchFamily="18" charset="0"/>
              </a:rPr>
              <a:t>Enable </a:t>
            </a:r>
            <a:r>
              <a:rPr lang="en-IN" sz="1600" b="1" dirty="0">
                <a:latin typeface="Times New Roman" panose="02020603050405020304" pitchFamily="18" charset="0"/>
                <a:cs typeface="Times New Roman" panose="02020603050405020304" pitchFamily="18" charset="0"/>
              </a:rPr>
              <a:t>adaptive battery monitoring</a:t>
            </a:r>
            <a:r>
              <a:rPr lang="en-IN" sz="1600" dirty="0">
                <a:latin typeface="Times New Roman" panose="02020603050405020304" pitchFamily="18" charset="0"/>
                <a:cs typeface="Times New Roman" panose="02020603050405020304" pitchFamily="18" charset="0"/>
              </a:rPr>
              <a:t> under changing operating conditions. </a:t>
            </a:r>
          </a:p>
          <a:p>
            <a:pPr lvl="0">
              <a:lnSpc>
                <a:spcPct val="110000"/>
              </a:lnSpc>
            </a:pPr>
            <a:r>
              <a:rPr lang="en-IN" sz="1600" dirty="0">
                <a:latin typeface="Times New Roman" panose="02020603050405020304" pitchFamily="18" charset="0"/>
                <a:cs typeface="Times New Roman" panose="02020603050405020304" pitchFamily="18" charset="0"/>
              </a:rPr>
              <a:t>Convert battery risks into </a:t>
            </a:r>
            <a:r>
              <a:rPr lang="en-IN" sz="1600" b="1" dirty="0">
                <a:latin typeface="Times New Roman" panose="02020603050405020304" pitchFamily="18" charset="0"/>
                <a:cs typeface="Times New Roman" panose="02020603050405020304" pitchFamily="18" charset="0"/>
              </a:rPr>
              <a:t>configurable and intelligent vehicle actions</a:t>
            </a:r>
            <a:r>
              <a:rPr lang="en-IN" sz="1600" dirty="0">
                <a:latin typeface="Times New Roman" panose="02020603050405020304" pitchFamily="18" charset="0"/>
                <a:cs typeface="Times New Roman" panose="02020603050405020304" pitchFamily="18" charset="0"/>
              </a:rPr>
              <a:t>. </a:t>
            </a:r>
          </a:p>
          <a:p>
            <a:pPr lvl="0">
              <a:lnSpc>
                <a:spcPct val="110000"/>
              </a:lnSpc>
            </a:pPr>
            <a:r>
              <a:rPr lang="en-IN" sz="1600" dirty="0">
                <a:latin typeface="Times New Roman" panose="02020603050405020304" pitchFamily="18" charset="0"/>
                <a:cs typeface="Times New Roman" panose="02020603050405020304" pitchFamily="18" charset="0"/>
              </a:rPr>
              <a:t>Support </a:t>
            </a:r>
            <a:r>
              <a:rPr lang="en-IN" sz="1600" b="1" dirty="0">
                <a:latin typeface="Times New Roman" panose="02020603050405020304" pitchFamily="18" charset="0"/>
                <a:cs typeface="Times New Roman" panose="02020603050405020304" pitchFamily="18" charset="0"/>
              </a:rPr>
              <a:t>SDV-ready BMS</a:t>
            </a:r>
            <a:r>
              <a:rPr lang="en-IN" sz="1600" dirty="0">
                <a:latin typeface="Times New Roman" panose="02020603050405020304" pitchFamily="18" charset="0"/>
                <a:cs typeface="Times New Roman" panose="02020603050405020304" pitchFamily="18" charset="0"/>
              </a:rPr>
              <a:t> using embedded AI and software-defined control.</a:t>
            </a:r>
          </a:p>
          <a:p>
            <a:pPr marL="0" indent="0" algn="just">
              <a:lnSpc>
                <a:spcPct val="150000"/>
              </a:lnSpc>
              <a:buNone/>
            </a:pPr>
            <a:endParaRPr lang="en-IN" sz="1600" dirty="0"/>
          </a:p>
        </p:txBody>
      </p:sp>
      <p:sp>
        <p:nvSpPr>
          <p:cNvPr id="6" name="Slide Number Placeholder 5">
            <a:extLst>
              <a:ext uri="{FF2B5EF4-FFF2-40B4-BE49-F238E27FC236}">
                <a16:creationId xmlns:a16="http://schemas.microsoft.com/office/drawing/2014/main" id="{D3951932-FE86-D512-0AC0-429CF1FC17B3}"/>
              </a:ext>
            </a:extLst>
          </p:cNvPr>
          <p:cNvSpPr>
            <a:spLocks noGrp="1"/>
          </p:cNvSpPr>
          <p:nvPr>
            <p:ph type="sldNum" sz="quarter" idx="12"/>
          </p:nvPr>
        </p:nvSpPr>
        <p:spPr/>
        <p:txBody>
          <a:bodyPr/>
          <a:lstStyle/>
          <a:p>
            <a:fld id="{E639234F-78F1-4984-9C4D-D4C7AB587871}" type="slidenum">
              <a:rPr lang="en-US" smtClean="0"/>
              <a:t>3</a:t>
            </a:fld>
            <a:endParaRPr lang="en-US"/>
          </a:p>
        </p:txBody>
      </p:sp>
      <p:sp>
        <p:nvSpPr>
          <p:cNvPr id="7" name="Footer Placeholder 6">
            <a:extLst>
              <a:ext uri="{FF2B5EF4-FFF2-40B4-BE49-F238E27FC236}">
                <a16:creationId xmlns:a16="http://schemas.microsoft.com/office/drawing/2014/main" id="{9F59B4D1-D1C0-6190-3D2C-EF44F5443F26}"/>
              </a:ext>
            </a:extLst>
          </p:cNvPr>
          <p:cNvSpPr>
            <a:spLocks noGrp="1"/>
          </p:cNvSpPr>
          <p:nvPr>
            <p:ph type="ftr" sz="quarter" idx="11"/>
          </p:nvPr>
        </p:nvSpPr>
        <p:spPr/>
        <p:txBody>
          <a:bodyPr/>
          <a:lstStyle/>
          <a:p>
            <a:r>
              <a:rPr lang="en-US"/>
              <a:t>RTOS REVIEW-1</a:t>
            </a:r>
          </a:p>
        </p:txBody>
      </p:sp>
    </p:spTree>
    <p:extLst>
      <p:ext uri="{BB962C8B-B14F-4D97-AF65-F5344CB8AC3E}">
        <p14:creationId xmlns:p14="http://schemas.microsoft.com/office/powerpoint/2010/main" val="18439377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D4AF34-8CFC-8161-A3CD-DED259C92A6A}"/>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7F508849-A0DD-12D4-FD0D-5322CA138B2F}"/>
              </a:ext>
            </a:extLst>
          </p:cNvPr>
          <p:cNvSpPr txBox="1"/>
          <p:nvPr/>
        </p:nvSpPr>
        <p:spPr>
          <a:xfrm>
            <a:off x="2909104" y="196928"/>
            <a:ext cx="6096000" cy="646331"/>
          </a:xfrm>
          <a:prstGeom prst="rect">
            <a:avLst/>
          </a:prstGeom>
          <a:noFill/>
        </p:spPr>
        <p:txBody>
          <a:bodyPr wrap="square">
            <a:spAutoFit/>
          </a:bodyPr>
          <a:lstStyle/>
          <a:p>
            <a:pPr algn="ctr"/>
            <a:r>
              <a:rPr lang="en-US" sz="3600" b="1" dirty="0">
                <a:solidFill>
                  <a:srgbClr val="FF0000"/>
                </a:solidFill>
              </a:rPr>
              <a:t>Objectives</a:t>
            </a:r>
          </a:p>
        </p:txBody>
      </p:sp>
      <p:pic>
        <p:nvPicPr>
          <p:cNvPr id="3" name="Picture 2">
            <a:extLst>
              <a:ext uri="{FF2B5EF4-FFF2-40B4-BE49-F238E27FC236}">
                <a16:creationId xmlns:a16="http://schemas.microsoft.com/office/drawing/2014/main" id="{5B2C6E66-DFCA-CBBA-3972-F62C5800AE03}"/>
              </a:ext>
            </a:extLst>
          </p:cNvPr>
          <p:cNvPicPr>
            <a:picLocks noChangeAspect="1"/>
          </p:cNvPicPr>
          <p:nvPr/>
        </p:nvPicPr>
        <p:blipFill>
          <a:blip r:embed="rId2"/>
          <a:stretch>
            <a:fillRect/>
          </a:stretch>
        </p:blipFill>
        <p:spPr>
          <a:xfrm>
            <a:off x="10249380" y="0"/>
            <a:ext cx="1942620" cy="622550"/>
          </a:xfrm>
          <a:prstGeom prst="rect">
            <a:avLst/>
          </a:prstGeom>
        </p:spPr>
      </p:pic>
      <p:sp>
        <p:nvSpPr>
          <p:cNvPr id="4" name="Content Placeholder 3">
            <a:extLst>
              <a:ext uri="{FF2B5EF4-FFF2-40B4-BE49-F238E27FC236}">
                <a16:creationId xmlns:a16="http://schemas.microsoft.com/office/drawing/2014/main" id="{2C86F7E9-85D0-E00F-8B5D-27CF0DC34904}"/>
              </a:ext>
            </a:extLst>
          </p:cNvPr>
          <p:cNvSpPr>
            <a:spLocks noGrp="1"/>
          </p:cNvSpPr>
          <p:nvPr>
            <p:ph idx="1"/>
          </p:nvPr>
        </p:nvSpPr>
        <p:spPr>
          <a:xfrm>
            <a:off x="1333720" y="1184827"/>
            <a:ext cx="9246768" cy="4609246"/>
          </a:xfrm>
        </p:spPr>
        <p:txBody>
          <a:bodyPr>
            <a:noAutofit/>
          </a:bodyPr>
          <a:lstStyle/>
          <a:p>
            <a:pPr marL="342900" lvl="0" indent="-342900">
              <a:lnSpc>
                <a:spcPct val="100000"/>
              </a:lnSpc>
              <a:buFont typeface="+mj-lt"/>
              <a:buAutoNum type="arabicPeriod"/>
            </a:pPr>
            <a:r>
              <a:rPr lang="en-IN" sz="1400" b="1" dirty="0">
                <a:latin typeface="Times New Roman" panose="02020603050405020304" pitchFamily="18" charset="0"/>
                <a:cs typeface="Times New Roman" panose="02020603050405020304" pitchFamily="18" charset="0"/>
              </a:rPr>
              <a:t>To develop a real-time Intelligent BMS</a:t>
            </a:r>
            <a:r>
              <a:rPr lang="en-IN" sz="1400" dirty="0">
                <a:latin typeface="Times New Roman" panose="02020603050405020304" pitchFamily="18" charset="0"/>
                <a:cs typeface="Times New Roman" panose="02020603050405020304" pitchFamily="18" charset="0"/>
              </a:rPr>
              <a:t> for monitoring battery parameters such as voltage, current, temperature, SOC, and SOH using Embedded C and </a:t>
            </a:r>
            <a:r>
              <a:rPr lang="en-IN" sz="1400" dirty="0" err="1">
                <a:latin typeface="Times New Roman" panose="02020603050405020304" pitchFamily="18" charset="0"/>
                <a:cs typeface="Times New Roman" panose="02020603050405020304" pitchFamily="18" charset="0"/>
              </a:rPr>
              <a:t>FreeRTOS</a:t>
            </a:r>
            <a:r>
              <a:rPr lang="en-IN" sz="1400" dirty="0">
                <a:latin typeface="Times New Roman" panose="02020603050405020304" pitchFamily="18" charset="0"/>
                <a:cs typeface="Times New Roman" panose="02020603050405020304" pitchFamily="18" charset="0"/>
              </a:rPr>
              <a:t>. </a:t>
            </a:r>
          </a:p>
          <a:p>
            <a:pPr marL="342900" lvl="0" indent="-342900">
              <a:lnSpc>
                <a:spcPct val="100000"/>
              </a:lnSpc>
              <a:buFont typeface="+mj-lt"/>
              <a:buAutoNum type="arabicPeriod"/>
            </a:pPr>
            <a:r>
              <a:rPr lang="en-IN" sz="1400" b="1" dirty="0">
                <a:latin typeface="Times New Roman" panose="02020603050405020304" pitchFamily="18" charset="0"/>
                <a:cs typeface="Times New Roman" panose="02020603050405020304" pitchFamily="18" charset="0"/>
              </a:rPr>
              <a:t>To implement Event-Triggered AI Inference</a:t>
            </a:r>
            <a:r>
              <a:rPr lang="en-IN" sz="1400" dirty="0">
                <a:latin typeface="Times New Roman" panose="02020603050405020304" pitchFamily="18" charset="0"/>
                <a:cs typeface="Times New Roman" panose="02020603050405020304" pitchFamily="18" charset="0"/>
              </a:rPr>
              <a:t>, where the Edge-AI model is activated only when the initial screening layer detects suspicious battery </a:t>
            </a:r>
            <a:r>
              <a:rPr lang="en-IN" sz="1400" dirty="0" err="1">
                <a:latin typeface="Times New Roman" panose="02020603050405020304" pitchFamily="18" charset="0"/>
                <a:cs typeface="Times New Roman" panose="02020603050405020304" pitchFamily="18" charset="0"/>
              </a:rPr>
              <a:t>behavior</a:t>
            </a:r>
            <a:r>
              <a:rPr lang="en-IN" sz="1400" dirty="0">
                <a:latin typeface="Times New Roman" panose="02020603050405020304" pitchFamily="18" charset="0"/>
                <a:cs typeface="Times New Roman" panose="02020603050405020304" pitchFamily="18" charset="0"/>
              </a:rPr>
              <a:t>. </a:t>
            </a:r>
          </a:p>
          <a:p>
            <a:pPr marL="342900" lvl="0" indent="-342900">
              <a:lnSpc>
                <a:spcPct val="100000"/>
              </a:lnSpc>
              <a:buFont typeface="+mj-lt"/>
              <a:buAutoNum type="arabicPeriod"/>
            </a:pPr>
            <a:r>
              <a:rPr lang="en-IN" sz="1400" b="1" dirty="0">
                <a:latin typeface="Times New Roman" panose="02020603050405020304" pitchFamily="18" charset="0"/>
                <a:cs typeface="Times New Roman" panose="02020603050405020304" pitchFamily="18" charset="0"/>
              </a:rPr>
              <a:t>To design a Two-Level Battery Decision System</a:t>
            </a:r>
            <a:r>
              <a:rPr lang="en-IN" sz="1400" dirty="0">
                <a:latin typeface="Times New Roman" panose="02020603050405020304" pitchFamily="18" charset="0"/>
                <a:cs typeface="Times New Roman" panose="02020603050405020304" pitchFamily="18" charset="0"/>
              </a:rPr>
              <a:t> that combines lightweight real-time screening with AI-based verification for reliable battery-condition assessment. </a:t>
            </a:r>
          </a:p>
          <a:p>
            <a:pPr marL="342900" lvl="0" indent="-342900">
              <a:lnSpc>
                <a:spcPct val="100000"/>
              </a:lnSpc>
              <a:buFont typeface="+mj-lt"/>
              <a:buAutoNum type="arabicPeriod"/>
            </a:pPr>
            <a:r>
              <a:rPr lang="en-IN" sz="1400" b="1" dirty="0">
                <a:latin typeface="Times New Roman" panose="02020603050405020304" pitchFamily="18" charset="0"/>
                <a:cs typeface="Times New Roman" panose="02020603050405020304" pitchFamily="18" charset="0"/>
              </a:rPr>
              <a:t>To develop a Software-Defined Risk Policy</a:t>
            </a:r>
            <a:r>
              <a:rPr lang="en-IN" sz="1400" dirty="0">
                <a:latin typeface="Times New Roman" panose="02020603050405020304" pitchFamily="18" charset="0"/>
                <a:cs typeface="Times New Roman" panose="02020603050405020304" pitchFamily="18" charset="0"/>
              </a:rPr>
              <a:t> that converts the detected battery-risk level into configurable actions such as normal operation, warning, charging restriction, or protection. </a:t>
            </a:r>
          </a:p>
          <a:p>
            <a:pPr marL="342900" lvl="0" indent="-342900">
              <a:lnSpc>
                <a:spcPct val="100000"/>
              </a:lnSpc>
              <a:buFont typeface="+mj-lt"/>
              <a:buAutoNum type="arabicPeriod"/>
            </a:pPr>
            <a:r>
              <a:rPr lang="en-IN" sz="1400" b="1" dirty="0">
                <a:latin typeface="Times New Roman" panose="02020603050405020304" pitchFamily="18" charset="0"/>
                <a:cs typeface="Times New Roman" panose="02020603050405020304" pitchFamily="18" charset="0"/>
              </a:rPr>
              <a:t>To integrate CAN Bus communication</a:t>
            </a:r>
            <a:r>
              <a:rPr lang="en-IN" sz="1400" dirty="0">
                <a:latin typeface="Times New Roman" panose="02020603050405020304" pitchFamily="18" charset="0"/>
                <a:cs typeface="Times New Roman" panose="02020603050405020304" pitchFamily="18" charset="0"/>
              </a:rPr>
              <a:t> for exchanging battery status, alerts, risk information, and control decisions with the vehicle-side controller. </a:t>
            </a:r>
          </a:p>
          <a:p>
            <a:pPr marL="342900" lvl="0" indent="-342900">
              <a:lnSpc>
                <a:spcPct val="100000"/>
              </a:lnSpc>
              <a:buFont typeface="+mj-lt"/>
              <a:buAutoNum type="arabicPeriod"/>
            </a:pPr>
            <a:r>
              <a:rPr lang="en-IN" sz="1400" b="1" dirty="0">
                <a:latin typeface="Times New Roman" panose="02020603050405020304" pitchFamily="18" charset="0"/>
                <a:cs typeface="Times New Roman" panose="02020603050405020304" pitchFamily="18" charset="0"/>
              </a:rPr>
              <a:t>To deploy a lightweight AI model using TensorFlow Lite</a:t>
            </a:r>
            <a:r>
              <a:rPr lang="en-IN" sz="1400" dirty="0">
                <a:latin typeface="Times New Roman" panose="02020603050405020304" pitchFamily="18" charset="0"/>
                <a:cs typeface="Times New Roman" panose="02020603050405020304" pitchFamily="18" charset="0"/>
              </a:rPr>
              <a:t> for Edge-AI-based battery anomaly detection on an embedded platform. </a:t>
            </a:r>
          </a:p>
          <a:p>
            <a:pPr marL="342900" lvl="0" indent="-342900">
              <a:lnSpc>
                <a:spcPct val="100000"/>
              </a:lnSpc>
              <a:buFont typeface="+mj-lt"/>
              <a:buAutoNum type="arabicPeriod"/>
            </a:pPr>
            <a:r>
              <a:rPr lang="en-IN" sz="1400" b="1" dirty="0">
                <a:latin typeface="Times New Roman" panose="02020603050405020304" pitchFamily="18" charset="0"/>
                <a:cs typeface="Times New Roman" panose="02020603050405020304" pitchFamily="18" charset="0"/>
              </a:rPr>
              <a:t>To evaluate the proposed system</a:t>
            </a:r>
            <a:r>
              <a:rPr lang="en-IN" sz="1400" dirty="0">
                <a:latin typeface="Times New Roman" panose="02020603050405020304" pitchFamily="18" charset="0"/>
                <a:cs typeface="Times New Roman" panose="02020603050405020304" pitchFamily="18" charset="0"/>
              </a:rPr>
              <a:t> based on detection accuracy, false alarms, AI inference frequency, response time, and computational/resource overhead.</a:t>
            </a:r>
          </a:p>
          <a:p>
            <a:pPr marL="342900" indent="-342900">
              <a:lnSpc>
                <a:spcPct val="100000"/>
              </a:lnSpc>
              <a:buFont typeface="+mj-lt"/>
              <a:buAutoNum type="arabicPeriod"/>
            </a:pPr>
            <a:endParaRPr lang="en-IN" sz="1400" dirty="0"/>
          </a:p>
        </p:txBody>
      </p:sp>
      <p:sp>
        <p:nvSpPr>
          <p:cNvPr id="10" name="Slide Number Placeholder 9">
            <a:extLst>
              <a:ext uri="{FF2B5EF4-FFF2-40B4-BE49-F238E27FC236}">
                <a16:creationId xmlns:a16="http://schemas.microsoft.com/office/drawing/2014/main" id="{D15C84BD-D8AD-E2F4-E86D-F191F099B0CE}"/>
              </a:ext>
            </a:extLst>
          </p:cNvPr>
          <p:cNvSpPr>
            <a:spLocks noGrp="1"/>
          </p:cNvSpPr>
          <p:nvPr>
            <p:ph type="sldNum" sz="quarter" idx="12"/>
          </p:nvPr>
        </p:nvSpPr>
        <p:spPr/>
        <p:txBody>
          <a:bodyPr/>
          <a:lstStyle/>
          <a:p>
            <a:fld id="{E639234F-78F1-4984-9C4D-D4C7AB587871}" type="slidenum">
              <a:rPr lang="en-US" smtClean="0"/>
              <a:t>4</a:t>
            </a:fld>
            <a:endParaRPr lang="en-US"/>
          </a:p>
        </p:txBody>
      </p:sp>
      <p:sp>
        <p:nvSpPr>
          <p:cNvPr id="11" name="Footer Placeholder 10">
            <a:extLst>
              <a:ext uri="{FF2B5EF4-FFF2-40B4-BE49-F238E27FC236}">
                <a16:creationId xmlns:a16="http://schemas.microsoft.com/office/drawing/2014/main" id="{69987945-61FB-C95C-B8E9-B5D5175DC755}"/>
              </a:ext>
            </a:extLst>
          </p:cNvPr>
          <p:cNvSpPr>
            <a:spLocks noGrp="1"/>
          </p:cNvSpPr>
          <p:nvPr>
            <p:ph type="ftr" sz="quarter" idx="11"/>
          </p:nvPr>
        </p:nvSpPr>
        <p:spPr/>
        <p:txBody>
          <a:bodyPr/>
          <a:lstStyle/>
          <a:p>
            <a:r>
              <a:rPr lang="en-US"/>
              <a:t>RTOS REVIEW-1</a:t>
            </a:r>
          </a:p>
        </p:txBody>
      </p:sp>
    </p:spTree>
    <p:extLst>
      <p:ext uri="{BB962C8B-B14F-4D97-AF65-F5344CB8AC3E}">
        <p14:creationId xmlns:p14="http://schemas.microsoft.com/office/powerpoint/2010/main" val="39177829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AACD11AD-3AF5-B626-2B60-0567E4585BB7}"/>
              </a:ext>
            </a:extLst>
          </p:cNvPr>
          <p:cNvGraphicFramePr>
            <a:graphicFrameLocks/>
          </p:cNvGraphicFramePr>
          <p:nvPr>
            <p:extLst>
              <p:ext uri="{D42A27DB-BD31-4B8C-83A1-F6EECF244321}">
                <p14:modId xmlns:p14="http://schemas.microsoft.com/office/powerpoint/2010/main" val="3651780031"/>
              </p:ext>
            </p:extLst>
          </p:nvPr>
        </p:nvGraphicFramePr>
        <p:xfrm>
          <a:off x="428263" y="689467"/>
          <a:ext cx="11424213" cy="5926223"/>
        </p:xfrm>
        <a:graphic>
          <a:graphicData uri="http://schemas.openxmlformats.org/drawingml/2006/table">
            <a:tbl>
              <a:tblPr firstRow="1" bandRow="1">
                <a:tableStyleId>{BC89EF96-8CEA-46FF-86C4-4CE0E7609802}</a:tableStyleId>
              </a:tblPr>
              <a:tblGrid>
                <a:gridCol w="1068569">
                  <a:extLst>
                    <a:ext uri="{9D8B030D-6E8A-4147-A177-3AD203B41FA5}">
                      <a16:colId xmlns:a16="http://schemas.microsoft.com/office/drawing/2014/main" val="20001"/>
                    </a:ext>
                  </a:extLst>
                </a:gridCol>
                <a:gridCol w="2232589">
                  <a:extLst>
                    <a:ext uri="{9D8B030D-6E8A-4147-A177-3AD203B41FA5}">
                      <a16:colId xmlns:a16="http://schemas.microsoft.com/office/drawing/2014/main" val="20002"/>
                    </a:ext>
                  </a:extLst>
                </a:gridCol>
                <a:gridCol w="2429641">
                  <a:extLst>
                    <a:ext uri="{9D8B030D-6E8A-4147-A177-3AD203B41FA5}">
                      <a16:colId xmlns:a16="http://schemas.microsoft.com/office/drawing/2014/main" val="20003"/>
                    </a:ext>
                  </a:extLst>
                </a:gridCol>
                <a:gridCol w="2881479">
                  <a:extLst>
                    <a:ext uri="{9D8B030D-6E8A-4147-A177-3AD203B41FA5}">
                      <a16:colId xmlns:a16="http://schemas.microsoft.com/office/drawing/2014/main" val="20004"/>
                    </a:ext>
                  </a:extLst>
                </a:gridCol>
                <a:gridCol w="2811935">
                  <a:extLst>
                    <a:ext uri="{9D8B030D-6E8A-4147-A177-3AD203B41FA5}">
                      <a16:colId xmlns:a16="http://schemas.microsoft.com/office/drawing/2014/main" val="1396003017"/>
                    </a:ext>
                  </a:extLst>
                </a:gridCol>
              </a:tblGrid>
              <a:tr h="348383">
                <a:tc>
                  <a:txBody>
                    <a:bodyPr/>
                    <a:lstStyle/>
                    <a:p>
                      <a:pPr>
                        <a:buNone/>
                      </a:pPr>
                      <a:r>
                        <a:rPr lang="en-IN" sz="1200" b="1">
                          <a:latin typeface="Times New Roman" panose="02020603050405020304" pitchFamily="18" charset="0"/>
                          <a:cs typeface="Times New Roman" panose="02020603050405020304" pitchFamily="18" charset="0"/>
                        </a:rPr>
                        <a:t>Authors</a:t>
                      </a:r>
                      <a:endParaRPr lang="en-IN" sz="1200">
                        <a:latin typeface="Times New Roman" panose="02020603050405020304" pitchFamily="18" charset="0"/>
                        <a:cs typeface="Times New Roman" panose="02020603050405020304" pitchFamily="18" charset="0"/>
                      </a:endParaRPr>
                    </a:p>
                  </a:txBody>
                  <a:tcPr anchor="ctr">
                    <a:solidFill>
                      <a:srgbClr val="FFFF00"/>
                    </a:solidFill>
                  </a:tcPr>
                </a:tc>
                <a:tc>
                  <a:txBody>
                    <a:bodyPr/>
                    <a:lstStyle/>
                    <a:p>
                      <a:pPr>
                        <a:buNone/>
                      </a:pPr>
                      <a:r>
                        <a:rPr lang="en-IN" sz="1200" b="1">
                          <a:latin typeface="Times New Roman" panose="02020603050405020304" pitchFamily="18" charset="0"/>
                          <a:cs typeface="Times New Roman" panose="02020603050405020304" pitchFamily="18" charset="0"/>
                        </a:rPr>
                        <a:t>Title of the Paper</a:t>
                      </a:r>
                      <a:endParaRPr lang="en-IN" sz="1200">
                        <a:latin typeface="Times New Roman" panose="02020603050405020304" pitchFamily="18" charset="0"/>
                        <a:cs typeface="Times New Roman" panose="02020603050405020304" pitchFamily="18" charset="0"/>
                      </a:endParaRPr>
                    </a:p>
                  </a:txBody>
                  <a:tcPr anchor="ctr">
                    <a:solidFill>
                      <a:srgbClr val="FFFF00"/>
                    </a:solidFill>
                  </a:tcPr>
                </a:tc>
                <a:tc>
                  <a:txBody>
                    <a:bodyPr/>
                    <a:lstStyle/>
                    <a:p>
                      <a:pPr>
                        <a:buNone/>
                      </a:pPr>
                      <a:r>
                        <a:rPr lang="en-IN" sz="1200" b="1">
                          <a:latin typeface="Times New Roman" panose="02020603050405020304" pitchFamily="18" charset="0"/>
                          <a:cs typeface="Times New Roman" panose="02020603050405020304" pitchFamily="18" charset="0"/>
                        </a:rPr>
                        <a:t>Methodology</a:t>
                      </a:r>
                      <a:endParaRPr lang="en-IN" sz="1200">
                        <a:latin typeface="Times New Roman" panose="02020603050405020304" pitchFamily="18" charset="0"/>
                        <a:cs typeface="Times New Roman" panose="02020603050405020304" pitchFamily="18" charset="0"/>
                      </a:endParaRPr>
                    </a:p>
                  </a:txBody>
                  <a:tcPr anchor="ctr">
                    <a:solidFill>
                      <a:srgbClr val="FFFF00"/>
                    </a:solidFill>
                  </a:tcPr>
                </a:tc>
                <a:tc>
                  <a:txBody>
                    <a:bodyPr/>
                    <a:lstStyle/>
                    <a:p>
                      <a:pPr>
                        <a:buNone/>
                      </a:pPr>
                      <a:r>
                        <a:rPr lang="en-IN" sz="1200" b="1">
                          <a:latin typeface="Times New Roman" panose="02020603050405020304" pitchFamily="18" charset="0"/>
                          <a:cs typeface="Times New Roman" panose="02020603050405020304" pitchFamily="18" charset="0"/>
                        </a:rPr>
                        <a:t>Inferences</a:t>
                      </a:r>
                      <a:endParaRPr lang="en-IN" sz="1200">
                        <a:latin typeface="Times New Roman" panose="02020603050405020304" pitchFamily="18" charset="0"/>
                        <a:cs typeface="Times New Roman" panose="02020603050405020304" pitchFamily="18" charset="0"/>
                      </a:endParaRPr>
                    </a:p>
                  </a:txBody>
                  <a:tcPr anchor="ctr">
                    <a:solidFill>
                      <a:srgbClr val="FFFF00"/>
                    </a:solidFill>
                  </a:tcPr>
                </a:tc>
                <a:tc>
                  <a:txBody>
                    <a:bodyPr/>
                    <a:lstStyle/>
                    <a:p>
                      <a:pPr>
                        <a:buNone/>
                      </a:pPr>
                      <a:r>
                        <a:rPr lang="en-IN" sz="1200" b="1">
                          <a:latin typeface="Times New Roman" panose="02020603050405020304" pitchFamily="18" charset="0"/>
                          <a:cs typeface="Times New Roman" panose="02020603050405020304" pitchFamily="18" charset="0"/>
                        </a:rPr>
                        <a:t>Limitation / Future Work</a:t>
                      </a:r>
                      <a:endParaRPr lang="en-IN" sz="1200">
                        <a:latin typeface="Times New Roman" panose="02020603050405020304" pitchFamily="18" charset="0"/>
                        <a:cs typeface="Times New Roman" panose="02020603050405020304" pitchFamily="18" charset="0"/>
                      </a:endParaRPr>
                    </a:p>
                  </a:txBody>
                  <a:tcPr anchor="ctr">
                    <a:solidFill>
                      <a:srgbClr val="FFFF00"/>
                    </a:solidFill>
                  </a:tcPr>
                </a:tc>
                <a:extLst>
                  <a:ext uri="{0D108BD9-81ED-4DB2-BD59-A6C34878D82A}">
                    <a16:rowId xmlns:a16="http://schemas.microsoft.com/office/drawing/2014/main" val="10000"/>
                  </a:ext>
                </a:extLst>
              </a:tr>
              <a:tr h="1846262">
                <a:tc>
                  <a:txBody>
                    <a:bodyPr/>
                    <a:lstStyle/>
                    <a:p>
                      <a:pPr>
                        <a:buNone/>
                      </a:pPr>
                      <a:r>
                        <a:rPr lang="en-IN" sz="1200" b="1">
                          <a:latin typeface="Times New Roman" panose="02020603050405020304" pitchFamily="18" charset="0"/>
                          <a:cs typeface="Times New Roman" panose="02020603050405020304" pitchFamily="18" charset="0"/>
                        </a:rPr>
                        <a:t>Li et al. [1]</a:t>
                      </a:r>
                      <a:endParaRPr lang="en-IN" sz="1200">
                        <a:latin typeface="Times New Roman" panose="02020603050405020304" pitchFamily="18" charset="0"/>
                        <a:cs typeface="Times New Roman" panose="02020603050405020304" pitchFamily="18" charset="0"/>
                      </a:endParaRPr>
                    </a:p>
                  </a:txBody>
                  <a:tcPr anchor="ctr"/>
                </a:tc>
                <a:tc>
                  <a:txBody>
                    <a:bodyPr/>
                    <a:lstStyle/>
                    <a:p>
                      <a:pPr>
                        <a:buNone/>
                      </a:pPr>
                      <a:r>
                        <a:rPr lang="en-IN" sz="1200" b="1">
                          <a:latin typeface="Times New Roman" panose="02020603050405020304" pitchFamily="18" charset="0"/>
                          <a:cs typeface="Times New Roman" panose="02020603050405020304" pitchFamily="18" charset="0"/>
                        </a:rPr>
                        <a:t>Battery Fault Diagnosis for Electric Vehicles Based on Voltage Abnormality by Combining the Long Short-Term Memory Neural Network and the Equivalent Circuit Model</a:t>
                      </a:r>
                      <a:r>
                        <a:rPr lang="en-IN" sz="1200">
                          <a:latin typeface="Times New Roman" panose="02020603050405020304" pitchFamily="18" charset="0"/>
                          <a:cs typeface="Times New Roman" panose="02020603050405020304" pitchFamily="18" charset="0"/>
                        </a:rPr>
                        <a:t>, </a:t>
                      </a:r>
                      <a:r>
                        <a:rPr lang="en-IN" sz="1200" i="1">
                          <a:latin typeface="Times New Roman" panose="02020603050405020304" pitchFamily="18" charset="0"/>
                          <a:cs typeface="Times New Roman" panose="02020603050405020304" pitchFamily="18" charset="0"/>
                        </a:rPr>
                        <a:t>IEEE Transactions on Power Electronics</a:t>
                      </a:r>
                      <a:r>
                        <a:rPr lang="en-IN" sz="1200">
                          <a:latin typeface="Times New Roman" panose="02020603050405020304" pitchFamily="18" charset="0"/>
                          <a:cs typeface="Times New Roman" panose="02020603050405020304" pitchFamily="18" charset="0"/>
                        </a:rPr>
                        <a:t>, 2021</a:t>
                      </a:r>
                    </a:p>
                  </a:txBody>
                  <a:tcPr anchor="ctr"/>
                </a:tc>
                <a:tc>
                  <a:txBody>
                    <a:bodyPr/>
                    <a:lstStyle/>
                    <a:p>
                      <a:pPr>
                        <a:buNone/>
                      </a:pPr>
                      <a:r>
                        <a:rPr lang="en-IN" sz="1200" dirty="0">
                          <a:latin typeface="Times New Roman" panose="02020603050405020304" pitchFamily="18" charset="0"/>
                          <a:cs typeface="Times New Roman" panose="02020603050405020304" pitchFamily="18" charset="0"/>
                        </a:rPr>
                        <a:t>• Battery Equivalent Circuit Model (ECM)</a:t>
                      </a:r>
                    </a:p>
                    <a:p>
                      <a:pPr>
                        <a:buNone/>
                      </a:pPr>
                      <a:r>
                        <a:rPr lang="en-IN" sz="1200" dirty="0">
                          <a:latin typeface="Times New Roman" panose="02020603050405020304" pitchFamily="18" charset="0"/>
                          <a:cs typeface="Times New Roman" panose="02020603050405020304" pitchFamily="18" charset="0"/>
                        </a:rPr>
                        <a:t> • </a:t>
                      </a:r>
                      <a:r>
                        <a:rPr lang="en-IN" sz="1200" b="1" dirty="0">
                          <a:latin typeface="Times New Roman" panose="02020603050405020304" pitchFamily="18" charset="0"/>
                          <a:cs typeface="Times New Roman" panose="02020603050405020304" pitchFamily="18" charset="0"/>
                        </a:rPr>
                        <a:t>LSTM neural network</a:t>
                      </a:r>
                      <a:r>
                        <a:rPr lang="en-IN" sz="1200" dirty="0">
                          <a:latin typeface="Times New Roman" panose="02020603050405020304" pitchFamily="18" charset="0"/>
                          <a:cs typeface="Times New Roman" panose="02020603050405020304" pitchFamily="18" charset="0"/>
                        </a:rPr>
                        <a:t> for voltage prediction</a:t>
                      </a:r>
                    </a:p>
                    <a:p>
                      <a:pPr>
                        <a:buNone/>
                      </a:pPr>
                      <a:r>
                        <a:rPr lang="en-IN" sz="1200" dirty="0">
                          <a:latin typeface="Times New Roman" panose="02020603050405020304" pitchFamily="18" charset="0"/>
                          <a:cs typeface="Times New Roman" panose="02020603050405020304" pitchFamily="18" charset="0"/>
                        </a:rPr>
                        <a:t> • Modified Adaptive Boosting for improved diagnosis</a:t>
                      </a:r>
                    </a:p>
                    <a:p>
                      <a:pPr>
                        <a:buNone/>
                      </a:pPr>
                      <a:r>
                        <a:rPr lang="en-IN" sz="1200" dirty="0">
                          <a:latin typeface="Times New Roman" panose="02020603050405020304" pitchFamily="18" charset="0"/>
                          <a:cs typeface="Times New Roman" panose="02020603050405020304" pitchFamily="18" charset="0"/>
                        </a:rPr>
                        <a:t> • Prejudging model to reduce computational time</a:t>
                      </a:r>
                    </a:p>
                    <a:p>
                      <a:pPr>
                        <a:buNone/>
                      </a:pPr>
                      <a:r>
                        <a:rPr lang="en-IN" sz="1200" dirty="0">
                          <a:latin typeface="Times New Roman" panose="02020603050405020304" pitchFamily="18" charset="0"/>
                          <a:cs typeface="Times New Roman" panose="02020603050405020304" pitchFamily="18" charset="0"/>
                        </a:rPr>
                        <a:t> • Early battery failure / thermal runaway warning</a:t>
                      </a:r>
                    </a:p>
                  </a:txBody>
                  <a:tcPr anchor="ctr"/>
                </a:tc>
                <a:tc>
                  <a:txBody>
                    <a:bodyPr/>
                    <a:lstStyle/>
                    <a:p>
                      <a:pPr>
                        <a:buNone/>
                      </a:pPr>
                      <a:r>
                        <a:rPr lang="en-IN" sz="1200" dirty="0">
                          <a:latin typeface="Times New Roman" panose="02020603050405020304" pitchFamily="18" charset="0"/>
                          <a:cs typeface="Times New Roman" panose="02020603050405020304" pitchFamily="18" charset="0"/>
                        </a:rPr>
                        <a:t>• Performs battery fault diagnosis using real-world EV operating data</a:t>
                      </a:r>
                    </a:p>
                    <a:p>
                      <a:pPr>
                        <a:buNone/>
                      </a:pPr>
                      <a:r>
                        <a:rPr lang="en-IN" sz="1200" dirty="0">
                          <a:latin typeface="Times New Roman" panose="02020603050405020304" pitchFamily="18" charset="0"/>
                          <a:cs typeface="Times New Roman" panose="02020603050405020304" pitchFamily="18" charset="0"/>
                        </a:rPr>
                        <a:t> • Can identify potential battery-cell failures and locate cells associated with thermal runaway risk</a:t>
                      </a:r>
                    </a:p>
                    <a:p>
                      <a:pPr>
                        <a:buNone/>
                      </a:pPr>
                      <a:r>
                        <a:rPr lang="en-IN" sz="1200" dirty="0">
                          <a:latin typeface="Times New Roman" panose="02020603050405020304" pitchFamily="18" charset="0"/>
                          <a:cs typeface="Times New Roman" panose="02020603050405020304" pitchFamily="18" charset="0"/>
                        </a:rPr>
                        <a:t> • Combines model-based and data-driven approaches for improved diagnosis. (</a:t>
                      </a:r>
                      <a:r>
                        <a:rPr lang="en-IN" sz="1200" dirty="0">
                          <a:latin typeface="Times New Roman" panose="02020603050405020304" pitchFamily="18" charset="0"/>
                          <a:cs typeface="Times New Roman" panose="02020603050405020304" pitchFamily="18" charset="0"/>
                          <a:hlinkClick r:id="rId3" tooltip="Battery Fault Diagnosis for Electric Vehicles Based on Voltage Abnormality by Combining the Long Short-Term Memory Neural Network and the Equivalent Circuit Model"/>
                        </a:rPr>
                        <a:t>DOI</a:t>
                      </a:r>
                      <a:r>
                        <a:rPr lang="en-IN" sz="1200" dirty="0">
                          <a:latin typeface="Times New Roman" panose="02020603050405020304" pitchFamily="18" charset="0"/>
                          <a:cs typeface="Times New Roman" panose="02020603050405020304" pitchFamily="18" charset="0"/>
                        </a:rPr>
                        <a:t>)</a:t>
                      </a:r>
                    </a:p>
                  </a:txBody>
                  <a:tcPr anchor="ctr"/>
                </a:tc>
                <a:tc>
                  <a:txBody>
                    <a:bodyPr/>
                    <a:lstStyle/>
                    <a:p>
                      <a:pPr marL="0" indent="0">
                        <a:buFont typeface="Arial" panose="020B0604020202020204" pitchFamily="34" charset="0"/>
                        <a:buNone/>
                      </a:pPr>
                      <a:r>
                        <a:rPr lang="en-IN" sz="1200" dirty="0">
                          <a:latin typeface="Times New Roman" panose="02020603050405020304" pitchFamily="18" charset="0"/>
                          <a:cs typeface="Times New Roman" panose="02020603050405020304" pitchFamily="18" charset="0"/>
                        </a:rPr>
                        <a:t>• AI is primarily used for </a:t>
                      </a:r>
                      <a:r>
                        <a:rPr lang="en-IN" sz="1200" b="1" dirty="0">
                          <a:latin typeface="Times New Roman" panose="02020603050405020304" pitchFamily="18" charset="0"/>
                          <a:cs typeface="Times New Roman" panose="02020603050405020304" pitchFamily="18" charset="0"/>
                        </a:rPr>
                        <a:t>fault diagnosis and prediction</a:t>
                      </a:r>
                      <a:r>
                        <a:rPr lang="en-IN" sz="1200" dirty="0">
                          <a:latin typeface="Times New Roman" panose="02020603050405020304" pitchFamily="18" charset="0"/>
                          <a:cs typeface="Times New Roman" panose="02020603050405020304" pitchFamily="18" charset="0"/>
                        </a:rPr>
                        <a:t> rather than deciding when AI inference should be activated </a:t>
                      </a:r>
                    </a:p>
                    <a:p>
                      <a:pPr marL="0" indent="0">
                        <a:buFont typeface="Arial" panose="020B0604020202020204" pitchFamily="34" charset="0"/>
                        <a:buNone/>
                      </a:pPr>
                      <a:r>
                        <a:rPr lang="en-IN" sz="1200" dirty="0">
                          <a:latin typeface="Times New Roman" panose="02020603050405020304" pitchFamily="18" charset="0"/>
                          <a:cs typeface="Times New Roman" panose="02020603050405020304" pitchFamily="18" charset="0"/>
                        </a:rPr>
                        <a:t>• Does not implement our </a:t>
                      </a:r>
                      <a:r>
                        <a:rPr lang="en-IN" sz="1200" b="1" dirty="0">
                          <a:latin typeface="Times New Roman" panose="02020603050405020304" pitchFamily="18" charset="0"/>
                          <a:cs typeface="Times New Roman" panose="02020603050405020304" pitchFamily="18" charset="0"/>
                        </a:rPr>
                        <a:t>two-level screening → AI verification</a:t>
                      </a:r>
                      <a:r>
                        <a:rPr lang="en-IN" sz="1200" dirty="0">
                          <a:latin typeface="Times New Roman" panose="02020603050405020304" pitchFamily="18" charset="0"/>
                          <a:cs typeface="Times New Roman" panose="02020603050405020304" pitchFamily="18" charset="0"/>
                        </a:rPr>
                        <a:t> architecture</a:t>
                      </a:r>
                    </a:p>
                    <a:p>
                      <a:pPr marL="0" indent="0">
                        <a:buFont typeface="Arial" panose="020B0604020202020204" pitchFamily="34" charset="0"/>
                        <a:buNone/>
                      </a:pPr>
                      <a:r>
                        <a:rPr lang="en-IN" sz="1200" dirty="0">
                          <a:latin typeface="Times New Roman" panose="02020603050405020304" pitchFamily="18" charset="0"/>
                          <a:cs typeface="Times New Roman" panose="02020603050405020304" pitchFamily="18" charset="0"/>
                        </a:rPr>
                        <a:t> • Does not provide a </a:t>
                      </a:r>
                      <a:r>
                        <a:rPr lang="en-IN" sz="1200" b="1" dirty="0">
                          <a:latin typeface="Times New Roman" panose="02020603050405020304" pitchFamily="18" charset="0"/>
                          <a:cs typeface="Times New Roman" panose="02020603050405020304" pitchFamily="18" charset="0"/>
                        </a:rPr>
                        <a:t>software-defined risk-to-action policy</a:t>
                      </a:r>
                    </a:p>
                    <a:p>
                      <a:pPr marL="0" indent="0">
                        <a:buFont typeface="Arial" panose="020B0604020202020204" pitchFamily="34" charset="0"/>
                        <a:buNone/>
                      </a:pPr>
                      <a:r>
                        <a:rPr lang="en-IN" sz="1200" dirty="0">
                          <a:latin typeface="Times New Roman" panose="02020603050405020304" pitchFamily="18" charset="0"/>
                          <a:cs typeface="Times New Roman" panose="02020603050405020304" pitchFamily="18" charset="0"/>
                        </a:rPr>
                        <a:t> • Our approach focuses on intelligent AI activation and configurable BMS responses.</a:t>
                      </a:r>
                    </a:p>
                  </a:txBody>
                  <a:tcPr anchor="ctr"/>
                </a:tc>
                <a:extLst>
                  <a:ext uri="{0D108BD9-81ED-4DB2-BD59-A6C34878D82A}">
                    <a16:rowId xmlns:a16="http://schemas.microsoft.com/office/drawing/2014/main" val="3714155954"/>
                  </a:ext>
                </a:extLst>
              </a:tr>
              <a:tr h="1670427">
                <a:tc>
                  <a:txBody>
                    <a:bodyPr/>
                    <a:lstStyle/>
                    <a:p>
                      <a:pPr>
                        <a:buNone/>
                      </a:pPr>
                      <a:r>
                        <a:rPr lang="en-IN" sz="1200" b="1">
                          <a:latin typeface="Times New Roman" panose="02020603050405020304" pitchFamily="18" charset="0"/>
                          <a:cs typeface="Times New Roman" panose="02020603050405020304" pitchFamily="18" charset="0"/>
                        </a:rPr>
                        <a:t>[2]</a:t>
                      </a:r>
                      <a:endParaRPr lang="en-IN" sz="1200">
                        <a:latin typeface="Times New Roman" panose="02020603050405020304" pitchFamily="18" charset="0"/>
                        <a:cs typeface="Times New Roman" panose="02020603050405020304" pitchFamily="18" charset="0"/>
                      </a:endParaRPr>
                    </a:p>
                  </a:txBody>
                  <a:tcPr anchor="ctr"/>
                </a:tc>
                <a:tc>
                  <a:txBody>
                    <a:bodyPr/>
                    <a:lstStyle/>
                    <a:p>
                      <a:pPr>
                        <a:buNone/>
                      </a:pPr>
                      <a:r>
                        <a:rPr lang="en-IN" sz="1200" b="1">
                          <a:latin typeface="Times New Roman" panose="02020603050405020304" pitchFamily="18" charset="0"/>
                          <a:cs typeface="Times New Roman" panose="02020603050405020304" pitchFamily="18" charset="0"/>
                        </a:rPr>
                        <a:t>Artificial Intelligence and IoT based Smart Battery Management System for Electric Vehicle</a:t>
                      </a:r>
                      <a:r>
                        <a:rPr lang="en-IN" sz="1200">
                          <a:latin typeface="Times New Roman" panose="02020603050405020304" pitchFamily="18" charset="0"/>
                          <a:cs typeface="Times New Roman" panose="02020603050405020304" pitchFamily="18" charset="0"/>
                        </a:rPr>
                        <a:t>, </a:t>
                      </a:r>
                      <a:r>
                        <a:rPr lang="en-IN" sz="1200" i="1">
                          <a:latin typeface="Times New Roman" panose="02020603050405020304" pitchFamily="18" charset="0"/>
                          <a:cs typeface="Times New Roman" panose="02020603050405020304" pitchFamily="18" charset="0"/>
                        </a:rPr>
                        <a:t>IEEE Conference Publication</a:t>
                      </a:r>
                      <a:endParaRPr lang="en-IN" sz="1200">
                        <a:latin typeface="Times New Roman" panose="02020603050405020304" pitchFamily="18" charset="0"/>
                        <a:cs typeface="Times New Roman" panose="02020603050405020304" pitchFamily="18" charset="0"/>
                      </a:endParaRPr>
                    </a:p>
                  </a:txBody>
                  <a:tcPr anchor="ctr"/>
                </a:tc>
                <a:tc>
                  <a:txBody>
                    <a:bodyPr/>
                    <a:lstStyle/>
                    <a:p>
                      <a:pPr>
                        <a:buNone/>
                      </a:pPr>
                      <a:r>
                        <a:rPr lang="en-IN" sz="1200" dirty="0">
                          <a:latin typeface="Times New Roman" panose="02020603050405020304" pitchFamily="18" charset="0"/>
                          <a:cs typeface="Times New Roman" panose="02020603050405020304" pitchFamily="18" charset="0"/>
                        </a:rPr>
                        <a:t>• Artificial Intelligence for battery monitoring</a:t>
                      </a:r>
                    </a:p>
                    <a:p>
                      <a:pPr>
                        <a:buNone/>
                      </a:pPr>
                      <a:r>
                        <a:rPr lang="en-IN" sz="1200" dirty="0">
                          <a:latin typeface="Times New Roman" panose="02020603050405020304" pitchFamily="18" charset="0"/>
                          <a:cs typeface="Times New Roman" panose="02020603050405020304" pitchFamily="18" charset="0"/>
                        </a:rPr>
                        <a:t> • IoT-based battery data monitoring • Smart BMS architecture </a:t>
                      </a:r>
                    </a:p>
                    <a:p>
                      <a:pPr>
                        <a:buNone/>
                      </a:pPr>
                      <a:r>
                        <a:rPr lang="en-IN" sz="1200" dirty="0">
                          <a:latin typeface="Times New Roman" panose="02020603050405020304" pitchFamily="18" charset="0"/>
                          <a:cs typeface="Times New Roman" panose="02020603050405020304" pitchFamily="18" charset="0"/>
                        </a:rPr>
                        <a:t>• Battery parameters are monitored and </a:t>
                      </a:r>
                      <a:r>
                        <a:rPr lang="en-IN" sz="1200" dirty="0" err="1">
                          <a:latin typeface="Times New Roman" panose="02020603050405020304" pitchFamily="18" charset="0"/>
                          <a:cs typeface="Times New Roman" panose="02020603050405020304" pitchFamily="18" charset="0"/>
                        </a:rPr>
                        <a:t>analyzed</a:t>
                      </a:r>
                      <a:r>
                        <a:rPr lang="en-IN" sz="1200" dirty="0">
                          <a:latin typeface="Times New Roman" panose="02020603050405020304" pitchFamily="18" charset="0"/>
                          <a:cs typeface="Times New Roman" panose="02020603050405020304" pitchFamily="18" charset="0"/>
                        </a:rPr>
                        <a:t> for intelligent management</a:t>
                      </a:r>
                    </a:p>
                  </a:txBody>
                  <a:tcPr anchor="ctr"/>
                </a:tc>
                <a:tc>
                  <a:txBody>
                    <a:bodyPr/>
                    <a:lstStyle/>
                    <a:p>
                      <a:pPr>
                        <a:buNone/>
                      </a:pPr>
                      <a:r>
                        <a:rPr lang="en-IN" sz="1200" dirty="0">
                          <a:latin typeface="Times New Roman" panose="02020603050405020304" pitchFamily="18" charset="0"/>
                          <a:cs typeface="Times New Roman" panose="02020603050405020304" pitchFamily="18" charset="0"/>
                        </a:rPr>
                        <a:t>• Demonstrates the integration of </a:t>
                      </a:r>
                      <a:r>
                        <a:rPr lang="en-IN" sz="1200" b="1" dirty="0">
                          <a:latin typeface="Times New Roman" panose="02020603050405020304" pitchFamily="18" charset="0"/>
                          <a:cs typeface="Times New Roman" panose="02020603050405020304" pitchFamily="18" charset="0"/>
                        </a:rPr>
                        <a:t>AI and IoT with EV BMS</a:t>
                      </a:r>
                    </a:p>
                    <a:p>
                      <a:pPr>
                        <a:buNone/>
                      </a:pPr>
                      <a:r>
                        <a:rPr lang="en-IN" sz="1200" dirty="0">
                          <a:latin typeface="Times New Roman" panose="02020603050405020304" pitchFamily="18" charset="0"/>
                          <a:cs typeface="Times New Roman" panose="02020603050405020304" pitchFamily="18" charset="0"/>
                        </a:rPr>
                        <a:t> • Shows the feasibility of intelligent and connected battery management. (</a:t>
                      </a:r>
                      <a:r>
                        <a:rPr lang="en-IN" sz="1200" dirty="0">
                          <a:latin typeface="Times New Roman" panose="02020603050405020304" pitchFamily="18" charset="0"/>
                          <a:cs typeface="Times New Roman" panose="02020603050405020304" pitchFamily="18" charset="0"/>
                          <a:hlinkClick r:id="rId4" tooltip="Artificial Intelligence and IoT based Smart Battery Management System for Electric Vehicle"/>
                        </a:rPr>
                        <a:t>IEEE Xplore</a:t>
                      </a:r>
                      <a:r>
                        <a:rPr lang="en-IN" sz="1200" dirty="0">
                          <a:latin typeface="Times New Roman" panose="02020603050405020304" pitchFamily="18" charset="0"/>
                          <a:cs typeface="Times New Roman" panose="02020603050405020304" pitchFamily="18" charset="0"/>
                        </a:rPr>
                        <a:t>)</a:t>
                      </a:r>
                    </a:p>
                  </a:txBody>
                  <a:tcPr anchor="ctr"/>
                </a:tc>
                <a:tc>
                  <a:txBody>
                    <a:bodyPr/>
                    <a:lstStyle/>
                    <a:p>
                      <a:pPr>
                        <a:buNone/>
                      </a:pPr>
                      <a:r>
                        <a:rPr lang="en-IN" sz="1200" dirty="0">
                          <a:latin typeface="Times New Roman" panose="02020603050405020304" pitchFamily="18" charset="0"/>
                          <a:cs typeface="Times New Roman" panose="02020603050405020304" pitchFamily="18" charset="0"/>
                        </a:rPr>
                        <a:t>• Focuses on AI + IoT integration rather than </a:t>
                      </a:r>
                      <a:r>
                        <a:rPr lang="en-IN" sz="1200" b="1" dirty="0">
                          <a:latin typeface="Times New Roman" panose="02020603050405020304" pitchFamily="18" charset="0"/>
                          <a:cs typeface="Times New Roman" panose="02020603050405020304" pitchFamily="18" charset="0"/>
                        </a:rPr>
                        <a:t>event-triggered AI execution</a:t>
                      </a:r>
                    </a:p>
                    <a:p>
                      <a:pPr>
                        <a:buNone/>
                      </a:pPr>
                      <a:r>
                        <a:rPr lang="en-IN" sz="1200" dirty="0">
                          <a:latin typeface="Times New Roman" panose="02020603050405020304" pitchFamily="18" charset="0"/>
                          <a:cs typeface="Times New Roman" panose="02020603050405020304" pitchFamily="18" charset="0"/>
                        </a:rPr>
                        <a:t> • Does not implement our </a:t>
                      </a:r>
                      <a:r>
                        <a:rPr lang="en-IN" sz="1200" b="1" dirty="0">
                          <a:latin typeface="Times New Roman" panose="02020603050405020304" pitchFamily="18" charset="0"/>
                          <a:cs typeface="Times New Roman" panose="02020603050405020304" pitchFamily="18" charset="0"/>
                        </a:rPr>
                        <a:t>two-level decision mechanism</a:t>
                      </a:r>
                    </a:p>
                    <a:p>
                      <a:pPr>
                        <a:buNone/>
                      </a:pPr>
                      <a:r>
                        <a:rPr lang="en-IN" sz="1200" dirty="0">
                          <a:latin typeface="Times New Roman" panose="02020603050405020304" pitchFamily="18" charset="0"/>
                          <a:cs typeface="Times New Roman" panose="02020603050405020304" pitchFamily="18" charset="0"/>
                        </a:rPr>
                        <a:t> • Does not define a configurable risk-policy layer connecting battery risk to different vehicle actions</a:t>
                      </a:r>
                    </a:p>
                    <a:p>
                      <a:pPr>
                        <a:buNone/>
                      </a:pPr>
                      <a:r>
                        <a:rPr lang="en-IN" sz="1200" dirty="0">
                          <a:latin typeface="Times New Roman" panose="02020603050405020304" pitchFamily="18" charset="0"/>
                          <a:cs typeface="Times New Roman" panose="02020603050405020304" pitchFamily="18" charset="0"/>
                        </a:rPr>
                        <a:t> • Our work focuses on making AI usage and BMS responses adaptive.</a:t>
                      </a:r>
                    </a:p>
                  </a:txBody>
                  <a:tcPr anchor="ctr"/>
                </a:tc>
                <a:extLst>
                  <a:ext uri="{0D108BD9-81ED-4DB2-BD59-A6C34878D82A}">
                    <a16:rowId xmlns:a16="http://schemas.microsoft.com/office/drawing/2014/main" val="2655426370"/>
                  </a:ext>
                </a:extLst>
              </a:tr>
              <a:tr h="1846262">
                <a:tc>
                  <a:txBody>
                    <a:bodyPr/>
                    <a:lstStyle/>
                    <a:p>
                      <a:pPr>
                        <a:buNone/>
                      </a:pPr>
                      <a:r>
                        <a:rPr lang="en-IN" sz="1200" b="1" dirty="0">
                          <a:latin typeface="Times New Roman" panose="02020603050405020304" pitchFamily="18" charset="0"/>
                          <a:cs typeface="Times New Roman" panose="02020603050405020304" pitchFamily="18" charset="0"/>
                        </a:rPr>
                        <a:t>Vidal et al. [3]</a:t>
                      </a:r>
                      <a:endParaRPr lang="en-IN" sz="1200" dirty="0">
                        <a:latin typeface="Times New Roman" panose="02020603050405020304" pitchFamily="18" charset="0"/>
                        <a:cs typeface="Times New Roman" panose="02020603050405020304" pitchFamily="18" charset="0"/>
                      </a:endParaRPr>
                    </a:p>
                  </a:txBody>
                  <a:tcPr anchor="ctr"/>
                </a:tc>
                <a:tc>
                  <a:txBody>
                    <a:bodyPr/>
                    <a:lstStyle/>
                    <a:p>
                      <a:pPr>
                        <a:buNone/>
                      </a:pPr>
                      <a:r>
                        <a:rPr lang="en-IN" sz="1200" b="1">
                          <a:latin typeface="Times New Roman" panose="02020603050405020304" pitchFamily="18" charset="0"/>
                          <a:cs typeface="Times New Roman" panose="02020603050405020304" pitchFamily="18" charset="0"/>
                        </a:rPr>
                        <a:t>Machine Learning Applied to Electrified Vehicle Battery State of Charge and State of Health Estimation: State-of-the-Art</a:t>
                      </a:r>
                      <a:r>
                        <a:rPr lang="en-IN" sz="1200">
                          <a:latin typeface="Times New Roman" panose="02020603050405020304" pitchFamily="18" charset="0"/>
                          <a:cs typeface="Times New Roman" panose="02020603050405020304" pitchFamily="18" charset="0"/>
                        </a:rPr>
                        <a:t>, </a:t>
                      </a:r>
                      <a:r>
                        <a:rPr lang="en-IN" sz="1200" i="1">
                          <a:latin typeface="Times New Roman" panose="02020603050405020304" pitchFamily="18" charset="0"/>
                          <a:cs typeface="Times New Roman" panose="02020603050405020304" pitchFamily="18" charset="0"/>
                        </a:rPr>
                        <a:t>IEEE Access</a:t>
                      </a:r>
                      <a:r>
                        <a:rPr lang="en-IN" sz="1200">
                          <a:latin typeface="Times New Roman" panose="02020603050405020304" pitchFamily="18" charset="0"/>
                          <a:cs typeface="Times New Roman" panose="02020603050405020304" pitchFamily="18" charset="0"/>
                        </a:rPr>
                        <a:t>, 2020</a:t>
                      </a:r>
                    </a:p>
                  </a:txBody>
                  <a:tcPr anchor="ctr"/>
                </a:tc>
                <a:tc>
                  <a:txBody>
                    <a:bodyPr/>
                    <a:lstStyle/>
                    <a:p>
                      <a:pPr>
                        <a:buNone/>
                      </a:pPr>
                      <a:r>
                        <a:rPr lang="en-IN" sz="1200" dirty="0">
                          <a:latin typeface="Times New Roman" panose="02020603050405020304" pitchFamily="18" charset="0"/>
                          <a:cs typeface="Times New Roman" panose="02020603050405020304" pitchFamily="18" charset="0"/>
                        </a:rPr>
                        <a:t>• Review of ML-based battery estimation methods</a:t>
                      </a:r>
                    </a:p>
                    <a:p>
                      <a:pPr>
                        <a:buNone/>
                      </a:pPr>
                      <a:r>
                        <a:rPr lang="en-IN" sz="1200" dirty="0">
                          <a:latin typeface="Times New Roman" panose="02020603050405020304" pitchFamily="18" charset="0"/>
                          <a:cs typeface="Times New Roman" panose="02020603050405020304" pitchFamily="18" charset="0"/>
                        </a:rPr>
                        <a:t> • Feedforward Neural Networks (FNN)</a:t>
                      </a:r>
                    </a:p>
                    <a:p>
                      <a:pPr>
                        <a:buNone/>
                      </a:pPr>
                      <a:r>
                        <a:rPr lang="en-IN" sz="1200" dirty="0">
                          <a:latin typeface="Times New Roman" panose="02020603050405020304" pitchFamily="18" charset="0"/>
                          <a:cs typeface="Times New Roman" panose="02020603050405020304" pitchFamily="18" charset="0"/>
                        </a:rPr>
                        <a:t> • Recurrent Neural Networks (RNN/LSTM)</a:t>
                      </a:r>
                    </a:p>
                    <a:p>
                      <a:pPr>
                        <a:buNone/>
                      </a:pPr>
                      <a:r>
                        <a:rPr lang="en-IN" sz="1200" dirty="0">
                          <a:latin typeface="Times New Roman" panose="02020603050405020304" pitchFamily="18" charset="0"/>
                          <a:cs typeface="Times New Roman" panose="02020603050405020304" pitchFamily="18" charset="0"/>
                        </a:rPr>
                        <a:t> • Support Vector Machines (SVM)</a:t>
                      </a:r>
                    </a:p>
                    <a:p>
                      <a:pPr>
                        <a:buNone/>
                      </a:pPr>
                      <a:r>
                        <a:rPr lang="en-IN" sz="1200" dirty="0">
                          <a:latin typeface="Times New Roman" panose="02020603050405020304" pitchFamily="18" charset="0"/>
                          <a:cs typeface="Times New Roman" panose="02020603050405020304" pitchFamily="18" charset="0"/>
                        </a:rPr>
                        <a:t> • RBF and other ML approaches for SOC/SOH estimation</a:t>
                      </a:r>
                    </a:p>
                  </a:txBody>
                  <a:tcPr anchor="ctr"/>
                </a:tc>
                <a:tc>
                  <a:txBody>
                    <a:bodyPr/>
                    <a:lstStyle/>
                    <a:p>
                      <a:pPr>
                        <a:buNone/>
                      </a:pPr>
                      <a:r>
                        <a:rPr lang="en-IN" sz="1200" dirty="0">
                          <a:latin typeface="Times New Roman" panose="02020603050405020304" pitchFamily="18" charset="0"/>
                          <a:cs typeface="Times New Roman" panose="02020603050405020304" pitchFamily="18" charset="0"/>
                        </a:rPr>
                        <a:t>• Provides a comprehensive overview of ML techniques for EV battery </a:t>
                      </a:r>
                      <a:r>
                        <a:rPr lang="en-IN" sz="1200" b="1" dirty="0">
                          <a:latin typeface="Times New Roman" panose="02020603050405020304" pitchFamily="18" charset="0"/>
                          <a:cs typeface="Times New Roman" panose="02020603050405020304" pitchFamily="18" charset="0"/>
                        </a:rPr>
                        <a:t>SOC and SOH estimation</a:t>
                      </a:r>
                    </a:p>
                    <a:p>
                      <a:pPr>
                        <a:buNone/>
                      </a:pPr>
                      <a:r>
                        <a:rPr lang="en-IN" sz="1200" dirty="0">
                          <a:latin typeface="Times New Roman" panose="02020603050405020304" pitchFamily="18" charset="0"/>
                          <a:cs typeface="Times New Roman" panose="02020603050405020304" pitchFamily="18" charset="0"/>
                        </a:rPr>
                        <a:t> • Demonstrates the increasing use of ML for data-driven battery management. (</a:t>
                      </a:r>
                      <a:r>
                        <a:rPr lang="en-IN" sz="1200" dirty="0">
                          <a:latin typeface="Times New Roman" panose="02020603050405020304" pitchFamily="18" charset="0"/>
                          <a:cs typeface="Times New Roman" panose="02020603050405020304" pitchFamily="18" charset="0"/>
                          <a:hlinkClick r:id="rId5" tooltip="Machine Learning Applied to Electrified Vehicle Battery State of Charge and State of Health Estimation: State-of-the-Art – DOAJ"/>
                        </a:rPr>
                        <a:t>Directory of Open Access Journals</a:t>
                      </a:r>
                      <a:r>
                        <a:rPr lang="en-IN" sz="1200" dirty="0">
                          <a:latin typeface="Times New Roman" panose="02020603050405020304" pitchFamily="18" charset="0"/>
                          <a:cs typeface="Times New Roman" panose="02020603050405020304" pitchFamily="18" charset="0"/>
                        </a:rPr>
                        <a:t>)</a:t>
                      </a:r>
                    </a:p>
                  </a:txBody>
                  <a:tcPr anchor="ctr"/>
                </a:tc>
                <a:tc>
                  <a:txBody>
                    <a:bodyPr/>
                    <a:lstStyle/>
                    <a:p>
                      <a:pPr>
                        <a:buNone/>
                      </a:pPr>
                      <a:r>
                        <a:rPr lang="en-IN" sz="1200" dirty="0">
                          <a:latin typeface="Times New Roman" panose="02020603050405020304" pitchFamily="18" charset="0"/>
                          <a:cs typeface="Times New Roman" panose="02020603050405020304" pitchFamily="18" charset="0"/>
                        </a:rPr>
                        <a:t>• Primarily focuses on </a:t>
                      </a:r>
                      <a:r>
                        <a:rPr lang="en-IN" sz="1200" b="1" dirty="0">
                          <a:latin typeface="Times New Roman" panose="02020603050405020304" pitchFamily="18" charset="0"/>
                          <a:cs typeface="Times New Roman" panose="02020603050405020304" pitchFamily="18" charset="0"/>
                        </a:rPr>
                        <a:t>battery state estimation</a:t>
                      </a:r>
                      <a:r>
                        <a:rPr lang="en-IN" sz="1200" dirty="0">
                          <a:latin typeface="Times New Roman" panose="02020603050405020304" pitchFamily="18" charset="0"/>
                          <a:cs typeface="Times New Roman" panose="02020603050405020304" pitchFamily="18" charset="0"/>
                        </a:rPr>
                        <a:t>, rather than real-time AI-triggering and risk-based BMS decisions</a:t>
                      </a:r>
                    </a:p>
                    <a:p>
                      <a:pPr>
                        <a:buNone/>
                      </a:pPr>
                      <a:r>
                        <a:rPr lang="en-IN" sz="1200" dirty="0">
                          <a:latin typeface="Times New Roman" panose="02020603050405020304" pitchFamily="18" charset="0"/>
                          <a:cs typeface="Times New Roman" panose="02020603050405020304" pitchFamily="18" charset="0"/>
                        </a:rPr>
                        <a:t> • Does not propose our event-triggered inference mechanism</a:t>
                      </a:r>
                    </a:p>
                    <a:p>
                      <a:pPr>
                        <a:buNone/>
                      </a:pPr>
                      <a:r>
                        <a:rPr lang="en-IN" sz="1200" dirty="0">
                          <a:latin typeface="Times New Roman" panose="02020603050405020304" pitchFamily="18" charset="0"/>
                          <a:cs typeface="Times New Roman" panose="02020603050405020304" pitchFamily="18" charset="0"/>
                        </a:rPr>
                        <a:t> • Does not integrate AI output with a software-configurable risk policy</a:t>
                      </a:r>
                    </a:p>
                    <a:p>
                      <a:pPr>
                        <a:buNone/>
                      </a:pPr>
                      <a:r>
                        <a:rPr lang="en-IN" sz="1200" dirty="0">
                          <a:latin typeface="Times New Roman" panose="02020603050405020304" pitchFamily="18" charset="0"/>
                          <a:cs typeface="Times New Roman" panose="02020603050405020304" pitchFamily="18" charset="0"/>
                        </a:rPr>
                        <a:t> • Our project builds a </a:t>
                      </a:r>
                      <a:r>
                        <a:rPr lang="en-IN" sz="1200" b="1" dirty="0">
                          <a:latin typeface="Times New Roman" panose="02020603050405020304" pitchFamily="18" charset="0"/>
                          <a:cs typeface="Times New Roman" panose="02020603050405020304" pitchFamily="18" charset="0"/>
                        </a:rPr>
                        <a:t>decision architecture around existing lightweight AI models</a:t>
                      </a:r>
                      <a:r>
                        <a:rPr lang="en-IN" sz="1200" dirty="0">
                          <a:latin typeface="Times New Roman" panose="02020603050405020304" pitchFamily="18" charset="0"/>
                          <a:cs typeface="Times New Roman" panose="02020603050405020304" pitchFamily="18" charset="0"/>
                        </a:rPr>
                        <a:t>.</a:t>
                      </a:r>
                    </a:p>
                  </a:txBody>
                  <a:tcPr anchor="ctr"/>
                </a:tc>
                <a:extLst>
                  <a:ext uri="{0D108BD9-81ED-4DB2-BD59-A6C34878D82A}">
                    <a16:rowId xmlns:a16="http://schemas.microsoft.com/office/drawing/2014/main" val="2841575018"/>
                  </a:ext>
                </a:extLst>
              </a:tr>
            </a:tbl>
          </a:graphicData>
        </a:graphic>
      </p:graphicFrame>
      <p:sp>
        <p:nvSpPr>
          <p:cNvPr id="2" name="TextBox 1">
            <a:extLst>
              <a:ext uri="{FF2B5EF4-FFF2-40B4-BE49-F238E27FC236}">
                <a16:creationId xmlns:a16="http://schemas.microsoft.com/office/drawing/2014/main" id="{C48F0022-391A-4CFC-2851-87E76B37EAC2}"/>
              </a:ext>
            </a:extLst>
          </p:cNvPr>
          <p:cNvSpPr txBox="1"/>
          <p:nvPr/>
        </p:nvSpPr>
        <p:spPr>
          <a:xfrm>
            <a:off x="4560565" y="136525"/>
            <a:ext cx="3070868" cy="523220"/>
          </a:xfrm>
          <a:prstGeom prst="rect">
            <a:avLst/>
          </a:prstGeom>
          <a:noFill/>
        </p:spPr>
        <p:txBody>
          <a:bodyPr wrap="square" rtlCol="0">
            <a:spAutoFit/>
          </a:bodyPr>
          <a:lstStyle/>
          <a:p>
            <a:pPr algn="ctr"/>
            <a:r>
              <a:rPr lang="en-IN" sz="2800" b="1" dirty="0">
                <a:solidFill>
                  <a:srgbClr val="FF0000"/>
                </a:solidFill>
                <a:latin typeface="Times New Roman" panose="02020603050405020304" pitchFamily="18" charset="0"/>
                <a:ea typeface="Cambria"/>
                <a:cs typeface="Times New Roman" panose="02020603050405020304" pitchFamily="18" charset="0"/>
              </a:rPr>
              <a:t>Literature Survey</a:t>
            </a:r>
            <a:endParaRPr lang="en-IN" sz="2800" b="1" dirty="0">
              <a:solidFill>
                <a:srgbClr val="FF0000"/>
              </a:solidFill>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CF3EBAEA-8DC6-8F54-F0D6-38F9643BD4B7}"/>
              </a:ext>
            </a:extLst>
          </p:cNvPr>
          <p:cNvPicPr>
            <a:picLocks noChangeAspect="1"/>
          </p:cNvPicPr>
          <p:nvPr/>
        </p:nvPicPr>
        <p:blipFill>
          <a:blip r:embed="rId6"/>
          <a:stretch>
            <a:fillRect/>
          </a:stretch>
        </p:blipFill>
        <p:spPr>
          <a:xfrm>
            <a:off x="10249380" y="0"/>
            <a:ext cx="1942620" cy="622550"/>
          </a:xfrm>
          <a:prstGeom prst="rect">
            <a:avLst/>
          </a:prstGeom>
        </p:spPr>
      </p:pic>
      <p:sp>
        <p:nvSpPr>
          <p:cNvPr id="3" name="Slide Number Placeholder 2">
            <a:extLst>
              <a:ext uri="{FF2B5EF4-FFF2-40B4-BE49-F238E27FC236}">
                <a16:creationId xmlns:a16="http://schemas.microsoft.com/office/drawing/2014/main" id="{EF79CE20-E0F1-A03B-3BE8-C0D04DFE7E72}"/>
              </a:ext>
            </a:extLst>
          </p:cNvPr>
          <p:cNvSpPr>
            <a:spLocks noGrp="1"/>
          </p:cNvSpPr>
          <p:nvPr>
            <p:ph type="sldNum" sz="quarter" idx="12"/>
          </p:nvPr>
        </p:nvSpPr>
        <p:spPr/>
        <p:txBody>
          <a:bodyPr/>
          <a:lstStyle/>
          <a:p>
            <a:fld id="{E639234F-78F1-4984-9C4D-D4C7AB587871}" type="slidenum">
              <a:rPr lang="en-US" smtClean="0"/>
              <a:t>5</a:t>
            </a:fld>
            <a:endParaRPr lang="en-US"/>
          </a:p>
        </p:txBody>
      </p:sp>
      <p:sp>
        <p:nvSpPr>
          <p:cNvPr id="5" name="Footer Placeholder 4">
            <a:extLst>
              <a:ext uri="{FF2B5EF4-FFF2-40B4-BE49-F238E27FC236}">
                <a16:creationId xmlns:a16="http://schemas.microsoft.com/office/drawing/2014/main" id="{D067D48F-AE74-32E8-92B9-0583F577BE0B}"/>
              </a:ext>
            </a:extLst>
          </p:cNvPr>
          <p:cNvSpPr>
            <a:spLocks noGrp="1"/>
          </p:cNvSpPr>
          <p:nvPr>
            <p:ph type="ftr" sz="quarter" idx="11"/>
          </p:nvPr>
        </p:nvSpPr>
        <p:spPr/>
        <p:txBody>
          <a:bodyPr/>
          <a:lstStyle/>
          <a:p>
            <a:r>
              <a:rPr lang="en-US"/>
              <a:t>RTOS REVIEW-1</a:t>
            </a:r>
          </a:p>
        </p:txBody>
      </p:sp>
    </p:spTree>
    <p:extLst>
      <p:ext uri="{BB962C8B-B14F-4D97-AF65-F5344CB8AC3E}">
        <p14:creationId xmlns:p14="http://schemas.microsoft.com/office/powerpoint/2010/main" val="30292770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AEF2FA-32F2-6715-843F-6ACC796D053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C00062CA-E93E-DFB0-5A22-1412AB9A6752}"/>
              </a:ext>
            </a:extLst>
          </p:cNvPr>
          <p:cNvSpPr txBox="1"/>
          <p:nvPr/>
        </p:nvSpPr>
        <p:spPr>
          <a:xfrm>
            <a:off x="2939846" y="177291"/>
            <a:ext cx="6096000" cy="646331"/>
          </a:xfrm>
          <a:prstGeom prst="rect">
            <a:avLst/>
          </a:prstGeom>
          <a:noFill/>
        </p:spPr>
        <p:txBody>
          <a:bodyPr wrap="square">
            <a:spAutoFit/>
          </a:bodyPr>
          <a:lstStyle/>
          <a:p>
            <a:pPr algn="ctr"/>
            <a:r>
              <a:rPr lang="en-US" sz="3600" b="1" dirty="0">
                <a:solidFill>
                  <a:srgbClr val="FF0000"/>
                </a:solidFill>
              </a:rPr>
              <a:t>Research Gap Identification</a:t>
            </a:r>
          </a:p>
        </p:txBody>
      </p:sp>
      <p:pic>
        <p:nvPicPr>
          <p:cNvPr id="3" name="Picture 2">
            <a:extLst>
              <a:ext uri="{FF2B5EF4-FFF2-40B4-BE49-F238E27FC236}">
                <a16:creationId xmlns:a16="http://schemas.microsoft.com/office/drawing/2014/main" id="{7777B92A-0C12-D39A-8847-98719E7B6FFF}"/>
              </a:ext>
            </a:extLst>
          </p:cNvPr>
          <p:cNvPicPr>
            <a:picLocks noChangeAspect="1"/>
          </p:cNvPicPr>
          <p:nvPr/>
        </p:nvPicPr>
        <p:blipFill>
          <a:blip r:embed="rId2"/>
          <a:stretch>
            <a:fillRect/>
          </a:stretch>
        </p:blipFill>
        <p:spPr>
          <a:xfrm>
            <a:off x="10249380" y="0"/>
            <a:ext cx="1942620" cy="622550"/>
          </a:xfrm>
          <a:prstGeom prst="rect">
            <a:avLst/>
          </a:prstGeom>
        </p:spPr>
      </p:pic>
      <p:graphicFrame>
        <p:nvGraphicFramePr>
          <p:cNvPr id="2" name="Table 1">
            <a:extLst>
              <a:ext uri="{FF2B5EF4-FFF2-40B4-BE49-F238E27FC236}">
                <a16:creationId xmlns:a16="http://schemas.microsoft.com/office/drawing/2014/main" id="{FC59A212-E09D-57B0-E863-B432D5DC5886}"/>
              </a:ext>
            </a:extLst>
          </p:cNvPr>
          <p:cNvGraphicFramePr>
            <a:graphicFrameLocks noGrp="1"/>
          </p:cNvGraphicFramePr>
          <p:nvPr>
            <p:extLst>
              <p:ext uri="{D42A27DB-BD31-4B8C-83A1-F6EECF244321}">
                <p14:modId xmlns:p14="http://schemas.microsoft.com/office/powerpoint/2010/main" val="3347284785"/>
              </p:ext>
            </p:extLst>
          </p:nvPr>
        </p:nvGraphicFramePr>
        <p:xfrm>
          <a:off x="578734" y="973394"/>
          <a:ext cx="10903350" cy="5207487"/>
        </p:xfrm>
        <a:graphic>
          <a:graphicData uri="http://schemas.openxmlformats.org/drawingml/2006/table">
            <a:tbl>
              <a:tblPr/>
              <a:tblGrid>
                <a:gridCol w="3634450">
                  <a:extLst>
                    <a:ext uri="{9D8B030D-6E8A-4147-A177-3AD203B41FA5}">
                      <a16:colId xmlns:a16="http://schemas.microsoft.com/office/drawing/2014/main" val="4061101483"/>
                    </a:ext>
                  </a:extLst>
                </a:gridCol>
                <a:gridCol w="3634450">
                  <a:extLst>
                    <a:ext uri="{9D8B030D-6E8A-4147-A177-3AD203B41FA5}">
                      <a16:colId xmlns:a16="http://schemas.microsoft.com/office/drawing/2014/main" val="1499037303"/>
                    </a:ext>
                  </a:extLst>
                </a:gridCol>
                <a:gridCol w="3634450">
                  <a:extLst>
                    <a:ext uri="{9D8B030D-6E8A-4147-A177-3AD203B41FA5}">
                      <a16:colId xmlns:a16="http://schemas.microsoft.com/office/drawing/2014/main" val="1240095816"/>
                    </a:ext>
                  </a:extLst>
                </a:gridCol>
              </a:tblGrid>
              <a:tr h="228901">
                <a:tc>
                  <a:txBody>
                    <a:bodyPr/>
                    <a:lstStyle/>
                    <a:p>
                      <a:pPr>
                        <a:buNone/>
                      </a:pPr>
                      <a:r>
                        <a:rPr lang="en-IN" sz="900" b="1" dirty="0"/>
                        <a:t>Existing Research / Approach</a:t>
                      </a:r>
                      <a:endParaRPr lang="en-IN" sz="900" dirty="0"/>
                    </a:p>
                  </a:txBody>
                  <a:tcPr marL="47817" marR="47817" marT="23908" marB="239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buNone/>
                      </a:pPr>
                      <a:r>
                        <a:rPr lang="en-IN" sz="900" b="1" dirty="0"/>
                        <a:t>Research Gap Identified</a:t>
                      </a:r>
                      <a:endParaRPr lang="en-IN" sz="900" dirty="0"/>
                    </a:p>
                  </a:txBody>
                  <a:tcPr marL="47817" marR="47817" marT="23908" marB="239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buNone/>
                      </a:pPr>
                      <a:r>
                        <a:rPr lang="en-IN" sz="900" b="1" dirty="0"/>
                        <a:t>Our Proposed Solution</a:t>
                      </a:r>
                      <a:endParaRPr lang="en-IN" sz="900" dirty="0"/>
                    </a:p>
                  </a:txBody>
                  <a:tcPr marL="47817" marR="47817" marT="23908" marB="239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543147572"/>
                  </a:ext>
                </a:extLst>
              </a:tr>
              <a:tr h="1773979">
                <a:tc>
                  <a:txBody>
                    <a:bodyPr/>
                    <a:lstStyle/>
                    <a:p>
                      <a:pPr>
                        <a:buNone/>
                      </a:pPr>
                      <a:r>
                        <a:rPr lang="en-IN" sz="1200" b="1" dirty="0">
                          <a:latin typeface="Times New Roman" panose="02020603050405020304" pitchFamily="18" charset="0"/>
                          <a:cs typeface="Times New Roman" panose="02020603050405020304" pitchFamily="18" charset="0"/>
                        </a:rPr>
                        <a:t>1. Continuous AI-Based Battery Monitoring</a:t>
                      </a:r>
                      <a:r>
                        <a:rPr lang="en-IN" sz="1200" dirty="0">
                          <a:latin typeface="Times New Roman" panose="02020603050405020304" pitchFamily="18" charset="0"/>
                          <a:cs typeface="Times New Roman" panose="02020603050405020304" pitchFamily="18" charset="0"/>
                        </a:rPr>
                        <a:t> – Existing AI-based BMS approaches use ML/DL models such as LSTM, Transformer, Autoencoder, and other models for continuous battery state estimation and anomaly detection.</a:t>
                      </a:r>
                    </a:p>
                  </a:txBody>
                  <a:tcPr marL="47817" marR="47817" marT="23908" marB="239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a:buNone/>
                      </a:pPr>
                      <a:r>
                        <a:rPr lang="en-IN" sz="1200" dirty="0">
                          <a:latin typeface="Times New Roman" panose="02020603050405020304" pitchFamily="18" charset="0"/>
                          <a:cs typeface="Times New Roman" panose="02020603050405020304" pitchFamily="18" charset="0"/>
                        </a:rPr>
                        <a:t>Continuous execution of AI models can cause unnecessary </a:t>
                      </a:r>
                      <a:r>
                        <a:rPr lang="en-IN" sz="1200" b="1" dirty="0">
                          <a:latin typeface="Times New Roman" panose="02020603050405020304" pitchFamily="18" charset="0"/>
                          <a:cs typeface="Times New Roman" panose="02020603050405020304" pitchFamily="18" charset="0"/>
                        </a:rPr>
                        <a:t>computational, memory, and energy overhead</a:t>
                      </a:r>
                      <a:r>
                        <a:rPr lang="en-IN" sz="1200" dirty="0">
                          <a:latin typeface="Times New Roman" panose="02020603050405020304" pitchFamily="18" charset="0"/>
                          <a:cs typeface="Times New Roman" panose="02020603050405020304" pitchFamily="18" charset="0"/>
                        </a:rPr>
                        <a:t>, particularly on resource-constrained embedded BMS platforms. Existing approaches mainly focus on improving model accuracy rather than deciding </a:t>
                      </a:r>
                      <a:r>
                        <a:rPr lang="en-IN" sz="1200" b="1" dirty="0">
                          <a:latin typeface="Times New Roman" panose="02020603050405020304" pitchFamily="18" charset="0"/>
                          <a:cs typeface="Times New Roman" panose="02020603050405020304" pitchFamily="18" charset="0"/>
                        </a:rPr>
                        <a:t>when AI inference is actually required</a:t>
                      </a:r>
                      <a:r>
                        <a:rPr lang="en-IN" sz="1200" dirty="0">
                          <a:latin typeface="Times New Roman" panose="02020603050405020304" pitchFamily="18" charset="0"/>
                          <a:cs typeface="Times New Roman" panose="02020603050405020304" pitchFamily="18" charset="0"/>
                        </a:rPr>
                        <a:t>.</a:t>
                      </a:r>
                    </a:p>
                  </a:txBody>
                  <a:tcPr marL="47817" marR="47817" marT="23908" marB="239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a:buNone/>
                      </a:pPr>
                      <a:r>
                        <a:rPr lang="en-IN" sz="1200" b="1" dirty="0">
                          <a:latin typeface="Times New Roman" panose="02020603050405020304" pitchFamily="18" charset="0"/>
                          <a:cs typeface="Times New Roman" panose="02020603050405020304" pitchFamily="18" charset="0"/>
                        </a:rPr>
                        <a:t>Event-Triggered AI Inference</a:t>
                      </a:r>
                      <a:r>
                        <a:rPr lang="en-IN" sz="1200" dirty="0">
                          <a:latin typeface="Times New Roman" panose="02020603050405020304" pitchFamily="18" charset="0"/>
                          <a:cs typeface="Times New Roman" panose="02020603050405020304" pitchFamily="18" charset="0"/>
                        </a:rPr>
                        <a:t> – A lightweight screening mechanism continuously monitors battery parameters and activates the AI model only when suspicious battery </a:t>
                      </a:r>
                      <a:r>
                        <a:rPr lang="en-IN" sz="1200" dirty="0" err="1">
                          <a:latin typeface="Times New Roman" panose="02020603050405020304" pitchFamily="18" charset="0"/>
                          <a:cs typeface="Times New Roman" panose="02020603050405020304" pitchFamily="18" charset="0"/>
                        </a:rPr>
                        <a:t>behavior</a:t>
                      </a:r>
                      <a:r>
                        <a:rPr lang="en-IN" sz="1200" dirty="0">
                          <a:latin typeface="Times New Roman" panose="02020603050405020304" pitchFamily="18" charset="0"/>
                          <a:cs typeface="Times New Roman" panose="02020603050405020304" pitchFamily="18" charset="0"/>
                        </a:rPr>
                        <a:t> is detected, reducing unnecessary AI inference.</a:t>
                      </a:r>
                    </a:p>
                  </a:txBody>
                  <a:tcPr marL="47817" marR="47817" marT="23908" marB="239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extLst>
                  <a:ext uri="{0D108BD9-81ED-4DB2-BD59-A6C34878D82A}">
                    <a16:rowId xmlns:a16="http://schemas.microsoft.com/office/drawing/2014/main" val="468024174"/>
                  </a:ext>
                </a:extLst>
              </a:tr>
              <a:tr h="1430628">
                <a:tc>
                  <a:txBody>
                    <a:bodyPr/>
                    <a:lstStyle/>
                    <a:p>
                      <a:pPr>
                        <a:buNone/>
                      </a:pPr>
                      <a:r>
                        <a:rPr lang="en-IN" sz="1200" b="1">
                          <a:latin typeface="Times New Roman" panose="02020603050405020304" pitchFamily="18" charset="0"/>
                          <a:cs typeface="Times New Roman" panose="02020603050405020304" pitchFamily="18" charset="0"/>
                        </a:rPr>
                        <a:t>2. Direct AI-Based Battery Decision Making</a:t>
                      </a:r>
                      <a:r>
                        <a:rPr lang="en-IN" sz="1200">
                          <a:latin typeface="Times New Roman" panose="02020603050405020304" pitchFamily="18" charset="0"/>
                          <a:cs typeface="Times New Roman" panose="02020603050405020304" pitchFamily="18" charset="0"/>
                        </a:rPr>
                        <a:t> – Many existing systems process battery parameters through an ML/DL model and directly generate a prediction or fault classification.</a:t>
                      </a:r>
                    </a:p>
                  </a:txBody>
                  <a:tcPr marL="47817" marR="47817" marT="23908" marB="239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latin typeface="Times New Roman" panose="02020603050405020304" pitchFamily="18" charset="0"/>
                          <a:cs typeface="Times New Roman" panose="02020603050405020304" pitchFamily="18" charset="0"/>
                        </a:rPr>
                        <a:t>There is limited separation between </a:t>
                      </a:r>
                      <a:r>
                        <a:rPr lang="en-IN" sz="1200" b="1">
                          <a:latin typeface="Times New Roman" panose="02020603050405020304" pitchFamily="18" charset="0"/>
                          <a:cs typeface="Times New Roman" panose="02020603050405020304" pitchFamily="18" charset="0"/>
                        </a:rPr>
                        <a:t>fast real-time safety monitoring</a:t>
                      </a:r>
                      <a:r>
                        <a:rPr lang="en-IN" sz="1200">
                          <a:latin typeface="Times New Roman" panose="02020603050405020304" pitchFamily="18" charset="0"/>
                          <a:cs typeface="Times New Roman" panose="02020603050405020304" pitchFamily="18" charset="0"/>
                        </a:rPr>
                        <a:t> and computationally intensive AI-based verification. A temporary abnormal reading may also be incorrectly treated as a persistent fault if temporal behavior is not considered.</a:t>
                      </a:r>
                    </a:p>
                  </a:txBody>
                  <a:tcPr marL="47817" marR="47817" marT="23908" marB="239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b="1">
                          <a:latin typeface="Times New Roman" panose="02020603050405020304" pitchFamily="18" charset="0"/>
                          <a:cs typeface="Times New Roman" panose="02020603050405020304" pitchFamily="18" charset="0"/>
                        </a:rPr>
                        <a:t>Two-Level Battery Decision System</a:t>
                      </a:r>
                      <a:r>
                        <a:rPr lang="en-IN" sz="1200">
                          <a:latin typeface="Times New Roman" panose="02020603050405020304" pitchFamily="18" charset="0"/>
                          <a:cs typeface="Times New Roman" panose="02020603050405020304" pitchFamily="18" charset="0"/>
                        </a:rPr>
                        <a:t> – Level 1 performs fast screening using battery parameters and trends, while Level 2 activates AI for detailed verification before generating the final battery-risk state.</a:t>
                      </a:r>
                    </a:p>
                  </a:txBody>
                  <a:tcPr marL="47817" marR="47817" marT="23908" marB="239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37096993"/>
                  </a:ext>
                </a:extLst>
              </a:tr>
              <a:tr h="1773979">
                <a:tc>
                  <a:txBody>
                    <a:bodyPr/>
                    <a:lstStyle/>
                    <a:p>
                      <a:pPr>
                        <a:buNone/>
                      </a:pPr>
                      <a:r>
                        <a:rPr lang="en-IN" sz="1200" b="1" dirty="0">
                          <a:latin typeface="Times New Roman" panose="02020603050405020304" pitchFamily="18" charset="0"/>
                          <a:cs typeface="Times New Roman" panose="02020603050405020304" pitchFamily="18" charset="0"/>
                        </a:rPr>
                        <a:t>3. Fixed BMS Control / Response Strategies</a:t>
                      </a:r>
                      <a:r>
                        <a:rPr lang="en-IN" sz="1200" dirty="0">
                          <a:latin typeface="Times New Roman" panose="02020603050405020304" pitchFamily="18" charset="0"/>
                          <a:cs typeface="Times New Roman" panose="02020603050405020304" pitchFamily="18" charset="0"/>
                        </a:rPr>
                        <a:t> – Conventional BMS systems generally associate predefined thresholds or detected faults with fixed responses such as warning or protection.</a:t>
                      </a:r>
                    </a:p>
                  </a:txBody>
                  <a:tcPr marL="47817" marR="47817" marT="23908" marB="239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a:buNone/>
                      </a:pPr>
                      <a:r>
                        <a:rPr lang="en-IN" sz="1200" dirty="0">
                          <a:latin typeface="Times New Roman" panose="02020603050405020304" pitchFamily="18" charset="0"/>
                          <a:cs typeface="Times New Roman" panose="02020603050405020304" pitchFamily="18" charset="0"/>
                        </a:rPr>
                        <a:t>Fixed responses provide limited </a:t>
                      </a:r>
                      <a:r>
                        <a:rPr lang="en-IN" sz="1200" b="1" dirty="0">
                          <a:latin typeface="Times New Roman" panose="02020603050405020304" pitchFamily="18" charset="0"/>
                          <a:cs typeface="Times New Roman" panose="02020603050405020304" pitchFamily="18" charset="0"/>
                        </a:rPr>
                        <a:t>software flexibility and adaptability</a:t>
                      </a:r>
                      <a:r>
                        <a:rPr lang="en-IN" sz="1200" dirty="0">
                          <a:latin typeface="Times New Roman" panose="02020603050405020304" pitchFamily="18" charset="0"/>
                          <a:cs typeface="Times New Roman" panose="02020603050405020304" pitchFamily="18" charset="0"/>
                        </a:rPr>
                        <a:t> for different battery conditions, operating modes, and Software-Defined Vehicle requirements. The connection between AI-derived battery risk and configurable vehicle-level actions is not sufficiently addressed.</a:t>
                      </a:r>
                    </a:p>
                  </a:txBody>
                  <a:tcPr marL="47817" marR="47817" marT="23908" marB="239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a:buNone/>
                      </a:pPr>
                      <a:r>
                        <a:rPr lang="en-IN" sz="1200" b="1" dirty="0">
                          <a:latin typeface="Times New Roman" panose="02020603050405020304" pitchFamily="18" charset="0"/>
                          <a:cs typeface="Times New Roman" panose="02020603050405020304" pitchFamily="18" charset="0"/>
                        </a:rPr>
                        <a:t>Software-Defined Risk Policy</a:t>
                      </a:r>
                      <a:r>
                        <a:rPr lang="en-IN" sz="1200" dirty="0">
                          <a:latin typeface="Times New Roman" panose="02020603050405020304" pitchFamily="18" charset="0"/>
                          <a:cs typeface="Times New Roman" panose="02020603050405020304" pitchFamily="18" charset="0"/>
                        </a:rPr>
                        <a:t> – The detected battery risk is passed to a configurable software policy that dynamically determines actions such as normal operation, warning, charging restriction, power limitation, or critical protection.</a:t>
                      </a:r>
                    </a:p>
                  </a:txBody>
                  <a:tcPr marL="47817" marR="47817" marT="23908" marB="239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extLst>
                  <a:ext uri="{0D108BD9-81ED-4DB2-BD59-A6C34878D82A}">
                    <a16:rowId xmlns:a16="http://schemas.microsoft.com/office/drawing/2014/main" val="4243387076"/>
                  </a:ext>
                </a:extLst>
              </a:tr>
            </a:tbl>
          </a:graphicData>
        </a:graphic>
      </p:graphicFrame>
      <p:sp>
        <p:nvSpPr>
          <p:cNvPr id="4" name="Slide Number Placeholder 3">
            <a:extLst>
              <a:ext uri="{FF2B5EF4-FFF2-40B4-BE49-F238E27FC236}">
                <a16:creationId xmlns:a16="http://schemas.microsoft.com/office/drawing/2014/main" id="{09D0E8C4-3D5D-B84C-F581-965F2E6AF33F}"/>
              </a:ext>
            </a:extLst>
          </p:cNvPr>
          <p:cNvSpPr>
            <a:spLocks noGrp="1"/>
          </p:cNvSpPr>
          <p:nvPr>
            <p:ph type="sldNum" sz="quarter" idx="12"/>
          </p:nvPr>
        </p:nvSpPr>
        <p:spPr/>
        <p:txBody>
          <a:bodyPr/>
          <a:lstStyle/>
          <a:p>
            <a:fld id="{E639234F-78F1-4984-9C4D-D4C7AB587871}" type="slidenum">
              <a:rPr lang="en-US" smtClean="0"/>
              <a:t>6</a:t>
            </a:fld>
            <a:endParaRPr lang="en-US"/>
          </a:p>
        </p:txBody>
      </p:sp>
      <p:sp>
        <p:nvSpPr>
          <p:cNvPr id="6" name="Footer Placeholder 5">
            <a:extLst>
              <a:ext uri="{FF2B5EF4-FFF2-40B4-BE49-F238E27FC236}">
                <a16:creationId xmlns:a16="http://schemas.microsoft.com/office/drawing/2014/main" id="{1F13E3CA-BDEE-64D2-06CD-DABF09C161D6}"/>
              </a:ext>
            </a:extLst>
          </p:cNvPr>
          <p:cNvSpPr>
            <a:spLocks noGrp="1"/>
          </p:cNvSpPr>
          <p:nvPr>
            <p:ph type="ftr" sz="quarter" idx="11"/>
          </p:nvPr>
        </p:nvSpPr>
        <p:spPr/>
        <p:txBody>
          <a:bodyPr/>
          <a:lstStyle/>
          <a:p>
            <a:r>
              <a:rPr lang="en-US"/>
              <a:t>RTOS REVIEW-1</a:t>
            </a:r>
          </a:p>
        </p:txBody>
      </p:sp>
    </p:spTree>
    <p:extLst>
      <p:ext uri="{BB962C8B-B14F-4D97-AF65-F5344CB8AC3E}">
        <p14:creationId xmlns:p14="http://schemas.microsoft.com/office/powerpoint/2010/main" val="20658760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6A020E-9785-0A50-C3B0-22EC2BD9D7FF}"/>
              </a:ext>
            </a:extLst>
          </p:cNvPr>
          <p:cNvSpPr>
            <a:spLocks noGrp="1"/>
          </p:cNvSpPr>
          <p:nvPr>
            <p:ph type="title"/>
          </p:nvPr>
        </p:nvSpPr>
        <p:spPr>
          <a:xfrm>
            <a:off x="838200" y="365125"/>
            <a:ext cx="10331370" cy="757619"/>
          </a:xfrm>
        </p:spPr>
        <p:txBody>
          <a:bodyPr/>
          <a:lstStyle/>
          <a:p>
            <a:pPr algn="ctr"/>
            <a:r>
              <a:rPr lang="en-US" b="1" dirty="0">
                <a:solidFill>
                  <a:srgbClr val="FF0000"/>
                </a:solidFill>
              </a:rPr>
              <a:t>Novelty</a:t>
            </a:r>
            <a:endParaRPr lang="en-IN" dirty="0"/>
          </a:p>
        </p:txBody>
      </p:sp>
      <p:sp>
        <p:nvSpPr>
          <p:cNvPr id="3" name="Content Placeholder 2">
            <a:extLst>
              <a:ext uri="{FF2B5EF4-FFF2-40B4-BE49-F238E27FC236}">
                <a16:creationId xmlns:a16="http://schemas.microsoft.com/office/drawing/2014/main" id="{B97BFDD8-4DA8-96F4-FEC5-A88387331189}"/>
              </a:ext>
            </a:extLst>
          </p:cNvPr>
          <p:cNvSpPr>
            <a:spLocks noGrp="1"/>
          </p:cNvSpPr>
          <p:nvPr>
            <p:ph idx="1"/>
          </p:nvPr>
        </p:nvSpPr>
        <p:spPr>
          <a:xfrm>
            <a:off x="838200" y="1226916"/>
            <a:ext cx="10515600" cy="4950047"/>
          </a:xfrm>
        </p:spPr>
        <p:txBody>
          <a:bodyPr>
            <a:normAutofit fontScale="92500" lnSpcReduction="20000"/>
          </a:bodyPr>
          <a:lstStyle/>
          <a:p>
            <a:pPr marL="514350" lvl="0" indent="-514350">
              <a:lnSpc>
                <a:spcPct val="150000"/>
              </a:lnSpc>
              <a:buFont typeface="+mj-lt"/>
              <a:buAutoNum type="arabicPeriod"/>
            </a:pPr>
            <a:r>
              <a:rPr lang="en-IN" sz="1600" b="1" dirty="0">
                <a:latin typeface="Times New Roman" panose="02020603050405020304" pitchFamily="18" charset="0"/>
                <a:cs typeface="Times New Roman" panose="02020603050405020304" pitchFamily="18" charset="0"/>
              </a:rPr>
              <a:t>Event-Triggered AI Inference:</a:t>
            </a:r>
            <a:br>
              <a:rPr lang="en-IN" sz="1600" b="1"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 The proposed BMS continuously monitors battery parameters using a lightweight screening mechanism and triggers the AI model only when suspicious battery </a:t>
            </a:r>
            <a:r>
              <a:rPr lang="en-IN" sz="1600" dirty="0" err="1">
                <a:latin typeface="Times New Roman" panose="02020603050405020304" pitchFamily="18" charset="0"/>
                <a:cs typeface="Times New Roman" panose="02020603050405020304" pitchFamily="18" charset="0"/>
              </a:rPr>
              <a:t>behavior</a:t>
            </a:r>
            <a:r>
              <a:rPr lang="en-IN" sz="1600" dirty="0">
                <a:latin typeface="Times New Roman" panose="02020603050405020304" pitchFamily="18" charset="0"/>
                <a:cs typeface="Times New Roman" panose="02020603050405020304" pitchFamily="18" charset="0"/>
              </a:rPr>
              <a:t> is detected. This reduces unnecessary AI computation while maintaining intelligent anomaly detection. </a:t>
            </a:r>
          </a:p>
          <a:p>
            <a:pPr marL="514350" lvl="0" indent="-514350">
              <a:lnSpc>
                <a:spcPct val="150000"/>
              </a:lnSpc>
              <a:buFont typeface="+mj-lt"/>
              <a:buAutoNum type="arabicPeriod"/>
            </a:pPr>
            <a:r>
              <a:rPr lang="en-IN" sz="1600" b="1" dirty="0">
                <a:latin typeface="Times New Roman" panose="02020603050405020304" pitchFamily="18" charset="0"/>
                <a:cs typeface="Times New Roman" panose="02020603050405020304" pitchFamily="18" charset="0"/>
              </a:rPr>
              <a:t>Two-Level Battery Decision System:</a:t>
            </a:r>
            <a:br>
              <a:rPr lang="en-IN" sz="1600" b="1"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 The system uses two levels of decision-making: </a:t>
            </a:r>
            <a:r>
              <a:rPr lang="en-IN" sz="1600" b="1" dirty="0">
                <a:latin typeface="Times New Roman" panose="02020603050405020304" pitchFamily="18" charset="0"/>
                <a:cs typeface="Times New Roman" panose="02020603050405020304" pitchFamily="18" charset="0"/>
              </a:rPr>
              <a:t>Level 1</a:t>
            </a:r>
            <a:r>
              <a:rPr lang="en-IN" sz="1600" dirty="0">
                <a:latin typeface="Times New Roman" panose="02020603050405020304" pitchFamily="18" charset="0"/>
                <a:cs typeface="Times New Roman" panose="02020603050405020304" pitchFamily="18" charset="0"/>
              </a:rPr>
              <a:t> performs fast screening of voltage, current, temperature, and SOC trends, while </a:t>
            </a:r>
            <a:r>
              <a:rPr lang="en-IN" sz="1600" b="1" dirty="0">
                <a:latin typeface="Times New Roman" panose="02020603050405020304" pitchFamily="18" charset="0"/>
                <a:cs typeface="Times New Roman" panose="02020603050405020304" pitchFamily="18" charset="0"/>
              </a:rPr>
              <a:t>Level 2</a:t>
            </a:r>
            <a:r>
              <a:rPr lang="en-IN" sz="1600" dirty="0">
                <a:latin typeface="Times New Roman" panose="02020603050405020304" pitchFamily="18" charset="0"/>
                <a:cs typeface="Times New Roman" panose="02020603050405020304" pitchFamily="18" charset="0"/>
              </a:rPr>
              <a:t> uses AI to verify suspicious conditions before determining the battery-risk state. </a:t>
            </a:r>
          </a:p>
          <a:p>
            <a:pPr marL="514350" lvl="0" indent="-514350">
              <a:lnSpc>
                <a:spcPct val="150000"/>
              </a:lnSpc>
              <a:buFont typeface="+mj-lt"/>
              <a:buAutoNum type="arabicPeriod"/>
            </a:pPr>
            <a:r>
              <a:rPr lang="en-IN" sz="1600" b="1" dirty="0">
                <a:latin typeface="Times New Roman" panose="02020603050405020304" pitchFamily="18" charset="0"/>
                <a:cs typeface="Times New Roman" panose="02020603050405020304" pitchFamily="18" charset="0"/>
              </a:rPr>
              <a:t>Software-Defined Risk Policy:</a:t>
            </a:r>
            <a:br>
              <a:rPr lang="en-IN" sz="1600" b="1"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 Instead of using fixed responses for battery abnormalities, the proposed system converts the detected risk into a configurable software policy. Depending on the risk level, it can generate actions such as </a:t>
            </a:r>
            <a:r>
              <a:rPr lang="en-IN" sz="1600" b="1" dirty="0">
                <a:latin typeface="Times New Roman" panose="02020603050405020304" pitchFamily="18" charset="0"/>
                <a:cs typeface="Times New Roman" panose="02020603050405020304" pitchFamily="18" charset="0"/>
              </a:rPr>
              <a:t>normal operation, warning, charging restriction, power limitation, or protection</a:t>
            </a:r>
            <a:r>
              <a:rPr lang="en-IN" sz="1600" dirty="0">
                <a:latin typeface="Times New Roman" panose="02020603050405020304" pitchFamily="18" charset="0"/>
                <a:cs typeface="Times New Roman" panose="02020603050405020304" pitchFamily="18" charset="0"/>
              </a:rPr>
              <a:t>. </a:t>
            </a:r>
          </a:p>
          <a:p>
            <a:pPr marL="0" indent="0">
              <a:lnSpc>
                <a:spcPct val="150000"/>
              </a:lnSpc>
              <a:buNone/>
            </a:pPr>
            <a:r>
              <a:rPr lang="en-IN" sz="1600" b="1" dirty="0">
                <a:latin typeface="Times New Roman" panose="02020603050405020304" pitchFamily="18" charset="0"/>
                <a:cs typeface="Times New Roman" panose="02020603050405020304" pitchFamily="18" charset="0"/>
              </a:rPr>
              <a:t>Overall Novelty</a:t>
            </a:r>
          </a:p>
          <a:p>
            <a:pPr marL="0" indent="0">
              <a:lnSpc>
                <a:spcPct val="150000"/>
              </a:lnSpc>
              <a:buNone/>
            </a:pPr>
            <a:r>
              <a:rPr lang="en-IN" sz="1600" dirty="0">
                <a:latin typeface="Times New Roman" panose="02020603050405020304" pitchFamily="18" charset="0"/>
                <a:cs typeface="Times New Roman" panose="02020603050405020304" pitchFamily="18" charset="0"/>
              </a:rPr>
              <a:t>The project proposes a flexible BMS architecture that combines </a:t>
            </a:r>
            <a:r>
              <a:rPr lang="en-IN" sz="1600" b="1" dirty="0">
                <a:latin typeface="Times New Roman" panose="02020603050405020304" pitchFamily="18" charset="0"/>
                <a:cs typeface="Times New Roman" panose="02020603050405020304" pitchFamily="18" charset="0"/>
              </a:rPr>
              <a:t>event-triggered AI, two-level decision-making, and software-configurable risk handling</a:t>
            </a:r>
            <a:r>
              <a:rPr lang="en-IN" sz="1600" dirty="0">
                <a:latin typeface="Times New Roman" panose="02020603050405020304" pitchFamily="18" charset="0"/>
                <a:cs typeface="Times New Roman" panose="02020603050405020304" pitchFamily="18" charset="0"/>
              </a:rPr>
              <a:t> to provide intelligent and adaptive battery management for Software-Defined EVs.</a:t>
            </a:r>
          </a:p>
          <a:p>
            <a:endParaRPr lang="en-IN" dirty="0"/>
          </a:p>
        </p:txBody>
      </p:sp>
      <p:sp>
        <p:nvSpPr>
          <p:cNvPr id="7" name="Slide Number Placeholder 6">
            <a:extLst>
              <a:ext uri="{FF2B5EF4-FFF2-40B4-BE49-F238E27FC236}">
                <a16:creationId xmlns:a16="http://schemas.microsoft.com/office/drawing/2014/main" id="{7B03EB51-2307-6F60-11BF-CFDBB5753D84}"/>
              </a:ext>
            </a:extLst>
          </p:cNvPr>
          <p:cNvSpPr>
            <a:spLocks noGrp="1"/>
          </p:cNvSpPr>
          <p:nvPr>
            <p:ph type="sldNum" sz="quarter" idx="12"/>
          </p:nvPr>
        </p:nvSpPr>
        <p:spPr/>
        <p:txBody>
          <a:bodyPr/>
          <a:lstStyle/>
          <a:p>
            <a:fld id="{E639234F-78F1-4984-9C4D-D4C7AB587871}" type="slidenum">
              <a:rPr lang="en-US" smtClean="0"/>
              <a:t>7</a:t>
            </a:fld>
            <a:endParaRPr lang="en-US"/>
          </a:p>
        </p:txBody>
      </p:sp>
      <p:sp>
        <p:nvSpPr>
          <p:cNvPr id="8" name="Footer Placeholder 7">
            <a:extLst>
              <a:ext uri="{FF2B5EF4-FFF2-40B4-BE49-F238E27FC236}">
                <a16:creationId xmlns:a16="http://schemas.microsoft.com/office/drawing/2014/main" id="{9A533516-1DA0-E771-6B82-D9C9CDF0B662}"/>
              </a:ext>
            </a:extLst>
          </p:cNvPr>
          <p:cNvSpPr>
            <a:spLocks noGrp="1"/>
          </p:cNvSpPr>
          <p:nvPr>
            <p:ph type="ftr" sz="quarter" idx="11"/>
          </p:nvPr>
        </p:nvSpPr>
        <p:spPr/>
        <p:txBody>
          <a:bodyPr/>
          <a:lstStyle/>
          <a:p>
            <a:r>
              <a:rPr lang="en-US"/>
              <a:t>RTOS REVIEW-1</a:t>
            </a:r>
          </a:p>
        </p:txBody>
      </p:sp>
    </p:spTree>
    <p:extLst>
      <p:ext uri="{BB962C8B-B14F-4D97-AF65-F5344CB8AC3E}">
        <p14:creationId xmlns:p14="http://schemas.microsoft.com/office/powerpoint/2010/main" val="34859649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08FDC9-6110-0AE9-BEA9-EC2DD24D1D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28B97B-83FC-56E0-6E47-DFE56FB16ED7}"/>
              </a:ext>
            </a:extLst>
          </p:cNvPr>
          <p:cNvSpPr>
            <a:spLocks noGrp="1"/>
          </p:cNvSpPr>
          <p:nvPr>
            <p:ph type="title"/>
          </p:nvPr>
        </p:nvSpPr>
        <p:spPr>
          <a:xfrm>
            <a:off x="838200" y="365125"/>
            <a:ext cx="10331370" cy="757619"/>
          </a:xfrm>
        </p:spPr>
        <p:txBody>
          <a:bodyPr/>
          <a:lstStyle/>
          <a:p>
            <a:pPr algn="ctr"/>
            <a:r>
              <a:rPr lang="en-IN" b="1" dirty="0">
                <a:solidFill>
                  <a:srgbClr val="FF0000"/>
                </a:solidFill>
              </a:rPr>
              <a:t>Tech Stack (Hardware)</a:t>
            </a:r>
          </a:p>
        </p:txBody>
      </p:sp>
      <p:graphicFrame>
        <p:nvGraphicFramePr>
          <p:cNvPr id="4" name="Content Placeholder 3" descr="ESP32 DevKit&#10;">
            <a:extLst>
              <a:ext uri="{FF2B5EF4-FFF2-40B4-BE49-F238E27FC236}">
                <a16:creationId xmlns:a16="http://schemas.microsoft.com/office/drawing/2014/main" id="{DBD7D343-BBE5-7376-29AD-52B1273339D4}"/>
              </a:ext>
            </a:extLst>
          </p:cNvPr>
          <p:cNvGraphicFramePr>
            <a:graphicFrameLocks noGrp="1"/>
          </p:cNvGraphicFramePr>
          <p:nvPr>
            <p:ph idx="1"/>
            <p:extLst>
              <p:ext uri="{D42A27DB-BD31-4B8C-83A1-F6EECF244321}">
                <p14:modId xmlns:p14="http://schemas.microsoft.com/office/powerpoint/2010/main" val="2766658020"/>
              </p:ext>
            </p:extLst>
          </p:nvPr>
        </p:nvGraphicFramePr>
        <p:xfrm>
          <a:off x="2345289" y="1117029"/>
          <a:ext cx="7713406" cy="4301152"/>
        </p:xfrm>
        <a:graphic>
          <a:graphicData uri="http://schemas.openxmlformats.org/drawingml/2006/table">
            <a:tbl>
              <a:tblPr>
                <a:tableStyleId>{5940675A-B579-460E-94D1-54222C63F5DA}</a:tableStyleId>
              </a:tblPr>
              <a:tblGrid>
                <a:gridCol w="3856703">
                  <a:extLst>
                    <a:ext uri="{9D8B030D-6E8A-4147-A177-3AD203B41FA5}">
                      <a16:colId xmlns:a16="http://schemas.microsoft.com/office/drawing/2014/main" val="2262257276"/>
                    </a:ext>
                  </a:extLst>
                </a:gridCol>
                <a:gridCol w="3856703">
                  <a:extLst>
                    <a:ext uri="{9D8B030D-6E8A-4147-A177-3AD203B41FA5}">
                      <a16:colId xmlns:a16="http://schemas.microsoft.com/office/drawing/2014/main" val="1241939705"/>
                    </a:ext>
                  </a:extLst>
                </a:gridCol>
              </a:tblGrid>
              <a:tr h="363417">
                <a:tc>
                  <a:txBody>
                    <a:bodyPr/>
                    <a:lstStyle/>
                    <a:p>
                      <a:pPr>
                        <a:buNone/>
                      </a:pPr>
                      <a:r>
                        <a:rPr lang="en-IN" b="1" dirty="0">
                          <a:latin typeface="Times New Roman" panose="02020603050405020304" pitchFamily="18" charset="0"/>
                          <a:cs typeface="Times New Roman" panose="02020603050405020304" pitchFamily="18" charset="0"/>
                        </a:rPr>
                        <a:t>Component</a:t>
                      </a:r>
                    </a:p>
                  </a:txBody>
                  <a:tcPr anchor="ctr"/>
                </a:tc>
                <a:tc>
                  <a:txBody>
                    <a:bodyPr/>
                    <a:lstStyle/>
                    <a:p>
                      <a:pPr>
                        <a:buNone/>
                      </a:pPr>
                      <a:r>
                        <a:rPr lang="en-IN" b="1" dirty="0">
                          <a:latin typeface="Times New Roman" panose="02020603050405020304" pitchFamily="18" charset="0"/>
                          <a:cs typeface="Times New Roman" panose="02020603050405020304" pitchFamily="18" charset="0"/>
                        </a:rPr>
                        <a:t>Suggested choice</a:t>
                      </a:r>
                    </a:p>
                  </a:txBody>
                  <a:tcPr anchor="ctr"/>
                </a:tc>
                <a:extLst>
                  <a:ext uri="{0D108BD9-81ED-4DB2-BD59-A6C34878D82A}">
                    <a16:rowId xmlns:a16="http://schemas.microsoft.com/office/drawing/2014/main" val="3235032673"/>
                  </a:ext>
                </a:extLst>
              </a:tr>
              <a:tr h="363417">
                <a:tc>
                  <a:txBody>
                    <a:bodyPr/>
                    <a:lstStyle/>
                    <a:p>
                      <a:pPr>
                        <a:buNone/>
                      </a:pPr>
                      <a:r>
                        <a:rPr lang="en-IN" b="1" dirty="0">
                          <a:latin typeface="Times New Roman" panose="02020603050405020304" pitchFamily="18" charset="0"/>
                          <a:cs typeface="Times New Roman" panose="02020603050405020304" pitchFamily="18" charset="0"/>
                        </a:rPr>
                        <a:t>Microcontroller</a:t>
                      </a:r>
                      <a:endParaRPr lang="en-IN" dirty="0">
                        <a:latin typeface="Times New Roman" panose="02020603050405020304" pitchFamily="18" charset="0"/>
                        <a:cs typeface="Times New Roman" panose="02020603050405020304" pitchFamily="18" charset="0"/>
                      </a:endParaRPr>
                    </a:p>
                  </a:txBody>
                  <a:tcPr anchor="ctr"/>
                </a:tc>
                <a:tc>
                  <a:txBody>
                    <a:bodyPr/>
                    <a:lstStyle/>
                    <a:p>
                      <a:pPr>
                        <a:buNone/>
                      </a:pPr>
                      <a:r>
                        <a:rPr lang="en-IN" dirty="0">
                          <a:latin typeface="Times New Roman" panose="02020603050405020304" pitchFamily="18" charset="0"/>
                          <a:cs typeface="Times New Roman" panose="02020603050405020304" pitchFamily="18" charset="0"/>
                        </a:rPr>
                        <a:t>ESP32 </a:t>
                      </a:r>
                      <a:r>
                        <a:rPr lang="en-IN" dirty="0" err="1">
                          <a:latin typeface="Times New Roman" panose="02020603050405020304" pitchFamily="18" charset="0"/>
                          <a:cs typeface="Times New Roman" panose="02020603050405020304" pitchFamily="18" charset="0"/>
                        </a:rPr>
                        <a:t>DevKit</a:t>
                      </a:r>
                      <a:endParaRPr lang="en-IN"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846021817"/>
                  </a:ext>
                </a:extLst>
              </a:tr>
              <a:tr h="363417">
                <a:tc>
                  <a:txBody>
                    <a:bodyPr/>
                    <a:lstStyle/>
                    <a:p>
                      <a:pPr>
                        <a:buNone/>
                      </a:pPr>
                      <a:r>
                        <a:rPr lang="en-IN" b="1" dirty="0">
                          <a:latin typeface="Times New Roman" panose="02020603050405020304" pitchFamily="18" charset="0"/>
                          <a:cs typeface="Times New Roman" panose="02020603050405020304" pitchFamily="18" charset="0"/>
                        </a:rPr>
                        <a:t>CAN</a:t>
                      </a:r>
                      <a:endParaRPr lang="en-IN" dirty="0">
                        <a:latin typeface="Times New Roman" panose="02020603050405020304" pitchFamily="18" charset="0"/>
                        <a:cs typeface="Times New Roman" panose="02020603050405020304" pitchFamily="18" charset="0"/>
                      </a:endParaRPr>
                    </a:p>
                  </a:txBody>
                  <a:tcPr anchor="ctr"/>
                </a:tc>
                <a:tc>
                  <a:txBody>
                    <a:bodyPr/>
                    <a:lstStyle/>
                    <a:p>
                      <a:pPr>
                        <a:buNone/>
                      </a:pPr>
                      <a:r>
                        <a:rPr lang="en-IN" dirty="0">
                          <a:latin typeface="Times New Roman" panose="02020603050405020304" pitchFamily="18" charset="0"/>
                          <a:cs typeface="Times New Roman" panose="02020603050405020304" pitchFamily="18" charset="0"/>
                        </a:rPr>
                        <a:t>SN65HVD230 CAN transceiver</a:t>
                      </a:r>
                    </a:p>
                  </a:txBody>
                  <a:tcPr anchor="ctr"/>
                </a:tc>
                <a:extLst>
                  <a:ext uri="{0D108BD9-81ED-4DB2-BD59-A6C34878D82A}">
                    <a16:rowId xmlns:a16="http://schemas.microsoft.com/office/drawing/2014/main" val="3631037067"/>
                  </a:ext>
                </a:extLst>
              </a:tr>
              <a:tr h="369232">
                <a:tc>
                  <a:txBody>
                    <a:bodyPr/>
                    <a:lstStyle/>
                    <a:p>
                      <a:pPr>
                        <a:buNone/>
                      </a:pPr>
                      <a:r>
                        <a:rPr lang="en-IN" b="1" dirty="0">
                          <a:latin typeface="Times New Roman" panose="02020603050405020304" pitchFamily="18" charset="0"/>
                          <a:cs typeface="Times New Roman" panose="02020603050405020304" pitchFamily="18" charset="0"/>
                        </a:rPr>
                        <a:t>Voltage sensing</a:t>
                      </a:r>
                      <a:endParaRPr lang="en-IN" dirty="0">
                        <a:latin typeface="Times New Roman" panose="02020603050405020304" pitchFamily="18" charset="0"/>
                        <a:cs typeface="Times New Roman" panose="02020603050405020304" pitchFamily="18" charset="0"/>
                      </a:endParaRPr>
                    </a:p>
                  </a:txBody>
                  <a:tcPr anchor="ctr"/>
                </a:tc>
                <a:tc>
                  <a:txBody>
                    <a:bodyPr/>
                    <a:lstStyle/>
                    <a:p>
                      <a:pPr>
                        <a:buNone/>
                      </a:pPr>
                      <a:r>
                        <a:rPr lang="en-IN" dirty="0">
                          <a:latin typeface="Times New Roman" panose="02020603050405020304" pitchFamily="18" charset="0"/>
                          <a:cs typeface="Times New Roman" panose="02020603050405020304" pitchFamily="18" charset="0"/>
                        </a:rPr>
                        <a:t>Simple resistor voltage divider</a:t>
                      </a:r>
                    </a:p>
                  </a:txBody>
                  <a:tcPr anchor="ctr"/>
                </a:tc>
                <a:extLst>
                  <a:ext uri="{0D108BD9-81ED-4DB2-BD59-A6C34878D82A}">
                    <a16:rowId xmlns:a16="http://schemas.microsoft.com/office/drawing/2014/main" val="1305518552"/>
                  </a:ext>
                </a:extLst>
              </a:tr>
              <a:tr h="363417">
                <a:tc>
                  <a:txBody>
                    <a:bodyPr/>
                    <a:lstStyle/>
                    <a:p>
                      <a:pPr>
                        <a:buNone/>
                      </a:pPr>
                      <a:r>
                        <a:rPr lang="en-IN" b="1" dirty="0">
                          <a:latin typeface="Times New Roman" panose="02020603050405020304" pitchFamily="18" charset="0"/>
                          <a:cs typeface="Times New Roman" panose="02020603050405020304" pitchFamily="18" charset="0"/>
                        </a:rPr>
                        <a:t>Current sensor</a:t>
                      </a:r>
                      <a:endParaRPr lang="en-IN" dirty="0">
                        <a:latin typeface="Times New Roman" panose="02020603050405020304" pitchFamily="18" charset="0"/>
                        <a:cs typeface="Times New Roman" panose="02020603050405020304" pitchFamily="18" charset="0"/>
                      </a:endParaRPr>
                    </a:p>
                  </a:txBody>
                  <a:tcPr anchor="ctr"/>
                </a:tc>
                <a:tc>
                  <a:txBody>
                    <a:bodyPr/>
                    <a:lstStyle/>
                    <a:p>
                      <a:pPr>
                        <a:buNone/>
                      </a:pPr>
                      <a:r>
                        <a:rPr lang="en-IN" dirty="0">
                          <a:latin typeface="Times New Roman" panose="02020603050405020304" pitchFamily="18" charset="0"/>
                          <a:cs typeface="Times New Roman" panose="02020603050405020304" pitchFamily="18" charset="0"/>
                        </a:rPr>
                        <a:t>ACS712 5A/20A module</a:t>
                      </a:r>
                    </a:p>
                  </a:txBody>
                  <a:tcPr anchor="ctr"/>
                </a:tc>
                <a:extLst>
                  <a:ext uri="{0D108BD9-81ED-4DB2-BD59-A6C34878D82A}">
                    <a16:rowId xmlns:a16="http://schemas.microsoft.com/office/drawing/2014/main" val="2038207166"/>
                  </a:ext>
                </a:extLst>
              </a:tr>
              <a:tr h="363417">
                <a:tc>
                  <a:txBody>
                    <a:bodyPr/>
                    <a:lstStyle/>
                    <a:p>
                      <a:pPr>
                        <a:buNone/>
                      </a:pPr>
                      <a:r>
                        <a:rPr lang="en-IN" b="1" dirty="0">
                          <a:latin typeface="Times New Roman" panose="02020603050405020304" pitchFamily="18" charset="0"/>
                          <a:cs typeface="Times New Roman" panose="02020603050405020304" pitchFamily="18" charset="0"/>
                        </a:rPr>
                        <a:t>Temperature sensor</a:t>
                      </a:r>
                      <a:endParaRPr lang="en-IN" dirty="0">
                        <a:latin typeface="Times New Roman" panose="02020603050405020304" pitchFamily="18" charset="0"/>
                        <a:cs typeface="Times New Roman" panose="02020603050405020304" pitchFamily="18" charset="0"/>
                      </a:endParaRPr>
                    </a:p>
                  </a:txBody>
                  <a:tcPr anchor="ctr"/>
                </a:tc>
                <a:tc>
                  <a:txBody>
                    <a:bodyPr/>
                    <a:lstStyle/>
                    <a:p>
                      <a:pPr>
                        <a:buNone/>
                      </a:pPr>
                      <a:r>
                        <a:rPr lang="en-IN" dirty="0">
                          <a:latin typeface="Times New Roman" panose="02020603050405020304" pitchFamily="18" charset="0"/>
                          <a:cs typeface="Times New Roman" panose="02020603050405020304" pitchFamily="18" charset="0"/>
                        </a:rPr>
                        <a:t>DS18B20</a:t>
                      </a:r>
                    </a:p>
                  </a:txBody>
                  <a:tcPr anchor="ctr"/>
                </a:tc>
                <a:extLst>
                  <a:ext uri="{0D108BD9-81ED-4DB2-BD59-A6C34878D82A}">
                    <a16:rowId xmlns:a16="http://schemas.microsoft.com/office/drawing/2014/main" val="955525034"/>
                  </a:ext>
                </a:extLst>
              </a:tr>
              <a:tr h="635980">
                <a:tc>
                  <a:txBody>
                    <a:bodyPr/>
                    <a:lstStyle/>
                    <a:p>
                      <a:pPr>
                        <a:buNone/>
                      </a:pPr>
                      <a:r>
                        <a:rPr lang="en-IN" b="1">
                          <a:latin typeface="Times New Roman" panose="02020603050405020304" pitchFamily="18" charset="0"/>
                          <a:cs typeface="Times New Roman" panose="02020603050405020304" pitchFamily="18" charset="0"/>
                        </a:rPr>
                        <a:t>Battery</a:t>
                      </a:r>
                      <a:endParaRPr lang="en-IN">
                        <a:latin typeface="Times New Roman" panose="02020603050405020304" pitchFamily="18" charset="0"/>
                        <a:cs typeface="Times New Roman" panose="02020603050405020304" pitchFamily="18" charset="0"/>
                      </a:endParaRPr>
                    </a:p>
                  </a:txBody>
                  <a:tcPr anchor="ctr"/>
                </a:tc>
                <a:tc>
                  <a:txBody>
                    <a:bodyPr/>
                    <a:lstStyle/>
                    <a:p>
                      <a:pPr>
                        <a:buNone/>
                      </a:pPr>
                      <a:r>
                        <a:rPr lang="en-IN" dirty="0">
                          <a:latin typeface="Times New Roman" panose="02020603050405020304" pitchFamily="18" charset="0"/>
                          <a:cs typeface="Times New Roman" panose="02020603050405020304" pitchFamily="18" charset="0"/>
                        </a:rPr>
                        <a:t>2S/3S protected Li-ion pack OR safer DC battery source</a:t>
                      </a:r>
                    </a:p>
                  </a:txBody>
                  <a:tcPr anchor="ctr"/>
                </a:tc>
                <a:extLst>
                  <a:ext uri="{0D108BD9-81ED-4DB2-BD59-A6C34878D82A}">
                    <a16:rowId xmlns:a16="http://schemas.microsoft.com/office/drawing/2014/main" val="1733119515"/>
                  </a:ext>
                </a:extLst>
              </a:tr>
              <a:tr h="363417">
                <a:tc>
                  <a:txBody>
                    <a:bodyPr/>
                    <a:lstStyle/>
                    <a:p>
                      <a:pPr>
                        <a:buNone/>
                      </a:pPr>
                      <a:r>
                        <a:rPr lang="en-IN" b="1">
                          <a:latin typeface="Times New Roman" panose="02020603050405020304" pitchFamily="18" charset="0"/>
                          <a:cs typeface="Times New Roman" panose="02020603050405020304" pitchFamily="18" charset="0"/>
                        </a:rPr>
                        <a:t>OLED display</a:t>
                      </a:r>
                      <a:endParaRPr lang="en-IN">
                        <a:latin typeface="Times New Roman" panose="02020603050405020304" pitchFamily="18" charset="0"/>
                        <a:cs typeface="Times New Roman" panose="02020603050405020304" pitchFamily="18" charset="0"/>
                      </a:endParaRPr>
                    </a:p>
                  </a:txBody>
                  <a:tcPr anchor="ctr"/>
                </a:tc>
                <a:tc>
                  <a:txBody>
                    <a:bodyPr/>
                    <a:lstStyle/>
                    <a:p>
                      <a:pPr>
                        <a:buNone/>
                      </a:pPr>
                      <a:r>
                        <a:rPr lang="en-IN" dirty="0">
                          <a:latin typeface="Times New Roman" panose="02020603050405020304" pitchFamily="18" charset="0"/>
                          <a:cs typeface="Times New Roman" panose="02020603050405020304" pitchFamily="18" charset="0"/>
                        </a:rPr>
                        <a:t>0.96" I²C OLED</a:t>
                      </a:r>
                    </a:p>
                  </a:txBody>
                  <a:tcPr anchor="ctr"/>
                </a:tc>
                <a:extLst>
                  <a:ext uri="{0D108BD9-81ED-4DB2-BD59-A6C34878D82A}">
                    <a16:rowId xmlns:a16="http://schemas.microsoft.com/office/drawing/2014/main" val="2943925236"/>
                  </a:ext>
                </a:extLst>
              </a:tr>
              <a:tr h="363417">
                <a:tc>
                  <a:txBody>
                    <a:bodyPr/>
                    <a:lstStyle/>
                    <a:p>
                      <a:pPr>
                        <a:buNone/>
                      </a:pPr>
                      <a:r>
                        <a:rPr lang="en-IN" b="1">
                          <a:latin typeface="Times New Roman" panose="02020603050405020304" pitchFamily="18" charset="0"/>
                          <a:cs typeface="Times New Roman" panose="02020603050405020304" pitchFamily="18" charset="0"/>
                        </a:rPr>
                        <a:t>Buzzer/LED</a:t>
                      </a:r>
                      <a:endParaRPr lang="en-IN">
                        <a:latin typeface="Times New Roman" panose="02020603050405020304" pitchFamily="18" charset="0"/>
                        <a:cs typeface="Times New Roman" panose="02020603050405020304" pitchFamily="18" charset="0"/>
                      </a:endParaRPr>
                    </a:p>
                  </a:txBody>
                  <a:tcPr anchor="ctr"/>
                </a:tc>
                <a:tc>
                  <a:txBody>
                    <a:bodyPr/>
                    <a:lstStyle/>
                    <a:p>
                      <a:pPr>
                        <a:buNone/>
                      </a:pPr>
                      <a:r>
                        <a:rPr lang="en-IN" dirty="0">
                          <a:latin typeface="Times New Roman" panose="02020603050405020304" pitchFamily="18" charset="0"/>
                          <a:cs typeface="Times New Roman" panose="02020603050405020304" pitchFamily="18" charset="0"/>
                        </a:rPr>
                        <a:t>Basic modules</a:t>
                      </a:r>
                    </a:p>
                  </a:txBody>
                  <a:tcPr anchor="ctr"/>
                </a:tc>
                <a:extLst>
                  <a:ext uri="{0D108BD9-81ED-4DB2-BD59-A6C34878D82A}">
                    <a16:rowId xmlns:a16="http://schemas.microsoft.com/office/drawing/2014/main" val="3010501644"/>
                  </a:ext>
                </a:extLst>
              </a:tr>
              <a:tr h="363417">
                <a:tc>
                  <a:txBody>
                    <a:bodyPr/>
                    <a:lstStyle/>
                    <a:p>
                      <a:pPr>
                        <a:buNone/>
                      </a:pPr>
                      <a:r>
                        <a:rPr lang="en-IN" b="1">
                          <a:latin typeface="Times New Roman" panose="02020603050405020304" pitchFamily="18" charset="0"/>
                          <a:cs typeface="Times New Roman" panose="02020603050405020304" pitchFamily="18" charset="0"/>
                        </a:rPr>
                        <a:t>MicroSD</a:t>
                      </a:r>
                      <a:r>
                        <a:rPr lang="en-IN">
                          <a:latin typeface="Times New Roman" panose="02020603050405020304" pitchFamily="18" charset="0"/>
                          <a:cs typeface="Times New Roman" panose="02020603050405020304" pitchFamily="18" charset="0"/>
                        </a:rPr>
                        <a:t> (optional)</a:t>
                      </a:r>
                    </a:p>
                  </a:txBody>
                  <a:tcPr anchor="ctr"/>
                </a:tc>
                <a:tc>
                  <a:txBody>
                    <a:bodyPr/>
                    <a:lstStyle/>
                    <a:p>
                      <a:pPr>
                        <a:buNone/>
                      </a:pPr>
                      <a:r>
                        <a:rPr lang="en-IN" dirty="0">
                          <a:latin typeface="Times New Roman" panose="02020603050405020304" pitchFamily="18" charset="0"/>
                          <a:cs typeface="Times New Roman" panose="02020603050405020304" pitchFamily="18" charset="0"/>
                        </a:rPr>
                        <a:t>Module + card</a:t>
                      </a:r>
                    </a:p>
                  </a:txBody>
                  <a:tcPr anchor="ctr"/>
                </a:tc>
                <a:extLst>
                  <a:ext uri="{0D108BD9-81ED-4DB2-BD59-A6C34878D82A}">
                    <a16:rowId xmlns:a16="http://schemas.microsoft.com/office/drawing/2014/main" val="1126302611"/>
                  </a:ext>
                </a:extLst>
              </a:tr>
              <a:tr h="363417">
                <a:tc gridSpan="2">
                  <a:txBody>
                    <a:bodyPr/>
                    <a:lstStyle/>
                    <a:p>
                      <a:pPr algn="ctr">
                        <a:buNone/>
                      </a:pPr>
                      <a:r>
                        <a:rPr lang="en-IN" dirty="0">
                          <a:latin typeface="Times New Roman" panose="02020603050405020304" pitchFamily="18" charset="0"/>
                          <a:cs typeface="Times New Roman" panose="02020603050405020304" pitchFamily="18" charset="0"/>
                        </a:rPr>
                        <a:t>Breadboard/wires</a:t>
                      </a:r>
                    </a:p>
                  </a:txBody>
                  <a:tcPr anchor="ctr"/>
                </a:tc>
                <a:tc hMerge="1">
                  <a:txBody>
                    <a:bodyPr/>
                    <a:lstStyle/>
                    <a:p>
                      <a:pPr>
                        <a:buNone/>
                      </a:pPr>
                      <a:endParaRPr lang="en-IN" dirty="0"/>
                    </a:p>
                  </a:txBody>
                  <a:tcPr anchor="ctr"/>
                </a:tc>
                <a:extLst>
                  <a:ext uri="{0D108BD9-81ED-4DB2-BD59-A6C34878D82A}">
                    <a16:rowId xmlns:a16="http://schemas.microsoft.com/office/drawing/2014/main" val="239750767"/>
                  </a:ext>
                </a:extLst>
              </a:tr>
            </a:tbl>
          </a:graphicData>
        </a:graphic>
      </p:graphicFrame>
      <p:sp>
        <p:nvSpPr>
          <p:cNvPr id="7" name="Slide Number Placeholder 6">
            <a:extLst>
              <a:ext uri="{FF2B5EF4-FFF2-40B4-BE49-F238E27FC236}">
                <a16:creationId xmlns:a16="http://schemas.microsoft.com/office/drawing/2014/main" id="{EB023BCC-99D3-78EB-7C12-E236FD745749}"/>
              </a:ext>
            </a:extLst>
          </p:cNvPr>
          <p:cNvSpPr>
            <a:spLocks noGrp="1"/>
          </p:cNvSpPr>
          <p:nvPr>
            <p:ph type="sldNum" sz="quarter" idx="12"/>
          </p:nvPr>
        </p:nvSpPr>
        <p:spPr/>
        <p:txBody>
          <a:bodyPr/>
          <a:lstStyle/>
          <a:p>
            <a:fld id="{E639234F-78F1-4984-9C4D-D4C7AB587871}" type="slidenum">
              <a:rPr lang="en-US" smtClean="0"/>
              <a:t>8</a:t>
            </a:fld>
            <a:endParaRPr lang="en-US"/>
          </a:p>
        </p:txBody>
      </p:sp>
      <p:sp>
        <p:nvSpPr>
          <p:cNvPr id="8" name="Footer Placeholder 7">
            <a:extLst>
              <a:ext uri="{FF2B5EF4-FFF2-40B4-BE49-F238E27FC236}">
                <a16:creationId xmlns:a16="http://schemas.microsoft.com/office/drawing/2014/main" id="{5554E3F9-CA09-BC96-1508-7DA9079A99F4}"/>
              </a:ext>
            </a:extLst>
          </p:cNvPr>
          <p:cNvSpPr>
            <a:spLocks noGrp="1"/>
          </p:cNvSpPr>
          <p:nvPr>
            <p:ph type="ftr" sz="quarter" idx="11"/>
          </p:nvPr>
        </p:nvSpPr>
        <p:spPr/>
        <p:txBody>
          <a:bodyPr/>
          <a:lstStyle/>
          <a:p>
            <a:r>
              <a:rPr lang="en-US"/>
              <a:t>RTOS REVIEW-1</a:t>
            </a:r>
          </a:p>
        </p:txBody>
      </p:sp>
      <p:pic>
        <p:nvPicPr>
          <p:cNvPr id="5" name="Picture 4" descr="Buy DOIT DEVIT V1 ESP32-WROOM-32 ...">
            <a:extLst>
              <a:ext uri="{FF2B5EF4-FFF2-40B4-BE49-F238E27FC236}">
                <a16:creationId xmlns:a16="http://schemas.microsoft.com/office/drawing/2014/main" id="{36CCBDEE-5EA7-59C2-E647-FED6181E989F}"/>
              </a:ext>
            </a:extLst>
          </p:cNvPr>
          <p:cNvPicPr>
            <a:picLocks noChangeAspect="1"/>
          </p:cNvPicPr>
          <p:nvPr/>
        </p:nvPicPr>
        <p:blipFill>
          <a:blip r:embed="rId2"/>
          <a:stretch>
            <a:fillRect/>
          </a:stretch>
        </p:blipFill>
        <p:spPr>
          <a:xfrm>
            <a:off x="149349" y="726995"/>
            <a:ext cx="2045702" cy="2045702"/>
          </a:xfrm>
          <a:prstGeom prst="rect">
            <a:avLst/>
          </a:prstGeom>
        </p:spPr>
      </p:pic>
      <p:pic>
        <p:nvPicPr>
          <p:cNvPr id="6" name="Picture 5" descr="Waveshare SN65HVD230 CAN Board ...">
            <a:extLst>
              <a:ext uri="{FF2B5EF4-FFF2-40B4-BE49-F238E27FC236}">
                <a16:creationId xmlns:a16="http://schemas.microsoft.com/office/drawing/2014/main" id="{B01CE94D-DC0C-194A-1BF5-A7F6FF09FC4A}"/>
              </a:ext>
            </a:extLst>
          </p:cNvPr>
          <p:cNvPicPr>
            <a:picLocks noChangeAspect="1"/>
          </p:cNvPicPr>
          <p:nvPr/>
        </p:nvPicPr>
        <p:blipFill>
          <a:blip r:embed="rId3"/>
          <a:stretch>
            <a:fillRect/>
          </a:stretch>
        </p:blipFill>
        <p:spPr>
          <a:xfrm>
            <a:off x="82982" y="3038158"/>
            <a:ext cx="2178437" cy="1876403"/>
          </a:xfrm>
          <a:prstGeom prst="rect">
            <a:avLst/>
          </a:prstGeom>
        </p:spPr>
      </p:pic>
      <p:pic>
        <p:nvPicPr>
          <p:cNvPr id="17" name="Picture 16" descr="Voltage Dividers - Circuits, Equation and Applications - Latest News from  Seeed Studio">
            <a:extLst>
              <a:ext uri="{FF2B5EF4-FFF2-40B4-BE49-F238E27FC236}">
                <a16:creationId xmlns:a16="http://schemas.microsoft.com/office/drawing/2014/main" id="{3F7B79F3-8B4D-674E-0EFA-98B91F09C532}"/>
              </a:ext>
            </a:extLst>
          </p:cNvPr>
          <p:cNvPicPr>
            <a:picLocks noChangeAspect="1"/>
          </p:cNvPicPr>
          <p:nvPr/>
        </p:nvPicPr>
        <p:blipFill>
          <a:blip r:embed="rId4"/>
          <a:stretch>
            <a:fillRect/>
          </a:stretch>
        </p:blipFill>
        <p:spPr>
          <a:xfrm>
            <a:off x="10158132" y="1059222"/>
            <a:ext cx="2042836" cy="1492537"/>
          </a:xfrm>
          <a:prstGeom prst="rect">
            <a:avLst/>
          </a:prstGeom>
        </p:spPr>
      </p:pic>
      <p:pic>
        <p:nvPicPr>
          <p:cNvPr id="20" name="Picture 19">
            <a:extLst>
              <a:ext uri="{FF2B5EF4-FFF2-40B4-BE49-F238E27FC236}">
                <a16:creationId xmlns:a16="http://schemas.microsoft.com/office/drawing/2014/main" id="{65DFE00D-53B3-50B6-0C9C-17491622DE13}"/>
              </a:ext>
            </a:extLst>
          </p:cNvPr>
          <p:cNvPicPr>
            <a:picLocks noChangeAspect="1"/>
          </p:cNvPicPr>
          <p:nvPr/>
        </p:nvPicPr>
        <p:blipFill>
          <a:blip r:embed="rId5"/>
          <a:stretch>
            <a:fillRect/>
          </a:stretch>
        </p:blipFill>
        <p:spPr>
          <a:xfrm>
            <a:off x="10142565" y="2930113"/>
            <a:ext cx="1966453" cy="1966453"/>
          </a:xfrm>
          <a:prstGeom prst="rect">
            <a:avLst/>
          </a:prstGeom>
        </p:spPr>
      </p:pic>
      <p:pic>
        <p:nvPicPr>
          <p:cNvPr id="21" name="Picture 20" descr="DS18B20 Temperature Sensor">
            <a:extLst>
              <a:ext uri="{FF2B5EF4-FFF2-40B4-BE49-F238E27FC236}">
                <a16:creationId xmlns:a16="http://schemas.microsoft.com/office/drawing/2014/main" id="{8E2EDED4-35D7-41CB-4608-69C09CC10317}"/>
              </a:ext>
            </a:extLst>
          </p:cNvPr>
          <p:cNvPicPr>
            <a:picLocks noChangeAspect="1"/>
          </p:cNvPicPr>
          <p:nvPr/>
        </p:nvPicPr>
        <p:blipFill>
          <a:blip r:embed="rId6"/>
          <a:stretch>
            <a:fillRect/>
          </a:stretch>
        </p:blipFill>
        <p:spPr>
          <a:xfrm>
            <a:off x="140574" y="5347762"/>
            <a:ext cx="2187679" cy="1482213"/>
          </a:xfrm>
          <a:prstGeom prst="rect">
            <a:avLst/>
          </a:prstGeom>
        </p:spPr>
      </p:pic>
      <p:pic>
        <p:nvPicPr>
          <p:cNvPr id="22" name="Picture 21" descr="Buy 2S 3A Li-ion Lithium Battery 7.4V 8.4V 18650 Charger Protection Board  Module | Robu.in">
            <a:extLst>
              <a:ext uri="{FF2B5EF4-FFF2-40B4-BE49-F238E27FC236}">
                <a16:creationId xmlns:a16="http://schemas.microsoft.com/office/drawing/2014/main" id="{27D06199-DA8F-A40A-0143-146F5E2B5F46}"/>
              </a:ext>
            </a:extLst>
          </p:cNvPr>
          <p:cNvPicPr>
            <a:picLocks noChangeAspect="1"/>
          </p:cNvPicPr>
          <p:nvPr/>
        </p:nvPicPr>
        <p:blipFill>
          <a:blip r:embed="rId7"/>
          <a:stretch>
            <a:fillRect/>
          </a:stretch>
        </p:blipFill>
        <p:spPr>
          <a:xfrm>
            <a:off x="10259485" y="5083859"/>
            <a:ext cx="1877496" cy="1620075"/>
          </a:xfrm>
          <a:prstGeom prst="rect">
            <a:avLst/>
          </a:prstGeom>
        </p:spPr>
      </p:pic>
      <p:pic>
        <p:nvPicPr>
          <p:cNvPr id="24" name="Picture 23">
            <a:extLst>
              <a:ext uri="{FF2B5EF4-FFF2-40B4-BE49-F238E27FC236}">
                <a16:creationId xmlns:a16="http://schemas.microsoft.com/office/drawing/2014/main" id="{5C6A1C9C-DE7D-467D-6FAD-8B6480F7C6CA}"/>
              </a:ext>
            </a:extLst>
          </p:cNvPr>
          <p:cNvPicPr>
            <a:picLocks noChangeAspect="1"/>
          </p:cNvPicPr>
          <p:nvPr/>
        </p:nvPicPr>
        <p:blipFill>
          <a:blip r:embed="rId8"/>
          <a:stretch>
            <a:fillRect/>
          </a:stretch>
        </p:blipFill>
        <p:spPr>
          <a:xfrm>
            <a:off x="4572001" y="5486400"/>
            <a:ext cx="2927724" cy="1371600"/>
          </a:xfrm>
          <a:prstGeom prst="rect">
            <a:avLst/>
          </a:prstGeom>
        </p:spPr>
      </p:pic>
      <p:sp>
        <p:nvSpPr>
          <p:cNvPr id="25" name="TextBox 24">
            <a:extLst>
              <a:ext uri="{FF2B5EF4-FFF2-40B4-BE49-F238E27FC236}">
                <a16:creationId xmlns:a16="http://schemas.microsoft.com/office/drawing/2014/main" id="{6D1DFC0E-6567-7E1D-2501-9D175E0858B0}"/>
              </a:ext>
            </a:extLst>
          </p:cNvPr>
          <p:cNvSpPr txBox="1"/>
          <p:nvPr/>
        </p:nvSpPr>
        <p:spPr>
          <a:xfrm>
            <a:off x="396988" y="2488236"/>
            <a:ext cx="1550424" cy="584775"/>
          </a:xfrm>
          <a:prstGeom prst="rect">
            <a:avLst/>
          </a:prstGeom>
          <a:noFill/>
        </p:spPr>
        <p:txBody>
          <a:bodyPr wrap="square" rtlCol="0">
            <a:spAutoFit/>
          </a:bodyPr>
          <a:lstStyle/>
          <a:p>
            <a:r>
              <a:rPr lang="en-IN" sz="1600" dirty="0">
                <a:latin typeface="Times New Roman" panose="02020603050405020304" pitchFamily="18" charset="0"/>
                <a:cs typeface="Times New Roman" panose="02020603050405020304" pitchFamily="18" charset="0"/>
              </a:rPr>
              <a:t>ESP32 </a:t>
            </a:r>
            <a:r>
              <a:rPr lang="en-IN" sz="1600" dirty="0" err="1">
                <a:latin typeface="Times New Roman" panose="02020603050405020304" pitchFamily="18" charset="0"/>
                <a:cs typeface="Times New Roman" panose="02020603050405020304" pitchFamily="18" charset="0"/>
              </a:rPr>
              <a:t>DevKit</a:t>
            </a:r>
            <a:endParaRPr lang="en-IN" sz="1600" dirty="0">
              <a:latin typeface="Times New Roman" panose="02020603050405020304" pitchFamily="18" charset="0"/>
              <a:cs typeface="Times New Roman" panose="02020603050405020304" pitchFamily="18" charset="0"/>
            </a:endParaRPr>
          </a:p>
          <a:p>
            <a:endParaRPr lang="en-IN" sz="1600" dirty="0"/>
          </a:p>
        </p:txBody>
      </p:sp>
      <p:sp>
        <p:nvSpPr>
          <p:cNvPr id="26" name="TextBox 25">
            <a:extLst>
              <a:ext uri="{FF2B5EF4-FFF2-40B4-BE49-F238E27FC236}">
                <a16:creationId xmlns:a16="http://schemas.microsoft.com/office/drawing/2014/main" id="{B43B41F5-061D-2CBF-7B56-A433B6D5E42A}"/>
              </a:ext>
            </a:extLst>
          </p:cNvPr>
          <p:cNvSpPr txBox="1"/>
          <p:nvPr/>
        </p:nvSpPr>
        <p:spPr>
          <a:xfrm>
            <a:off x="149349" y="4886097"/>
            <a:ext cx="2379694" cy="738664"/>
          </a:xfrm>
          <a:prstGeom prst="rect">
            <a:avLst/>
          </a:prstGeom>
          <a:noFill/>
        </p:spPr>
        <p:txBody>
          <a:bodyPr wrap="square" rtlCol="0">
            <a:spAutoFit/>
          </a:bodyPr>
          <a:lstStyle/>
          <a:p>
            <a:pPr algn="ctr"/>
            <a:r>
              <a:rPr lang="en-IN" sz="1400" dirty="0">
                <a:latin typeface="Times New Roman" panose="02020603050405020304" pitchFamily="18" charset="0"/>
                <a:cs typeface="Times New Roman" panose="02020603050405020304" pitchFamily="18" charset="0"/>
              </a:rPr>
              <a:t>SN65HVD230 CAN </a:t>
            </a:r>
          </a:p>
          <a:p>
            <a:pPr algn="ctr"/>
            <a:r>
              <a:rPr lang="en-IN" sz="1400" dirty="0">
                <a:latin typeface="Times New Roman" panose="02020603050405020304" pitchFamily="18" charset="0"/>
                <a:cs typeface="Times New Roman" panose="02020603050405020304" pitchFamily="18" charset="0"/>
              </a:rPr>
              <a:t>transceiver</a:t>
            </a:r>
          </a:p>
          <a:p>
            <a:pPr algn="ctr"/>
            <a:endParaRPr lang="en-IN" sz="1400" dirty="0"/>
          </a:p>
        </p:txBody>
      </p:sp>
      <p:sp>
        <p:nvSpPr>
          <p:cNvPr id="27" name="TextBox 26">
            <a:extLst>
              <a:ext uri="{FF2B5EF4-FFF2-40B4-BE49-F238E27FC236}">
                <a16:creationId xmlns:a16="http://schemas.microsoft.com/office/drawing/2014/main" id="{075D249E-DE1D-E4C2-E311-FAD58240050C}"/>
              </a:ext>
            </a:extLst>
          </p:cNvPr>
          <p:cNvSpPr txBox="1"/>
          <p:nvPr/>
        </p:nvSpPr>
        <p:spPr>
          <a:xfrm>
            <a:off x="10370573" y="2421134"/>
            <a:ext cx="1966453" cy="830997"/>
          </a:xfrm>
          <a:prstGeom prst="rect">
            <a:avLst/>
          </a:prstGeom>
          <a:noFill/>
        </p:spPr>
        <p:txBody>
          <a:bodyPr wrap="square" rtlCol="0">
            <a:spAutoFit/>
          </a:bodyPr>
          <a:lstStyle/>
          <a:p>
            <a:pPr algn="ctr"/>
            <a:r>
              <a:rPr lang="en-IN" sz="1600" dirty="0">
                <a:latin typeface="Times New Roman" panose="02020603050405020304" pitchFamily="18" charset="0"/>
                <a:cs typeface="Times New Roman" panose="02020603050405020304" pitchFamily="18" charset="0"/>
              </a:rPr>
              <a:t>Simple resistor voltage divider</a:t>
            </a:r>
          </a:p>
          <a:p>
            <a:pPr algn="ctr"/>
            <a:endParaRPr lang="en-IN" sz="1600" dirty="0"/>
          </a:p>
        </p:txBody>
      </p:sp>
      <p:sp>
        <p:nvSpPr>
          <p:cNvPr id="28" name="TextBox 27">
            <a:extLst>
              <a:ext uri="{FF2B5EF4-FFF2-40B4-BE49-F238E27FC236}">
                <a16:creationId xmlns:a16="http://schemas.microsoft.com/office/drawing/2014/main" id="{04E562BB-FE6B-374C-2B2A-5B6B8F0818E8}"/>
              </a:ext>
            </a:extLst>
          </p:cNvPr>
          <p:cNvSpPr txBox="1"/>
          <p:nvPr/>
        </p:nvSpPr>
        <p:spPr>
          <a:xfrm>
            <a:off x="9395166" y="4642854"/>
            <a:ext cx="3461250" cy="861774"/>
          </a:xfrm>
          <a:prstGeom prst="rect">
            <a:avLst/>
          </a:prstGeom>
          <a:noFill/>
        </p:spPr>
        <p:txBody>
          <a:bodyPr wrap="square" rtlCol="0">
            <a:spAutoFit/>
          </a:bodyPr>
          <a:lstStyle/>
          <a:p>
            <a:pPr algn="ctr"/>
            <a:r>
              <a:rPr lang="en-IN" sz="1600" dirty="0">
                <a:latin typeface="Times New Roman" panose="02020603050405020304" pitchFamily="18" charset="0"/>
                <a:cs typeface="Times New Roman" panose="02020603050405020304" pitchFamily="18" charset="0"/>
              </a:rPr>
              <a:t>ACS712 5A/20A module</a:t>
            </a:r>
          </a:p>
          <a:p>
            <a:pPr algn="ctr"/>
            <a:r>
              <a:rPr lang="en-IN" sz="1600" dirty="0">
                <a:latin typeface="Times New Roman" panose="02020603050405020304" pitchFamily="18" charset="0"/>
                <a:cs typeface="Times New Roman" panose="02020603050405020304" pitchFamily="18" charset="0"/>
              </a:rPr>
              <a:t>(Current sensor)</a:t>
            </a:r>
          </a:p>
          <a:p>
            <a:pPr algn="ctr"/>
            <a:endParaRPr lang="en-IN" sz="1600" dirty="0"/>
          </a:p>
        </p:txBody>
      </p:sp>
      <p:sp>
        <p:nvSpPr>
          <p:cNvPr id="29" name="TextBox 28">
            <a:extLst>
              <a:ext uri="{FF2B5EF4-FFF2-40B4-BE49-F238E27FC236}">
                <a16:creationId xmlns:a16="http://schemas.microsoft.com/office/drawing/2014/main" id="{F782171C-1DF9-D3E4-AE06-58210132A056}"/>
              </a:ext>
            </a:extLst>
          </p:cNvPr>
          <p:cNvSpPr txBox="1"/>
          <p:nvPr/>
        </p:nvSpPr>
        <p:spPr>
          <a:xfrm>
            <a:off x="5316838" y="6596390"/>
            <a:ext cx="1374094" cy="523220"/>
          </a:xfrm>
          <a:prstGeom prst="rect">
            <a:avLst/>
          </a:prstGeom>
          <a:noFill/>
        </p:spPr>
        <p:txBody>
          <a:bodyPr wrap="none" rtlCol="0">
            <a:spAutoFit/>
          </a:bodyPr>
          <a:lstStyle/>
          <a:p>
            <a:r>
              <a:rPr lang="en-IN" sz="1400" dirty="0">
                <a:latin typeface="Times New Roman" panose="02020603050405020304" pitchFamily="18" charset="0"/>
                <a:cs typeface="Times New Roman" panose="02020603050405020304" pitchFamily="18" charset="0"/>
              </a:rPr>
              <a:t>0.96" I²C OLED</a:t>
            </a:r>
          </a:p>
          <a:p>
            <a:endParaRPr lang="en-IN" sz="1400" dirty="0"/>
          </a:p>
        </p:txBody>
      </p:sp>
      <p:sp>
        <p:nvSpPr>
          <p:cNvPr id="30" name="TextBox 29">
            <a:extLst>
              <a:ext uri="{FF2B5EF4-FFF2-40B4-BE49-F238E27FC236}">
                <a16:creationId xmlns:a16="http://schemas.microsoft.com/office/drawing/2014/main" id="{AC3ABB2F-6559-A51B-6CB4-B13F8DD56EDF}"/>
              </a:ext>
            </a:extLst>
          </p:cNvPr>
          <p:cNvSpPr txBox="1"/>
          <p:nvPr/>
        </p:nvSpPr>
        <p:spPr>
          <a:xfrm>
            <a:off x="457194" y="6233943"/>
            <a:ext cx="1593961" cy="738664"/>
          </a:xfrm>
          <a:prstGeom prst="rect">
            <a:avLst/>
          </a:prstGeom>
          <a:noFill/>
        </p:spPr>
        <p:txBody>
          <a:bodyPr wrap="none" rtlCol="0">
            <a:spAutoFit/>
          </a:bodyPr>
          <a:lstStyle/>
          <a:p>
            <a:pPr algn="ctr" fontAlgn="ctr"/>
            <a:r>
              <a:rPr lang="en-IN" sz="1400" dirty="0">
                <a:latin typeface="Times New Roman" panose="02020603050405020304" pitchFamily="18" charset="0"/>
                <a:cs typeface="Times New Roman" panose="02020603050405020304" pitchFamily="18" charset="0"/>
              </a:rPr>
              <a:t>Temperature sensor</a:t>
            </a:r>
          </a:p>
          <a:p>
            <a:pPr algn="ctr" fontAlgn="ctr"/>
            <a:r>
              <a:rPr lang="en-IN" sz="1400" dirty="0">
                <a:latin typeface="Times New Roman" panose="02020603050405020304" pitchFamily="18" charset="0"/>
                <a:cs typeface="Times New Roman" panose="02020603050405020304" pitchFamily="18" charset="0"/>
              </a:rPr>
              <a:t>DS18B20</a:t>
            </a:r>
          </a:p>
          <a:p>
            <a:pPr algn="ctr"/>
            <a:endParaRPr lang="en-IN" sz="1400" dirty="0">
              <a:latin typeface="Times New Roman" panose="02020603050405020304" pitchFamily="18" charset="0"/>
              <a:cs typeface="Times New Roman" panose="02020603050405020304" pitchFamily="18" charset="0"/>
            </a:endParaRPr>
          </a:p>
        </p:txBody>
      </p:sp>
      <p:sp>
        <p:nvSpPr>
          <p:cNvPr id="31" name="TextBox 30">
            <a:extLst>
              <a:ext uri="{FF2B5EF4-FFF2-40B4-BE49-F238E27FC236}">
                <a16:creationId xmlns:a16="http://schemas.microsoft.com/office/drawing/2014/main" id="{1C9E8345-6CDF-2C55-F03F-56BA0BFD4E7C}"/>
              </a:ext>
            </a:extLst>
          </p:cNvPr>
          <p:cNvSpPr txBox="1"/>
          <p:nvPr/>
        </p:nvSpPr>
        <p:spPr>
          <a:xfrm>
            <a:off x="10009992" y="6338986"/>
            <a:ext cx="2182008" cy="307777"/>
          </a:xfrm>
          <a:prstGeom prst="rect">
            <a:avLst/>
          </a:prstGeom>
          <a:noFill/>
        </p:spPr>
        <p:txBody>
          <a:bodyPr wrap="none" rtlCol="0">
            <a:spAutoFit/>
          </a:bodyPr>
          <a:lstStyle/>
          <a:p>
            <a:r>
              <a:rPr lang="en-IN" sz="1400" dirty="0">
                <a:latin typeface="Times New Roman" panose="02020603050405020304" pitchFamily="18" charset="0"/>
                <a:cs typeface="Times New Roman" panose="02020603050405020304" pitchFamily="18" charset="0"/>
              </a:rPr>
              <a:t>OR safer DC battery source</a:t>
            </a:r>
            <a:endParaRPr lang="en-IN" sz="1400" dirty="0"/>
          </a:p>
        </p:txBody>
      </p:sp>
    </p:spTree>
    <p:extLst>
      <p:ext uri="{BB962C8B-B14F-4D97-AF65-F5344CB8AC3E}">
        <p14:creationId xmlns:p14="http://schemas.microsoft.com/office/powerpoint/2010/main" val="15930232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E1EF99-F0E7-ADF6-4B2B-4D9A906364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0532BA-1F0E-A09F-4B5E-89F192D7621F}"/>
              </a:ext>
            </a:extLst>
          </p:cNvPr>
          <p:cNvSpPr>
            <a:spLocks noGrp="1"/>
          </p:cNvSpPr>
          <p:nvPr>
            <p:ph type="title"/>
          </p:nvPr>
        </p:nvSpPr>
        <p:spPr>
          <a:xfrm>
            <a:off x="838200" y="365125"/>
            <a:ext cx="10331370" cy="757619"/>
          </a:xfrm>
        </p:spPr>
        <p:txBody>
          <a:bodyPr/>
          <a:lstStyle/>
          <a:p>
            <a:pPr algn="ctr"/>
            <a:r>
              <a:rPr lang="en-IN" b="1" dirty="0">
                <a:solidFill>
                  <a:srgbClr val="FF0000"/>
                </a:solidFill>
              </a:rPr>
              <a:t>Tech Stack (Software)</a:t>
            </a:r>
            <a:endParaRPr lang="en-IN" dirty="0"/>
          </a:p>
        </p:txBody>
      </p:sp>
      <p:sp>
        <p:nvSpPr>
          <p:cNvPr id="7" name="Slide Number Placeholder 6">
            <a:extLst>
              <a:ext uri="{FF2B5EF4-FFF2-40B4-BE49-F238E27FC236}">
                <a16:creationId xmlns:a16="http://schemas.microsoft.com/office/drawing/2014/main" id="{7D58C107-9DE2-0F5D-47A1-03AB379A8AC1}"/>
              </a:ext>
            </a:extLst>
          </p:cNvPr>
          <p:cNvSpPr>
            <a:spLocks noGrp="1"/>
          </p:cNvSpPr>
          <p:nvPr>
            <p:ph type="sldNum" sz="quarter" idx="12"/>
          </p:nvPr>
        </p:nvSpPr>
        <p:spPr/>
        <p:txBody>
          <a:bodyPr/>
          <a:lstStyle/>
          <a:p>
            <a:fld id="{E639234F-78F1-4984-9C4D-D4C7AB587871}" type="slidenum">
              <a:rPr lang="en-US" smtClean="0"/>
              <a:t>9</a:t>
            </a:fld>
            <a:endParaRPr lang="en-US"/>
          </a:p>
        </p:txBody>
      </p:sp>
      <p:sp>
        <p:nvSpPr>
          <p:cNvPr id="8" name="Footer Placeholder 7">
            <a:extLst>
              <a:ext uri="{FF2B5EF4-FFF2-40B4-BE49-F238E27FC236}">
                <a16:creationId xmlns:a16="http://schemas.microsoft.com/office/drawing/2014/main" id="{9D156552-8264-B7BD-9471-35B21D5A5CDF}"/>
              </a:ext>
            </a:extLst>
          </p:cNvPr>
          <p:cNvSpPr>
            <a:spLocks noGrp="1"/>
          </p:cNvSpPr>
          <p:nvPr>
            <p:ph type="ftr" sz="quarter" idx="11"/>
          </p:nvPr>
        </p:nvSpPr>
        <p:spPr/>
        <p:txBody>
          <a:bodyPr/>
          <a:lstStyle/>
          <a:p>
            <a:r>
              <a:rPr lang="en-US"/>
              <a:t>RTOS REVIEW-1</a:t>
            </a:r>
          </a:p>
        </p:txBody>
      </p:sp>
      <p:graphicFrame>
        <p:nvGraphicFramePr>
          <p:cNvPr id="9" name="Content Placeholder 8">
            <a:extLst>
              <a:ext uri="{FF2B5EF4-FFF2-40B4-BE49-F238E27FC236}">
                <a16:creationId xmlns:a16="http://schemas.microsoft.com/office/drawing/2014/main" id="{FD175A3C-CA77-B0B8-A901-8EF09E4B573F}"/>
              </a:ext>
            </a:extLst>
          </p:cNvPr>
          <p:cNvGraphicFramePr>
            <a:graphicFrameLocks noGrp="1"/>
          </p:cNvGraphicFramePr>
          <p:nvPr>
            <p:ph idx="1"/>
            <p:extLst>
              <p:ext uri="{D42A27DB-BD31-4B8C-83A1-F6EECF244321}">
                <p14:modId xmlns:p14="http://schemas.microsoft.com/office/powerpoint/2010/main" val="553988435"/>
              </p:ext>
            </p:extLst>
          </p:nvPr>
        </p:nvGraphicFramePr>
        <p:xfrm>
          <a:off x="1372890" y="1261972"/>
          <a:ext cx="9796680" cy="4955150"/>
        </p:xfrm>
        <a:graphic>
          <a:graphicData uri="http://schemas.openxmlformats.org/drawingml/2006/table">
            <a:tbl>
              <a:tblPr>
                <a:tableStyleId>{616DA210-FB5B-4158-B5E0-FEB733F419BA}</a:tableStyleId>
              </a:tblPr>
              <a:tblGrid>
                <a:gridCol w="4898340">
                  <a:extLst>
                    <a:ext uri="{9D8B030D-6E8A-4147-A177-3AD203B41FA5}">
                      <a16:colId xmlns:a16="http://schemas.microsoft.com/office/drawing/2014/main" val="4150094480"/>
                    </a:ext>
                  </a:extLst>
                </a:gridCol>
                <a:gridCol w="4898340">
                  <a:extLst>
                    <a:ext uri="{9D8B030D-6E8A-4147-A177-3AD203B41FA5}">
                      <a16:colId xmlns:a16="http://schemas.microsoft.com/office/drawing/2014/main" val="749441775"/>
                    </a:ext>
                  </a:extLst>
                </a:gridCol>
              </a:tblGrid>
              <a:tr h="341324">
                <a:tc>
                  <a:txBody>
                    <a:bodyPr/>
                    <a:lstStyle/>
                    <a:p>
                      <a:pPr>
                        <a:buNone/>
                      </a:pPr>
                      <a:r>
                        <a:rPr lang="en-IN" sz="1500" b="1">
                          <a:latin typeface="Times New Roman" panose="02020603050405020304" pitchFamily="18" charset="0"/>
                          <a:cs typeface="Times New Roman" panose="02020603050405020304" pitchFamily="18" charset="0"/>
                        </a:rPr>
                        <a:t>Software</a:t>
                      </a:r>
                    </a:p>
                  </a:txBody>
                  <a:tcPr marL="75023" marR="75023" marT="37512" marB="37512" anchor="ctr"/>
                </a:tc>
                <a:tc>
                  <a:txBody>
                    <a:bodyPr/>
                    <a:lstStyle/>
                    <a:p>
                      <a:pPr>
                        <a:buNone/>
                      </a:pPr>
                      <a:r>
                        <a:rPr lang="en-IN" sz="1500" b="1" dirty="0">
                          <a:latin typeface="Times New Roman" panose="02020603050405020304" pitchFamily="18" charset="0"/>
                          <a:cs typeface="Times New Roman" panose="02020603050405020304" pitchFamily="18" charset="0"/>
                        </a:rPr>
                        <a:t>Where we use it</a:t>
                      </a:r>
                    </a:p>
                  </a:txBody>
                  <a:tcPr marL="75023" marR="75023" marT="37512" marB="37512" anchor="ctr"/>
                </a:tc>
                <a:extLst>
                  <a:ext uri="{0D108BD9-81ED-4DB2-BD59-A6C34878D82A}">
                    <a16:rowId xmlns:a16="http://schemas.microsoft.com/office/drawing/2014/main" val="3316235899"/>
                  </a:ext>
                </a:extLst>
              </a:tr>
              <a:tr h="341324">
                <a:tc>
                  <a:txBody>
                    <a:bodyPr/>
                    <a:lstStyle/>
                    <a:p>
                      <a:pPr>
                        <a:buNone/>
                      </a:pPr>
                      <a:r>
                        <a:rPr lang="en-IN" sz="1500" b="1">
                          <a:latin typeface="Times New Roman" panose="02020603050405020304" pitchFamily="18" charset="0"/>
                          <a:cs typeface="Times New Roman" panose="02020603050405020304" pitchFamily="18" charset="0"/>
                        </a:rPr>
                        <a:t>Embedded C/C++</a:t>
                      </a:r>
                      <a:endParaRPr lang="en-IN" sz="1500">
                        <a:latin typeface="Times New Roman" panose="02020603050405020304" pitchFamily="18" charset="0"/>
                        <a:cs typeface="Times New Roman" panose="02020603050405020304" pitchFamily="18" charset="0"/>
                      </a:endParaRPr>
                    </a:p>
                  </a:txBody>
                  <a:tcPr marL="75023" marR="75023" marT="37512" marB="37512" anchor="ctr"/>
                </a:tc>
                <a:tc>
                  <a:txBody>
                    <a:bodyPr/>
                    <a:lstStyle/>
                    <a:p>
                      <a:pPr>
                        <a:buNone/>
                      </a:pPr>
                      <a:r>
                        <a:rPr lang="en-IN" sz="1500">
                          <a:latin typeface="Times New Roman" panose="02020603050405020304" pitchFamily="18" charset="0"/>
                          <a:cs typeface="Times New Roman" panose="02020603050405020304" pitchFamily="18" charset="0"/>
                        </a:rPr>
                        <a:t>Sensor reading, BMS logic and control algorithms</a:t>
                      </a:r>
                    </a:p>
                  </a:txBody>
                  <a:tcPr marL="75023" marR="75023" marT="37512" marB="37512" anchor="ctr"/>
                </a:tc>
                <a:extLst>
                  <a:ext uri="{0D108BD9-81ED-4DB2-BD59-A6C34878D82A}">
                    <a16:rowId xmlns:a16="http://schemas.microsoft.com/office/drawing/2014/main" val="3241570281"/>
                  </a:ext>
                </a:extLst>
              </a:tr>
              <a:tr h="598309">
                <a:tc>
                  <a:txBody>
                    <a:bodyPr/>
                    <a:lstStyle/>
                    <a:p>
                      <a:pPr>
                        <a:buNone/>
                      </a:pPr>
                      <a:r>
                        <a:rPr lang="en-IN" sz="1500" b="1">
                          <a:latin typeface="Times New Roman" panose="02020603050405020304" pitchFamily="18" charset="0"/>
                          <a:cs typeface="Times New Roman" panose="02020603050405020304" pitchFamily="18" charset="0"/>
                        </a:rPr>
                        <a:t>FreeRTOS</a:t>
                      </a:r>
                      <a:endParaRPr lang="en-IN" sz="1500">
                        <a:latin typeface="Times New Roman" panose="02020603050405020304" pitchFamily="18" charset="0"/>
                        <a:cs typeface="Times New Roman" panose="02020603050405020304" pitchFamily="18" charset="0"/>
                      </a:endParaRPr>
                    </a:p>
                  </a:txBody>
                  <a:tcPr marL="75023" marR="75023" marT="37512" marB="37512" anchor="ctr"/>
                </a:tc>
                <a:tc>
                  <a:txBody>
                    <a:bodyPr/>
                    <a:lstStyle/>
                    <a:p>
                      <a:pPr>
                        <a:buNone/>
                      </a:pPr>
                      <a:r>
                        <a:rPr lang="en-IN" sz="1500">
                          <a:latin typeface="Times New Roman" panose="02020603050405020304" pitchFamily="18" charset="0"/>
                          <a:cs typeface="Times New Roman" panose="02020603050405020304" pitchFamily="18" charset="0"/>
                        </a:rPr>
                        <a:t>Real-time tasks for sensing, screening, AI inference and CAN communication</a:t>
                      </a:r>
                    </a:p>
                  </a:txBody>
                  <a:tcPr marL="75023" marR="75023" marT="37512" marB="37512" anchor="ctr"/>
                </a:tc>
                <a:extLst>
                  <a:ext uri="{0D108BD9-81ED-4DB2-BD59-A6C34878D82A}">
                    <a16:rowId xmlns:a16="http://schemas.microsoft.com/office/drawing/2014/main" val="2370852555"/>
                  </a:ext>
                </a:extLst>
              </a:tr>
              <a:tr h="598309">
                <a:tc>
                  <a:txBody>
                    <a:bodyPr/>
                    <a:lstStyle/>
                    <a:p>
                      <a:pPr>
                        <a:buNone/>
                      </a:pPr>
                      <a:r>
                        <a:rPr lang="en-IN" sz="1500" b="1" dirty="0">
                          <a:latin typeface="Times New Roman" panose="02020603050405020304" pitchFamily="18" charset="0"/>
                          <a:cs typeface="Times New Roman" panose="02020603050405020304" pitchFamily="18" charset="0"/>
                        </a:rPr>
                        <a:t>TensorFlow Lite / </a:t>
                      </a:r>
                      <a:r>
                        <a:rPr lang="en-IN" sz="1500" b="1" dirty="0" err="1">
                          <a:latin typeface="Times New Roman" panose="02020603050405020304" pitchFamily="18" charset="0"/>
                          <a:cs typeface="Times New Roman" panose="02020603050405020304" pitchFamily="18" charset="0"/>
                        </a:rPr>
                        <a:t>TFLite</a:t>
                      </a:r>
                      <a:r>
                        <a:rPr lang="en-IN" sz="1500" b="1" dirty="0">
                          <a:latin typeface="Times New Roman" panose="02020603050405020304" pitchFamily="18" charset="0"/>
                          <a:cs typeface="Times New Roman" panose="02020603050405020304" pitchFamily="18" charset="0"/>
                        </a:rPr>
                        <a:t> Micro</a:t>
                      </a:r>
                      <a:endParaRPr lang="en-IN" sz="1500" dirty="0">
                        <a:latin typeface="Times New Roman" panose="02020603050405020304" pitchFamily="18" charset="0"/>
                        <a:cs typeface="Times New Roman" panose="02020603050405020304" pitchFamily="18" charset="0"/>
                      </a:endParaRPr>
                    </a:p>
                  </a:txBody>
                  <a:tcPr marL="75023" marR="75023" marT="37512" marB="37512" anchor="ctr"/>
                </a:tc>
                <a:tc>
                  <a:txBody>
                    <a:bodyPr/>
                    <a:lstStyle/>
                    <a:p>
                      <a:pPr>
                        <a:buNone/>
                      </a:pPr>
                      <a:r>
                        <a:rPr lang="en-IN" sz="1500" dirty="0">
                          <a:latin typeface="Times New Roman" panose="02020603050405020304" pitchFamily="18" charset="0"/>
                          <a:cs typeface="Times New Roman" panose="02020603050405020304" pitchFamily="18" charset="0"/>
                        </a:rPr>
                        <a:t>Runs the lightweight AI model when suspicious battery </a:t>
                      </a:r>
                      <a:r>
                        <a:rPr lang="en-IN" sz="1500" dirty="0" err="1">
                          <a:latin typeface="Times New Roman" panose="02020603050405020304" pitchFamily="18" charset="0"/>
                          <a:cs typeface="Times New Roman" panose="02020603050405020304" pitchFamily="18" charset="0"/>
                        </a:rPr>
                        <a:t>behavior</a:t>
                      </a:r>
                      <a:r>
                        <a:rPr lang="en-IN" sz="1500" dirty="0">
                          <a:latin typeface="Times New Roman" panose="02020603050405020304" pitchFamily="18" charset="0"/>
                          <a:cs typeface="Times New Roman" panose="02020603050405020304" pitchFamily="18" charset="0"/>
                        </a:rPr>
                        <a:t> is detected</a:t>
                      </a:r>
                    </a:p>
                  </a:txBody>
                  <a:tcPr marL="75023" marR="75023" marT="37512" marB="37512" anchor="ctr"/>
                </a:tc>
                <a:extLst>
                  <a:ext uri="{0D108BD9-81ED-4DB2-BD59-A6C34878D82A}">
                    <a16:rowId xmlns:a16="http://schemas.microsoft.com/office/drawing/2014/main" val="1144683336"/>
                  </a:ext>
                </a:extLst>
              </a:tr>
              <a:tr h="598309">
                <a:tc>
                  <a:txBody>
                    <a:bodyPr/>
                    <a:lstStyle/>
                    <a:p>
                      <a:pPr>
                        <a:buNone/>
                      </a:pPr>
                      <a:r>
                        <a:rPr lang="en-IN" sz="1500" b="1" dirty="0">
                          <a:latin typeface="Times New Roman" panose="02020603050405020304" pitchFamily="18" charset="0"/>
                          <a:cs typeface="Times New Roman" panose="02020603050405020304" pitchFamily="18" charset="0"/>
                        </a:rPr>
                        <a:t>Python</a:t>
                      </a:r>
                      <a:endParaRPr lang="en-IN" sz="1500" dirty="0">
                        <a:latin typeface="Times New Roman" panose="02020603050405020304" pitchFamily="18" charset="0"/>
                        <a:cs typeface="Times New Roman" panose="02020603050405020304" pitchFamily="18" charset="0"/>
                      </a:endParaRPr>
                    </a:p>
                  </a:txBody>
                  <a:tcPr marL="75023" marR="75023" marT="37512" marB="37512" anchor="ctr"/>
                </a:tc>
                <a:tc>
                  <a:txBody>
                    <a:bodyPr/>
                    <a:lstStyle/>
                    <a:p>
                      <a:pPr>
                        <a:buNone/>
                      </a:pPr>
                      <a:r>
                        <a:rPr lang="en-IN" sz="1500">
                          <a:latin typeface="Times New Roman" panose="02020603050405020304" pitchFamily="18" charset="0"/>
                          <a:cs typeface="Times New Roman" panose="02020603050405020304" pitchFamily="18" charset="0"/>
                        </a:rPr>
                        <a:t>Dataset processing, feature extraction, model training and testing</a:t>
                      </a:r>
                    </a:p>
                  </a:txBody>
                  <a:tcPr marL="75023" marR="75023" marT="37512" marB="37512" anchor="ctr"/>
                </a:tc>
                <a:extLst>
                  <a:ext uri="{0D108BD9-81ED-4DB2-BD59-A6C34878D82A}">
                    <a16:rowId xmlns:a16="http://schemas.microsoft.com/office/drawing/2014/main" val="1630003335"/>
                  </a:ext>
                </a:extLst>
              </a:tr>
              <a:tr h="598309">
                <a:tc>
                  <a:txBody>
                    <a:bodyPr/>
                    <a:lstStyle/>
                    <a:p>
                      <a:pPr>
                        <a:buNone/>
                      </a:pPr>
                      <a:r>
                        <a:rPr lang="en-IN" sz="1500" b="1">
                          <a:latin typeface="Times New Roman" panose="02020603050405020304" pitchFamily="18" charset="0"/>
                          <a:cs typeface="Times New Roman" panose="02020603050405020304" pitchFamily="18" charset="0"/>
                        </a:rPr>
                        <a:t>CAN Protocol</a:t>
                      </a:r>
                      <a:endParaRPr lang="en-IN" sz="1500">
                        <a:latin typeface="Times New Roman" panose="02020603050405020304" pitchFamily="18" charset="0"/>
                        <a:cs typeface="Times New Roman" panose="02020603050405020304" pitchFamily="18" charset="0"/>
                      </a:endParaRPr>
                    </a:p>
                  </a:txBody>
                  <a:tcPr marL="75023" marR="75023" marT="37512" marB="37512" anchor="ctr"/>
                </a:tc>
                <a:tc>
                  <a:txBody>
                    <a:bodyPr/>
                    <a:lstStyle/>
                    <a:p>
                      <a:pPr>
                        <a:buNone/>
                      </a:pPr>
                      <a:r>
                        <a:rPr lang="en-IN" sz="1500" dirty="0">
                          <a:latin typeface="Times New Roman" panose="02020603050405020304" pitchFamily="18" charset="0"/>
                          <a:cs typeface="Times New Roman" panose="02020603050405020304" pitchFamily="18" charset="0"/>
                        </a:rPr>
                        <a:t>Communication between BMS and vehicle controller</a:t>
                      </a:r>
                    </a:p>
                  </a:txBody>
                  <a:tcPr marL="75023" marR="75023" marT="37512" marB="37512" anchor="ctr"/>
                </a:tc>
                <a:extLst>
                  <a:ext uri="{0D108BD9-81ED-4DB2-BD59-A6C34878D82A}">
                    <a16:rowId xmlns:a16="http://schemas.microsoft.com/office/drawing/2014/main" val="1658144811"/>
                  </a:ext>
                </a:extLst>
              </a:tr>
              <a:tr h="598309">
                <a:tc>
                  <a:txBody>
                    <a:bodyPr/>
                    <a:lstStyle/>
                    <a:p>
                      <a:pPr>
                        <a:buNone/>
                      </a:pPr>
                      <a:r>
                        <a:rPr lang="en-IN" sz="1500" b="1">
                          <a:latin typeface="Times New Roman" panose="02020603050405020304" pitchFamily="18" charset="0"/>
                          <a:cs typeface="Times New Roman" panose="02020603050405020304" pitchFamily="18" charset="0"/>
                        </a:rPr>
                        <a:t>MQTT</a:t>
                      </a:r>
                      <a:endParaRPr lang="en-IN" sz="1500">
                        <a:latin typeface="Times New Roman" panose="02020603050405020304" pitchFamily="18" charset="0"/>
                        <a:cs typeface="Times New Roman" panose="02020603050405020304" pitchFamily="18" charset="0"/>
                      </a:endParaRPr>
                    </a:p>
                  </a:txBody>
                  <a:tcPr marL="75023" marR="75023" marT="37512" marB="37512" anchor="ctr"/>
                </a:tc>
                <a:tc>
                  <a:txBody>
                    <a:bodyPr/>
                    <a:lstStyle/>
                    <a:p>
                      <a:pPr>
                        <a:buNone/>
                      </a:pPr>
                      <a:r>
                        <a:rPr lang="en-IN" sz="1500">
                          <a:latin typeface="Times New Roman" panose="02020603050405020304" pitchFamily="18" charset="0"/>
                          <a:cs typeface="Times New Roman" panose="02020603050405020304" pitchFamily="18" charset="0"/>
                        </a:rPr>
                        <a:t>Sends battery information from ESP32 to the IoT system</a:t>
                      </a:r>
                    </a:p>
                  </a:txBody>
                  <a:tcPr marL="75023" marR="75023" marT="37512" marB="37512" anchor="ctr"/>
                </a:tc>
                <a:extLst>
                  <a:ext uri="{0D108BD9-81ED-4DB2-BD59-A6C34878D82A}">
                    <a16:rowId xmlns:a16="http://schemas.microsoft.com/office/drawing/2014/main" val="3481480566"/>
                  </a:ext>
                </a:extLst>
              </a:tr>
              <a:tr h="341324">
                <a:tc>
                  <a:txBody>
                    <a:bodyPr/>
                    <a:lstStyle/>
                    <a:p>
                      <a:pPr>
                        <a:buNone/>
                      </a:pPr>
                      <a:r>
                        <a:rPr lang="en-IN" sz="1500" b="1">
                          <a:latin typeface="Times New Roman" panose="02020603050405020304" pitchFamily="18" charset="0"/>
                          <a:cs typeface="Times New Roman" panose="02020603050405020304" pitchFamily="18" charset="0"/>
                        </a:rPr>
                        <a:t>Node-RED</a:t>
                      </a:r>
                      <a:endParaRPr lang="en-IN" sz="1500">
                        <a:latin typeface="Times New Roman" panose="02020603050405020304" pitchFamily="18" charset="0"/>
                        <a:cs typeface="Times New Roman" panose="02020603050405020304" pitchFamily="18" charset="0"/>
                      </a:endParaRPr>
                    </a:p>
                  </a:txBody>
                  <a:tcPr marL="75023" marR="75023" marT="37512" marB="37512" anchor="ctr"/>
                </a:tc>
                <a:tc>
                  <a:txBody>
                    <a:bodyPr/>
                    <a:lstStyle/>
                    <a:p>
                      <a:pPr>
                        <a:buNone/>
                      </a:pPr>
                      <a:r>
                        <a:rPr lang="en-IN" sz="1500">
                          <a:latin typeface="Times New Roman" panose="02020603050405020304" pitchFamily="18" charset="0"/>
                          <a:cs typeface="Times New Roman" panose="02020603050405020304" pitchFamily="18" charset="0"/>
                        </a:rPr>
                        <a:t>Dashboard, visualization and alerts</a:t>
                      </a:r>
                    </a:p>
                  </a:txBody>
                  <a:tcPr marL="75023" marR="75023" marT="37512" marB="37512" anchor="ctr"/>
                </a:tc>
                <a:extLst>
                  <a:ext uri="{0D108BD9-81ED-4DB2-BD59-A6C34878D82A}">
                    <a16:rowId xmlns:a16="http://schemas.microsoft.com/office/drawing/2014/main" val="3439187298"/>
                  </a:ext>
                </a:extLst>
              </a:tr>
              <a:tr h="341324">
                <a:tc>
                  <a:txBody>
                    <a:bodyPr/>
                    <a:lstStyle/>
                    <a:p>
                      <a:pPr>
                        <a:buNone/>
                      </a:pPr>
                      <a:r>
                        <a:rPr lang="en-IN" sz="1500" b="1">
                          <a:latin typeface="Times New Roman" panose="02020603050405020304" pitchFamily="18" charset="0"/>
                          <a:cs typeface="Times New Roman" panose="02020603050405020304" pitchFamily="18" charset="0"/>
                        </a:rPr>
                        <a:t>SQLite / CSV</a:t>
                      </a:r>
                      <a:endParaRPr lang="en-IN" sz="1500">
                        <a:latin typeface="Times New Roman" panose="02020603050405020304" pitchFamily="18" charset="0"/>
                        <a:cs typeface="Times New Roman" panose="02020603050405020304" pitchFamily="18" charset="0"/>
                      </a:endParaRPr>
                    </a:p>
                  </a:txBody>
                  <a:tcPr marL="75023" marR="75023" marT="37512" marB="37512" anchor="ctr"/>
                </a:tc>
                <a:tc>
                  <a:txBody>
                    <a:bodyPr/>
                    <a:lstStyle/>
                    <a:p>
                      <a:pPr>
                        <a:buNone/>
                      </a:pPr>
                      <a:r>
                        <a:rPr lang="en-IN" sz="1500">
                          <a:latin typeface="Times New Roman" panose="02020603050405020304" pitchFamily="18" charset="0"/>
                          <a:cs typeface="Times New Roman" panose="02020603050405020304" pitchFamily="18" charset="0"/>
                        </a:rPr>
                        <a:t>Battery data logging</a:t>
                      </a:r>
                    </a:p>
                  </a:txBody>
                  <a:tcPr marL="75023" marR="75023" marT="37512" marB="37512" anchor="ctr"/>
                </a:tc>
                <a:extLst>
                  <a:ext uri="{0D108BD9-81ED-4DB2-BD59-A6C34878D82A}">
                    <a16:rowId xmlns:a16="http://schemas.microsoft.com/office/drawing/2014/main" val="3204083199"/>
                  </a:ext>
                </a:extLst>
              </a:tr>
              <a:tr h="598309">
                <a:tc>
                  <a:txBody>
                    <a:bodyPr/>
                    <a:lstStyle/>
                    <a:p>
                      <a:pPr>
                        <a:buNone/>
                      </a:pPr>
                      <a:r>
                        <a:rPr lang="en-IN" sz="1500" b="1">
                          <a:latin typeface="Times New Roman" panose="02020603050405020304" pitchFamily="18" charset="0"/>
                          <a:cs typeface="Times New Roman" panose="02020603050405020304" pitchFamily="18" charset="0"/>
                        </a:rPr>
                        <a:t>Docker</a:t>
                      </a:r>
                      <a:r>
                        <a:rPr lang="en-IN" sz="1500">
                          <a:latin typeface="Times New Roman" panose="02020603050405020304" pitchFamily="18" charset="0"/>
                          <a:cs typeface="Times New Roman" panose="02020603050405020304" pitchFamily="18" charset="0"/>
                        </a:rPr>
                        <a:t> (optional)</a:t>
                      </a:r>
                    </a:p>
                  </a:txBody>
                  <a:tcPr marL="75023" marR="75023" marT="37512" marB="37512" anchor="ctr"/>
                </a:tc>
                <a:tc>
                  <a:txBody>
                    <a:bodyPr/>
                    <a:lstStyle/>
                    <a:p>
                      <a:pPr>
                        <a:buNone/>
                      </a:pPr>
                      <a:r>
                        <a:rPr lang="en-IN" sz="1500" dirty="0">
                          <a:latin typeface="Times New Roman" panose="02020603050405020304" pitchFamily="18" charset="0"/>
                          <a:cs typeface="Times New Roman" panose="02020603050405020304" pitchFamily="18" charset="0"/>
                        </a:rPr>
                        <a:t>Provides a controlled environment for MQTT/Node-RED/Python services</a:t>
                      </a:r>
                    </a:p>
                  </a:txBody>
                  <a:tcPr marL="75023" marR="75023" marT="37512" marB="37512" anchor="ctr"/>
                </a:tc>
                <a:extLst>
                  <a:ext uri="{0D108BD9-81ED-4DB2-BD59-A6C34878D82A}">
                    <a16:rowId xmlns:a16="http://schemas.microsoft.com/office/drawing/2014/main" val="864406314"/>
                  </a:ext>
                </a:extLst>
              </a:tr>
            </a:tbl>
          </a:graphicData>
        </a:graphic>
      </p:graphicFrame>
    </p:spTree>
    <p:extLst>
      <p:ext uri="{BB962C8B-B14F-4D97-AF65-F5344CB8AC3E}">
        <p14:creationId xmlns:p14="http://schemas.microsoft.com/office/powerpoint/2010/main" val="42590170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BC6D84-077B-7007-4B63-807557EC6377}"/>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1BC5F926-1E4C-4031-B9E9-6A17F126A332}"/>
              </a:ext>
            </a:extLst>
          </p:cNvPr>
          <p:cNvPicPr>
            <a:picLocks noChangeAspect="1"/>
          </p:cNvPicPr>
          <p:nvPr/>
        </p:nvPicPr>
        <p:blipFill>
          <a:blip r:embed="rId2"/>
          <a:stretch>
            <a:fillRect/>
          </a:stretch>
        </p:blipFill>
        <p:spPr>
          <a:xfrm>
            <a:off x="10249380" y="0"/>
            <a:ext cx="1942620" cy="622550"/>
          </a:xfrm>
          <a:prstGeom prst="rect">
            <a:avLst/>
          </a:prstGeom>
        </p:spPr>
      </p:pic>
      <p:sp>
        <p:nvSpPr>
          <p:cNvPr id="9" name="Title 8">
            <a:extLst>
              <a:ext uri="{FF2B5EF4-FFF2-40B4-BE49-F238E27FC236}">
                <a16:creationId xmlns:a16="http://schemas.microsoft.com/office/drawing/2014/main" id="{CC2C3DB0-355D-9D8C-482C-B6EB1825AC8B}"/>
              </a:ext>
            </a:extLst>
          </p:cNvPr>
          <p:cNvSpPr>
            <a:spLocks noGrp="1"/>
          </p:cNvSpPr>
          <p:nvPr>
            <p:ph type="title"/>
          </p:nvPr>
        </p:nvSpPr>
        <p:spPr/>
        <p:txBody>
          <a:bodyPr/>
          <a:lstStyle/>
          <a:p>
            <a:pPr algn="ctr"/>
            <a:r>
              <a:rPr lang="en-US" b="1" dirty="0">
                <a:solidFill>
                  <a:srgbClr val="FF0000"/>
                </a:solidFill>
              </a:rPr>
              <a:t>Innovation, Creativity, and Novelty</a:t>
            </a:r>
            <a:br>
              <a:rPr lang="en-US" b="1" dirty="0">
                <a:solidFill>
                  <a:srgbClr val="FF0000"/>
                </a:solidFill>
              </a:rPr>
            </a:br>
            <a:endParaRPr lang="en-IN" dirty="0"/>
          </a:p>
        </p:txBody>
      </p:sp>
      <p:sp>
        <p:nvSpPr>
          <p:cNvPr id="10" name="Content Placeholder 9">
            <a:extLst>
              <a:ext uri="{FF2B5EF4-FFF2-40B4-BE49-F238E27FC236}">
                <a16:creationId xmlns:a16="http://schemas.microsoft.com/office/drawing/2014/main" id="{2DB84480-DB7F-2C1E-4125-FAC68DF01E94}"/>
              </a:ext>
            </a:extLst>
          </p:cNvPr>
          <p:cNvSpPr>
            <a:spLocks noGrp="1"/>
          </p:cNvSpPr>
          <p:nvPr>
            <p:ph idx="1"/>
          </p:nvPr>
        </p:nvSpPr>
        <p:spPr>
          <a:xfrm>
            <a:off x="509286" y="1157468"/>
            <a:ext cx="6215605" cy="5019495"/>
          </a:xfrm>
        </p:spPr>
        <p:txBody>
          <a:bodyPr>
            <a:noAutofit/>
          </a:bodyPr>
          <a:lstStyle/>
          <a:p>
            <a:pPr marL="0" indent="0">
              <a:lnSpc>
                <a:spcPct val="100000"/>
              </a:lnSpc>
              <a:buNone/>
            </a:pPr>
            <a:r>
              <a:rPr lang="en-IN" sz="1600" b="1" dirty="0">
                <a:latin typeface="Times New Roman" panose="02020603050405020304" pitchFamily="18" charset="0"/>
                <a:cs typeface="Times New Roman" panose="02020603050405020304" pitchFamily="18" charset="0"/>
              </a:rPr>
              <a:t>1.</a:t>
            </a:r>
            <a:r>
              <a:rPr lang="en-IN" sz="1600" b="1" u="sng" dirty="0">
                <a:latin typeface="Times New Roman" panose="02020603050405020304" pitchFamily="18" charset="0"/>
                <a:cs typeface="Times New Roman" panose="02020603050405020304" pitchFamily="18" charset="0"/>
              </a:rPr>
              <a:t> Event-Triggered AI Inference</a:t>
            </a:r>
          </a:p>
          <a:p>
            <a:pPr>
              <a:lnSpc>
                <a:spcPct val="100000"/>
              </a:lnSpc>
            </a:pPr>
            <a:r>
              <a:rPr lang="en-IN" sz="1600" dirty="0">
                <a:latin typeface="Times New Roman" panose="02020603050405020304" pitchFamily="18" charset="0"/>
                <a:cs typeface="Times New Roman" panose="02020603050405020304" pitchFamily="18" charset="0"/>
              </a:rPr>
              <a:t>Existing: AI/advanced processing may run continuously. </a:t>
            </a:r>
          </a:p>
          <a:p>
            <a:pPr>
              <a:lnSpc>
                <a:spcPct val="100000"/>
              </a:lnSpc>
            </a:pPr>
            <a:r>
              <a:rPr lang="en-IN" sz="1600" dirty="0">
                <a:latin typeface="Times New Roman" panose="02020603050405020304" pitchFamily="18" charset="0"/>
                <a:cs typeface="Times New Roman" panose="02020603050405020304" pitchFamily="18" charset="0"/>
              </a:rPr>
              <a:t>Our Approach: AI is triggered only when abnormal battery </a:t>
            </a:r>
            <a:r>
              <a:rPr lang="en-IN" sz="1600" dirty="0" err="1">
                <a:latin typeface="Times New Roman" panose="02020603050405020304" pitchFamily="18" charset="0"/>
                <a:cs typeface="Times New Roman" panose="02020603050405020304" pitchFamily="18" charset="0"/>
              </a:rPr>
              <a:t>behavior</a:t>
            </a:r>
            <a:r>
              <a:rPr lang="en-IN" sz="1600" dirty="0">
                <a:latin typeface="Times New Roman" panose="02020603050405020304" pitchFamily="18" charset="0"/>
                <a:cs typeface="Times New Roman" panose="02020603050405020304" pitchFamily="18" charset="0"/>
              </a:rPr>
              <a:t> is detected. </a:t>
            </a:r>
          </a:p>
          <a:p>
            <a:pPr>
              <a:lnSpc>
                <a:spcPct val="100000"/>
              </a:lnSpc>
            </a:pPr>
            <a:r>
              <a:rPr lang="en-IN" sz="1600" dirty="0">
                <a:latin typeface="Times New Roman" panose="02020603050405020304" pitchFamily="18" charset="0"/>
                <a:cs typeface="Times New Roman" panose="02020603050405020304" pitchFamily="18" charset="0"/>
              </a:rPr>
              <a:t>Benefit: Reduces unnecessary computation and improves real-time efficiency. </a:t>
            </a:r>
          </a:p>
          <a:p>
            <a:pPr marL="0" indent="0">
              <a:lnSpc>
                <a:spcPct val="100000"/>
              </a:lnSpc>
              <a:buNone/>
            </a:pPr>
            <a:r>
              <a:rPr lang="en-IN" sz="1600" b="1" dirty="0">
                <a:latin typeface="Times New Roman" panose="02020603050405020304" pitchFamily="18" charset="0"/>
                <a:cs typeface="Times New Roman" panose="02020603050405020304" pitchFamily="18" charset="0"/>
              </a:rPr>
              <a:t>Flow:</a:t>
            </a:r>
            <a:br>
              <a:rPr lang="en-IN" sz="1600" dirty="0">
                <a:latin typeface="Times New Roman" panose="02020603050405020304" pitchFamily="18" charset="0"/>
                <a:cs typeface="Times New Roman" panose="02020603050405020304" pitchFamily="18" charset="0"/>
              </a:rPr>
            </a:br>
            <a:endParaRPr lang="en-IN" sz="1600" dirty="0">
              <a:latin typeface="Times New Roman" panose="02020603050405020304" pitchFamily="18" charset="0"/>
              <a:cs typeface="Times New Roman" panose="02020603050405020304" pitchFamily="18" charset="0"/>
            </a:endParaRPr>
          </a:p>
          <a:p>
            <a:pPr marL="0" indent="0">
              <a:lnSpc>
                <a:spcPct val="100000"/>
              </a:lnSpc>
              <a:buNone/>
            </a:pPr>
            <a:r>
              <a:rPr lang="en-IN" sz="1600" b="1" dirty="0">
                <a:latin typeface="Times New Roman" panose="02020603050405020304" pitchFamily="18" charset="0"/>
                <a:cs typeface="Times New Roman" panose="02020603050405020304" pitchFamily="18" charset="0"/>
              </a:rPr>
              <a:t>2. </a:t>
            </a:r>
            <a:r>
              <a:rPr lang="en-IN" sz="1600" b="1" u="sng" dirty="0">
                <a:latin typeface="Times New Roman" panose="02020603050405020304" pitchFamily="18" charset="0"/>
                <a:cs typeface="Times New Roman" panose="02020603050405020304" pitchFamily="18" charset="0"/>
              </a:rPr>
              <a:t>Two-Level Battery Decision System</a:t>
            </a:r>
          </a:p>
          <a:p>
            <a:pPr lvl="0">
              <a:lnSpc>
                <a:spcPct val="100000"/>
              </a:lnSpc>
            </a:pPr>
            <a:r>
              <a:rPr lang="en-IN" sz="1600" b="1" dirty="0">
                <a:latin typeface="Times New Roman" panose="02020603050405020304" pitchFamily="18" charset="0"/>
                <a:cs typeface="Times New Roman" panose="02020603050405020304" pitchFamily="18" charset="0"/>
              </a:rPr>
              <a:t>Level 1:</a:t>
            </a:r>
            <a:r>
              <a:rPr lang="en-IN" sz="1600" dirty="0">
                <a:latin typeface="Times New Roman" panose="02020603050405020304" pitchFamily="18" charset="0"/>
                <a:cs typeface="Times New Roman" panose="02020603050405020304" pitchFamily="18" charset="0"/>
              </a:rPr>
              <a:t> Fast screening using </a:t>
            </a:r>
            <a:r>
              <a:rPr lang="en-IN" sz="1600" b="1" dirty="0">
                <a:latin typeface="Times New Roman" panose="02020603050405020304" pitchFamily="18" charset="0"/>
                <a:cs typeface="Times New Roman" panose="02020603050405020304" pitchFamily="18" charset="0"/>
              </a:rPr>
              <a:t>thresholds + parameter checks + trend analysis</a:t>
            </a:r>
            <a:r>
              <a:rPr lang="en-IN" sz="1600" dirty="0">
                <a:latin typeface="Times New Roman" panose="02020603050405020304" pitchFamily="18" charset="0"/>
                <a:cs typeface="Times New Roman" panose="02020603050405020304" pitchFamily="18" charset="0"/>
              </a:rPr>
              <a:t>. </a:t>
            </a:r>
          </a:p>
          <a:p>
            <a:pPr lvl="0">
              <a:lnSpc>
                <a:spcPct val="100000"/>
              </a:lnSpc>
            </a:pPr>
            <a:r>
              <a:rPr lang="en-IN" sz="1600" b="1" dirty="0">
                <a:latin typeface="Times New Roman" panose="02020603050405020304" pitchFamily="18" charset="0"/>
                <a:cs typeface="Times New Roman" panose="02020603050405020304" pitchFamily="18" charset="0"/>
              </a:rPr>
              <a:t>Level 2:</a:t>
            </a:r>
            <a:r>
              <a:rPr lang="en-IN" sz="1600" dirty="0">
                <a:latin typeface="Times New Roman" panose="02020603050405020304" pitchFamily="18" charset="0"/>
                <a:cs typeface="Times New Roman" panose="02020603050405020304" pitchFamily="18" charset="0"/>
              </a:rPr>
              <a:t> AI-based verification for suspicious conditions. </a:t>
            </a:r>
          </a:p>
          <a:p>
            <a:pPr lvl="0">
              <a:lnSpc>
                <a:spcPct val="100000"/>
              </a:lnSpc>
            </a:pPr>
            <a:r>
              <a:rPr lang="en-IN" sz="1600" b="1" dirty="0">
                <a:latin typeface="Times New Roman" panose="02020603050405020304" pitchFamily="18" charset="0"/>
                <a:cs typeface="Times New Roman" panose="02020603050405020304" pitchFamily="18" charset="0"/>
              </a:rPr>
              <a:t>Benefit:</a:t>
            </a:r>
            <a:r>
              <a:rPr lang="en-IN" sz="1600" dirty="0">
                <a:latin typeface="Times New Roman" panose="02020603050405020304" pitchFamily="18" charset="0"/>
                <a:cs typeface="Times New Roman" panose="02020603050405020304" pitchFamily="18" charset="0"/>
              </a:rPr>
              <a:t> Faster decisions with lower computational requirements. </a:t>
            </a:r>
          </a:p>
          <a:p>
            <a:pPr marL="0" indent="0">
              <a:lnSpc>
                <a:spcPct val="100000"/>
              </a:lnSpc>
              <a:buNone/>
            </a:pPr>
            <a:r>
              <a:rPr lang="en-IN" sz="1600" b="1" dirty="0">
                <a:latin typeface="Times New Roman" panose="02020603050405020304" pitchFamily="18" charset="0"/>
                <a:cs typeface="Times New Roman" panose="02020603050405020304" pitchFamily="18" charset="0"/>
              </a:rPr>
              <a:t>Flow:</a:t>
            </a:r>
            <a:br>
              <a:rPr lang="en-IN" sz="1600" dirty="0">
                <a:latin typeface="Times New Roman" panose="02020603050405020304" pitchFamily="18" charset="0"/>
                <a:cs typeface="Times New Roman" panose="02020603050405020304" pitchFamily="18" charset="0"/>
              </a:rPr>
            </a:br>
            <a:endParaRPr lang="en-IN" sz="1600" dirty="0">
              <a:latin typeface="Times New Roman" panose="02020603050405020304" pitchFamily="18" charset="0"/>
              <a:cs typeface="Times New Roman" panose="02020603050405020304" pitchFamily="18" charset="0"/>
            </a:endParaRPr>
          </a:p>
          <a:p>
            <a:pPr>
              <a:lnSpc>
                <a:spcPct val="100000"/>
              </a:lnSpc>
            </a:pPr>
            <a:endParaRPr lang="en-IN" sz="1600" dirty="0">
              <a:latin typeface="Times New Roman" panose="02020603050405020304" pitchFamily="18" charset="0"/>
              <a:cs typeface="Times New Roman" panose="02020603050405020304" pitchFamily="18" charset="0"/>
            </a:endParaRPr>
          </a:p>
        </p:txBody>
      </p:sp>
      <p:sp>
        <p:nvSpPr>
          <p:cNvPr id="7" name="Footer Placeholder 6">
            <a:extLst>
              <a:ext uri="{FF2B5EF4-FFF2-40B4-BE49-F238E27FC236}">
                <a16:creationId xmlns:a16="http://schemas.microsoft.com/office/drawing/2014/main" id="{34F59F1C-1104-B31B-A152-A51413B5D359}"/>
              </a:ext>
            </a:extLst>
          </p:cNvPr>
          <p:cNvSpPr>
            <a:spLocks noGrp="1"/>
          </p:cNvSpPr>
          <p:nvPr>
            <p:ph type="ftr" sz="quarter" idx="11"/>
          </p:nvPr>
        </p:nvSpPr>
        <p:spPr/>
        <p:txBody>
          <a:bodyPr/>
          <a:lstStyle/>
          <a:p>
            <a:r>
              <a:rPr lang="en-US"/>
              <a:t>RTOS REVIEW-1</a:t>
            </a:r>
          </a:p>
        </p:txBody>
      </p:sp>
      <p:sp>
        <p:nvSpPr>
          <p:cNvPr id="6" name="Slide Number Placeholder 5">
            <a:extLst>
              <a:ext uri="{FF2B5EF4-FFF2-40B4-BE49-F238E27FC236}">
                <a16:creationId xmlns:a16="http://schemas.microsoft.com/office/drawing/2014/main" id="{18B287F2-09AA-912A-0677-E1AFFC770DF7}"/>
              </a:ext>
            </a:extLst>
          </p:cNvPr>
          <p:cNvSpPr>
            <a:spLocks noGrp="1"/>
          </p:cNvSpPr>
          <p:nvPr>
            <p:ph type="sldNum" sz="quarter" idx="12"/>
          </p:nvPr>
        </p:nvSpPr>
        <p:spPr/>
        <p:txBody>
          <a:bodyPr/>
          <a:lstStyle/>
          <a:p>
            <a:fld id="{E639234F-78F1-4984-9C4D-D4C7AB587871}" type="slidenum">
              <a:rPr lang="en-US" smtClean="0"/>
              <a:t>10</a:t>
            </a:fld>
            <a:endParaRPr lang="en-US"/>
          </a:p>
        </p:txBody>
      </p:sp>
      <p:sp>
        <p:nvSpPr>
          <p:cNvPr id="11" name="TextBox 10">
            <a:extLst>
              <a:ext uri="{FF2B5EF4-FFF2-40B4-BE49-F238E27FC236}">
                <a16:creationId xmlns:a16="http://schemas.microsoft.com/office/drawing/2014/main" id="{2CDCB4D5-DDA6-DA57-F4BD-E74C6FE02FBE}"/>
              </a:ext>
            </a:extLst>
          </p:cNvPr>
          <p:cNvSpPr txBox="1"/>
          <p:nvPr/>
        </p:nvSpPr>
        <p:spPr>
          <a:xfrm>
            <a:off x="6600027" y="1157468"/>
            <a:ext cx="5591973" cy="4154984"/>
          </a:xfrm>
          <a:prstGeom prst="rect">
            <a:avLst/>
          </a:prstGeom>
          <a:noFill/>
        </p:spPr>
        <p:txBody>
          <a:bodyPr wrap="square" rtlCol="0">
            <a:spAutoFit/>
          </a:bodyPr>
          <a:lstStyle/>
          <a:p>
            <a:r>
              <a:rPr lang="en-IN" sz="1600" b="1" dirty="0">
                <a:latin typeface="Times New Roman" panose="02020603050405020304" pitchFamily="18" charset="0"/>
                <a:cs typeface="Times New Roman" panose="02020603050405020304" pitchFamily="18" charset="0"/>
              </a:rPr>
              <a:t>3. </a:t>
            </a:r>
            <a:r>
              <a:rPr lang="en-IN" sz="1600" b="1" u="sng" dirty="0">
                <a:latin typeface="Times New Roman" panose="02020603050405020304" pitchFamily="18" charset="0"/>
                <a:cs typeface="Times New Roman" panose="02020603050405020304" pitchFamily="18" charset="0"/>
              </a:rPr>
              <a:t>Software-Defined Risk Policy</a:t>
            </a:r>
          </a:p>
          <a:p>
            <a:endParaRPr lang="en-IN" sz="1600" b="1" dirty="0">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Converts battery conditions into </a:t>
            </a:r>
            <a:r>
              <a:rPr lang="en-IN" sz="1600" b="1" dirty="0">
                <a:latin typeface="Times New Roman" panose="02020603050405020304" pitchFamily="18" charset="0"/>
                <a:cs typeface="Times New Roman" panose="02020603050405020304" pitchFamily="18" charset="0"/>
              </a:rPr>
              <a:t>Low / Medium / High / Critical</a:t>
            </a:r>
            <a:r>
              <a:rPr lang="en-IN" sz="1600" dirty="0">
                <a:latin typeface="Times New Roman" panose="02020603050405020304" pitchFamily="18" charset="0"/>
                <a:cs typeface="Times New Roman" panose="02020603050405020304" pitchFamily="18" charset="0"/>
              </a:rPr>
              <a:t> risk levels. </a:t>
            </a:r>
          </a:p>
          <a:p>
            <a:pPr marL="285750" lvl="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Uses a </a:t>
            </a:r>
            <a:r>
              <a:rPr lang="en-IN" sz="1600" b="1" dirty="0">
                <a:latin typeface="Times New Roman" panose="02020603050405020304" pitchFamily="18" charset="0"/>
                <a:cs typeface="Times New Roman" panose="02020603050405020304" pitchFamily="18" charset="0"/>
              </a:rPr>
              <a:t>configurable software policy</a:t>
            </a:r>
            <a:r>
              <a:rPr lang="en-IN" sz="1600" dirty="0">
                <a:latin typeface="Times New Roman" panose="02020603050405020304" pitchFamily="18" charset="0"/>
                <a:cs typeface="Times New Roman" panose="02020603050405020304" pitchFamily="18" charset="0"/>
              </a:rPr>
              <a:t> to select the appropriate response. </a:t>
            </a:r>
          </a:p>
          <a:p>
            <a:pPr marL="285750" lvl="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Possible actions: </a:t>
            </a:r>
          </a:p>
          <a:p>
            <a:pPr marL="742950" lvl="1"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Normal Operation </a:t>
            </a:r>
          </a:p>
          <a:p>
            <a:pPr marL="742950" lvl="1"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Warning / Alert </a:t>
            </a:r>
          </a:p>
          <a:p>
            <a:pPr marL="742950" lvl="1"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Charging or Power Limitation </a:t>
            </a:r>
          </a:p>
          <a:p>
            <a:pPr marL="742950" lvl="1"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Protection / Shutdown </a:t>
            </a:r>
          </a:p>
          <a:p>
            <a:endParaRPr lang="en-IN" sz="1600" b="1" dirty="0">
              <a:latin typeface="Times New Roman" panose="02020603050405020304" pitchFamily="18" charset="0"/>
              <a:cs typeface="Times New Roman" panose="02020603050405020304" pitchFamily="18" charset="0"/>
            </a:endParaRPr>
          </a:p>
          <a:p>
            <a:r>
              <a:rPr lang="en-IN" sz="1600" b="1" dirty="0">
                <a:latin typeface="Times New Roman" panose="02020603050405020304" pitchFamily="18" charset="0"/>
                <a:cs typeface="Times New Roman" panose="02020603050405020304" pitchFamily="18" charset="0"/>
              </a:rPr>
              <a:t>Flow:</a:t>
            </a:r>
            <a:br>
              <a:rPr lang="en-IN" sz="1600" dirty="0">
                <a:latin typeface="Times New Roman" panose="02020603050405020304" pitchFamily="18" charset="0"/>
                <a:cs typeface="Times New Roman" panose="02020603050405020304" pitchFamily="18" charset="0"/>
              </a:rPr>
            </a:br>
            <a:endParaRPr lang="en-IN" sz="1600" dirty="0">
              <a:latin typeface="Times New Roman" panose="02020603050405020304" pitchFamily="18" charset="0"/>
              <a:cs typeface="Times New Roman" panose="02020603050405020304" pitchFamily="18" charset="0"/>
            </a:endParaRPr>
          </a:p>
          <a:p>
            <a:endParaRPr lang="en-IN" sz="1600" dirty="0">
              <a:latin typeface="Times New Roman" panose="02020603050405020304" pitchFamily="18" charset="0"/>
              <a:cs typeface="Times New Roman" panose="02020603050405020304" pitchFamily="18" charset="0"/>
            </a:endParaRPr>
          </a:p>
          <a:p>
            <a:endParaRPr lang="en-IN" sz="2400" dirty="0">
              <a:latin typeface="Times New Roman" panose="02020603050405020304" pitchFamily="18" charset="0"/>
              <a:cs typeface="Times New Roman" panose="02020603050405020304" pitchFamily="18" charset="0"/>
            </a:endParaRPr>
          </a:p>
        </p:txBody>
      </p:sp>
      <p:graphicFrame>
        <p:nvGraphicFramePr>
          <p:cNvPr id="13" name="Diagram 12">
            <a:extLst>
              <a:ext uri="{FF2B5EF4-FFF2-40B4-BE49-F238E27FC236}">
                <a16:creationId xmlns:a16="http://schemas.microsoft.com/office/drawing/2014/main" id="{E4E25BD0-1CD9-982A-B8EC-E6A251ABE2F1}"/>
              </a:ext>
            </a:extLst>
          </p:cNvPr>
          <p:cNvGraphicFramePr/>
          <p:nvPr>
            <p:extLst>
              <p:ext uri="{D42A27DB-BD31-4B8C-83A1-F6EECF244321}">
                <p14:modId xmlns:p14="http://schemas.microsoft.com/office/powerpoint/2010/main" val="2684540135"/>
              </p:ext>
            </p:extLst>
          </p:nvPr>
        </p:nvGraphicFramePr>
        <p:xfrm>
          <a:off x="1265655" y="5066230"/>
          <a:ext cx="5916435" cy="142664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14" name="Diagram 13">
            <a:extLst>
              <a:ext uri="{FF2B5EF4-FFF2-40B4-BE49-F238E27FC236}">
                <a16:creationId xmlns:a16="http://schemas.microsoft.com/office/drawing/2014/main" id="{D32973CB-EEFD-88C4-D170-5ECF00CD92B1}"/>
              </a:ext>
            </a:extLst>
          </p:cNvPr>
          <p:cNvGraphicFramePr/>
          <p:nvPr>
            <p:extLst>
              <p:ext uri="{D42A27DB-BD31-4B8C-83A1-F6EECF244321}">
                <p14:modId xmlns:p14="http://schemas.microsoft.com/office/powerpoint/2010/main" val="933713515"/>
              </p:ext>
            </p:extLst>
          </p:nvPr>
        </p:nvGraphicFramePr>
        <p:xfrm>
          <a:off x="1265656" y="3016174"/>
          <a:ext cx="4610762" cy="724570"/>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graphicFrame>
        <p:nvGraphicFramePr>
          <p:cNvPr id="15" name="Diagram 14">
            <a:extLst>
              <a:ext uri="{FF2B5EF4-FFF2-40B4-BE49-F238E27FC236}">
                <a16:creationId xmlns:a16="http://schemas.microsoft.com/office/drawing/2014/main" id="{A5DC0342-8F9E-108A-13B7-5F4803F45822}"/>
              </a:ext>
            </a:extLst>
          </p:cNvPr>
          <p:cNvGraphicFramePr/>
          <p:nvPr>
            <p:extLst>
              <p:ext uri="{D42A27DB-BD31-4B8C-83A1-F6EECF244321}">
                <p14:modId xmlns:p14="http://schemas.microsoft.com/office/powerpoint/2010/main" val="4129715742"/>
              </p:ext>
            </p:extLst>
          </p:nvPr>
        </p:nvGraphicFramePr>
        <p:xfrm>
          <a:off x="7369552" y="3952568"/>
          <a:ext cx="4645467" cy="648929"/>
        </p:xfrm>
        <a:graphic>
          <a:graphicData uri="http://schemas.openxmlformats.org/drawingml/2006/diagram">
            <dgm:relIds xmlns:dgm="http://schemas.openxmlformats.org/drawingml/2006/diagram" xmlns:r="http://schemas.openxmlformats.org/officeDocument/2006/relationships" r:dm="rId13" r:lo="rId14" r:qs="rId15" r:cs="rId16"/>
          </a:graphicData>
        </a:graphic>
      </p:graphicFrame>
    </p:spTree>
    <p:extLst>
      <p:ext uri="{BB962C8B-B14F-4D97-AF65-F5344CB8AC3E}">
        <p14:creationId xmlns:p14="http://schemas.microsoft.com/office/powerpoint/2010/main" val="35241353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8AA2CC-2C9A-D968-2F38-FFC4A7D23869}"/>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9EF7CE10-08D9-83CF-7508-12575531E1E0}"/>
              </a:ext>
            </a:extLst>
          </p:cNvPr>
          <p:cNvSpPr txBox="1"/>
          <p:nvPr/>
        </p:nvSpPr>
        <p:spPr>
          <a:xfrm>
            <a:off x="2395461" y="111220"/>
            <a:ext cx="7234014" cy="707886"/>
          </a:xfrm>
          <a:prstGeom prst="rect">
            <a:avLst/>
          </a:prstGeom>
          <a:noFill/>
        </p:spPr>
        <p:txBody>
          <a:bodyPr wrap="square">
            <a:spAutoFit/>
          </a:bodyPr>
          <a:lstStyle/>
          <a:p>
            <a:pPr algn="ctr"/>
            <a:r>
              <a:rPr lang="en-US" sz="4000" b="1" dirty="0">
                <a:solidFill>
                  <a:srgbClr val="FF0000"/>
                </a:solidFill>
              </a:rPr>
              <a:t>Feasibility</a:t>
            </a:r>
          </a:p>
        </p:txBody>
      </p:sp>
      <p:sp>
        <p:nvSpPr>
          <p:cNvPr id="2" name="TextBox 1">
            <a:extLst>
              <a:ext uri="{FF2B5EF4-FFF2-40B4-BE49-F238E27FC236}">
                <a16:creationId xmlns:a16="http://schemas.microsoft.com/office/drawing/2014/main" id="{3F0303AA-CEE8-2513-1736-59CB3A5EF8E4}"/>
              </a:ext>
            </a:extLst>
          </p:cNvPr>
          <p:cNvSpPr txBox="1"/>
          <p:nvPr/>
        </p:nvSpPr>
        <p:spPr>
          <a:xfrm>
            <a:off x="271329" y="819106"/>
            <a:ext cx="11649341" cy="5870646"/>
          </a:xfrm>
          <a:prstGeom prst="rect">
            <a:avLst/>
          </a:prstGeom>
          <a:noFill/>
        </p:spPr>
        <p:txBody>
          <a:bodyPr wrap="square" rtlCol="0">
            <a:spAutoFit/>
          </a:bodyPr>
          <a:lstStyle/>
          <a:p>
            <a:pPr>
              <a:lnSpc>
                <a:spcPct val="150000"/>
              </a:lnSpc>
            </a:pPr>
            <a:r>
              <a:rPr lang="en-IN" sz="1400" b="1" dirty="0">
                <a:latin typeface="Times New Roman" panose="02020603050405020304" pitchFamily="18" charset="0"/>
                <a:cs typeface="Times New Roman" panose="02020603050405020304" pitchFamily="18" charset="0"/>
              </a:rPr>
              <a:t>1. Technical Feasibility</a:t>
            </a:r>
          </a:p>
          <a:p>
            <a:pPr>
              <a:lnSpc>
                <a:spcPct val="150000"/>
              </a:lnSpc>
            </a:pPr>
            <a:r>
              <a:rPr lang="en-IN" sz="1400" dirty="0">
                <a:latin typeface="Times New Roman" panose="02020603050405020304" pitchFamily="18" charset="0"/>
                <a:cs typeface="Times New Roman" panose="02020603050405020304" pitchFamily="18" charset="0"/>
              </a:rPr>
              <a:t>The proposed system is technically feasible using </a:t>
            </a:r>
            <a:r>
              <a:rPr lang="en-IN" sz="1400" b="1" dirty="0">
                <a:latin typeface="Times New Roman" panose="02020603050405020304" pitchFamily="18" charset="0"/>
                <a:cs typeface="Times New Roman" panose="02020603050405020304" pitchFamily="18" charset="0"/>
              </a:rPr>
              <a:t>Embedded C, </a:t>
            </a:r>
            <a:r>
              <a:rPr lang="en-IN" sz="1400" b="1" dirty="0" err="1">
                <a:latin typeface="Times New Roman" panose="02020603050405020304" pitchFamily="18" charset="0"/>
                <a:cs typeface="Times New Roman" panose="02020603050405020304" pitchFamily="18" charset="0"/>
              </a:rPr>
              <a:t>FreeRTOS</a:t>
            </a:r>
            <a:r>
              <a:rPr lang="en-IN" sz="1400" b="1" dirty="0">
                <a:latin typeface="Times New Roman" panose="02020603050405020304" pitchFamily="18" charset="0"/>
                <a:cs typeface="Times New Roman" panose="02020603050405020304" pitchFamily="18" charset="0"/>
              </a:rPr>
              <a:t>, CAN Bus, and TensorFlow Lite</a:t>
            </a:r>
            <a:r>
              <a:rPr lang="en-IN" sz="1400" dirty="0">
                <a:latin typeface="Times New Roman" panose="02020603050405020304" pitchFamily="18" charset="0"/>
                <a:cs typeface="Times New Roman" panose="02020603050405020304" pitchFamily="18" charset="0"/>
              </a:rPr>
              <a:t>. Battery parameters such as voltage, current, temperature, and SOC can be collected through sensors and processed in real time. A lightweight pre-trained ML model can be deployed using TensorFlow Lite for Edge-AI inference.</a:t>
            </a:r>
          </a:p>
          <a:p>
            <a:pPr>
              <a:lnSpc>
                <a:spcPct val="150000"/>
              </a:lnSpc>
            </a:pPr>
            <a:r>
              <a:rPr lang="en-IN" sz="1400" b="1" dirty="0">
                <a:latin typeface="Times New Roman" panose="02020603050405020304" pitchFamily="18" charset="0"/>
                <a:cs typeface="Times New Roman" panose="02020603050405020304" pitchFamily="18" charset="0"/>
              </a:rPr>
              <a:t>2. Economic Feasibility</a:t>
            </a:r>
          </a:p>
          <a:p>
            <a:pPr>
              <a:lnSpc>
                <a:spcPct val="150000"/>
              </a:lnSpc>
            </a:pPr>
            <a:r>
              <a:rPr lang="en-IN" sz="1400" dirty="0">
                <a:latin typeface="Times New Roman" panose="02020603050405020304" pitchFamily="18" charset="0"/>
                <a:cs typeface="Times New Roman" panose="02020603050405020304" pitchFamily="18" charset="0"/>
              </a:rPr>
              <a:t>The project can be implemented using </a:t>
            </a:r>
            <a:r>
              <a:rPr lang="en-IN" sz="1400" b="1" dirty="0">
                <a:latin typeface="Times New Roman" panose="02020603050405020304" pitchFamily="18" charset="0"/>
                <a:cs typeface="Times New Roman" panose="02020603050405020304" pitchFamily="18" charset="0"/>
              </a:rPr>
              <a:t>low-cost embedded hardware, sensors, and open-source software tools</a:t>
            </a:r>
            <a:r>
              <a:rPr lang="en-IN" sz="1400" dirty="0">
                <a:latin typeface="Times New Roman" panose="02020603050405020304" pitchFamily="18" charset="0"/>
                <a:cs typeface="Times New Roman" panose="02020603050405020304" pitchFamily="18" charset="0"/>
              </a:rPr>
              <a:t>. Existing ML models can be reused instead of developing a computationally complex model from scratch. Event-triggered inference can also reduce unnecessary computational resource usage.</a:t>
            </a:r>
          </a:p>
          <a:p>
            <a:pPr>
              <a:lnSpc>
                <a:spcPct val="150000"/>
              </a:lnSpc>
            </a:pPr>
            <a:r>
              <a:rPr lang="en-IN" sz="1400" b="1" dirty="0">
                <a:latin typeface="Times New Roman" panose="02020603050405020304" pitchFamily="18" charset="0"/>
                <a:cs typeface="Times New Roman" panose="02020603050405020304" pitchFamily="18" charset="0"/>
              </a:rPr>
              <a:t>3. Operational Feasibility</a:t>
            </a:r>
          </a:p>
          <a:p>
            <a:pPr>
              <a:lnSpc>
                <a:spcPct val="150000"/>
              </a:lnSpc>
            </a:pPr>
            <a:r>
              <a:rPr lang="en-IN" sz="1400" dirty="0">
                <a:latin typeface="Times New Roman" panose="02020603050405020304" pitchFamily="18" charset="0"/>
                <a:cs typeface="Times New Roman" panose="02020603050405020304" pitchFamily="18" charset="0"/>
              </a:rPr>
              <a:t>The proposed BMS can continuously monitor battery conditions and provide real-time alerts and decisions. The </a:t>
            </a:r>
            <a:r>
              <a:rPr lang="en-IN" sz="1400" b="1" dirty="0">
                <a:latin typeface="Times New Roman" panose="02020603050405020304" pitchFamily="18" charset="0"/>
                <a:cs typeface="Times New Roman" panose="02020603050405020304" pitchFamily="18" charset="0"/>
              </a:rPr>
              <a:t>Two-Level Battery Decision System</a:t>
            </a:r>
            <a:r>
              <a:rPr lang="en-IN" sz="1400" dirty="0">
                <a:latin typeface="Times New Roman" panose="02020603050405020304" pitchFamily="18" charset="0"/>
                <a:cs typeface="Times New Roman" panose="02020603050405020304" pitchFamily="18" charset="0"/>
              </a:rPr>
              <a:t> allows normal conditions to be handled with lightweight processing, while suspicious conditions are verified using AI. The </a:t>
            </a:r>
            <a:r>
              <a:rPr lang="en-IN" sz="1400" b="1" dirty="0">
                <a:latin typeface="Times New Roman" panose="02020603050405020304" pitchFamily="18" charset="0"/>
                <a:cs typeface="Times New Roman" panose="02020603050405020304" pitchFamily="18" charset="0"/>
              </a:rPr>
              <a:t>Software-Defined Risk Policy</a:t>
            </a:r>
            <a:r>
              <a:rPr lang="en-IN" sz="1400" dirty="0">
                <a:latin typeface="Times New Roman" panose="02020603050405020304" pitchFamily="18" charset="0"/>
                <a:cs typeface="Times New Roman" panose="02020603050405020304" pitchFamily="18" charset="0"/>
              </a:rPr>
              <a:t> enables battery-management actions to be configured through software.</a:t>
            </a:r>
          </a:p>
          <a:p>
            <a:pPr>
              <a:lnSpc>
                <a:spcPct val="150000"/>
              </a:lnSpc>
            </a:pPr>
            <a:r>
              <a:rPr lang="en-IN" sz="1400" b="1" dirty="0">
                <a:latin typeface="Times New Roman" panose="02020603050405020304" pitchFamily="18" charset="0"/>
                <a:cs typeface="Times New Roman" panose="02020603050405020304" pitchFamily="18" charset="0"/>
              </a:rPr>
              <a:t>4. Integration Feasibility</a:t>
            </a:r>
          </a:p>
          <a:p>
            <a:pPr>
              <a:lnSpc>
                <a:spcPct val="150000"/>
              </a:lnSpc>
            </a:pPr>
            <a:r>
              <a:rPr lang="en-IN" sz="1400" dirty="0">
                <a:latin typeface="Times New Roman" panose="02020603050405020304" pitchFamily="18" charset="0"/>
                <a:cs typeface="Times New Roman" panose="02020603050405020304" pitchFamily="18" charset="0"/>
              </a:rPr>
              <a:t>The system can be integrated with the EV control architecture using </a:t>
            </a:r>
            <a:r>
              <a:rPr lang="en-IN" sz="1400" b="1" dirty="0">
                <a:latin typeface="Times New Roman" panose="02020603050405020304" pitchFamily="18" charset="0"/>
                <a:cs typeface="Times New Roman" panose="02020603050405020304" pitchFamily="18" charset="0"/>
              </a:rPr>
              <a:t>CAN Bus</a:t>
            </a:r>
            <a:r>
              <a:rPr lang="en-IN" sz="1400" dirty="0">
                <a:latin typeface="Times New Roman" panose="02020603050405020304" pitchFamily="18" charset="0"/>
                <a:cs typeface="Times New Roman" panose="02020603050405020304" pitchFamily="18" charset="0"/>
              </a:rPr>
              <a:t>. </a:t>
            </a:r>
            <a:r>
              <a:rPr lang="en-IN" sz="1400" dirty="0" err="1">
                <a:latin typeface="Times New Roman" panose="02020603050405020304" pitchFamily="18" charset="0"/>
                <a:cs typeface="Times New Roman" panose="02020603050405020304" pitchFamily="18" charset="0"/>
              </a:rPr>
              <a:t>FreeRTOS</a:t>
            </a:r>
            <a:r>
              <a:rPr lang="en-IN" sz="1400" dirty="0">
                <a:latin typeface="Times New Roman" panose="02020603050405020304" pitchFamily="18" charset="0"/>
                <a:cs typeface="Times New Roman" panose="02020603050405020304" pitchFamily="18" charset="0"/>
              </a:rPr>
              <a:t> can manage sensing, monitoring, AI inference, communication, and safety tasks as separate real-time tasks. IoT and Docker can additionally be used for data logging, visualization, and analysis.</a:t>
            </a:r>
          </a:p>
          <a:p>
            <a:pPr>
              <a:lnSpc>
                <a:spcPct val="150000"/>
              </a:lnSpc>
            </a:pPr>
            <a:r>
              <a:rPr lang="en-IN" sz="1400" b="1" dirty="0">
                <a:latin typeface="Times New Roman" panose="02020603050405020304" pitchFamily="18" charset="0"/>
                <a:cs typeface="Times New Roman" panose="02020603050405020304" pitchFamily="18" charset="0"/>
              </a:rPr>
              <a:t>5. Overall Feasibility</a:t>
            </a:r>
          </a:p>
          <a:p>
            <a:pPr>
              <a:lnSpc>
                <a:spcPct val="150000"/>
              </a:lnSpc>
            </a:pPr>
            <a:r>
              <a:rPr lang="en-IN" sz="1400" dirty="0">
                <a:latin typeface="Times New Roman" panose="02020603050405020304" pitchFamily="18" charset="0"/>
                <a:cs typeface="Times New Roman" panose="02020603050405020304" pitchFamily="18" charset="0"/>
              </a:rPr>
              <a:t>The proposed project is feasible because it combines </a:t>
            </a:r>
            <a:r>
              <a:rPr lang="en-IN" sz="1400" b="1" dirty="0">
                <a:latin typeface="Times New Roman" panose="02020603050405020304" pitchFamily="18" charset="0"/>
                <a:cs typeface="Times New Roman" panose="02020603050405020304" pitchFamily="18" charset="0"/>
              </a:rPr>
              <a:t>existing, well-established technologies</a:t>
            </a:r>
            <a:r>
              <a:rPr lang="en-IN" sz="1400" dirty="0">
                <a:latin typeface="Times New Roman" panose="02020603050405020304" pitchFamily="18" charset="0"/>
                <a:cs typeface="Times New Roman" panose="02020603050405020304" pitchFamily="18" charset="0"/>
              </a:rPr>
              <a:t> in a new BMS architecture. The major contribution lies in the integration of </a:t>
            </a:r>
            <a:r>
              <a:rPr lang="en-IN" sz="1400" b="1" dirty="0">
                <a:latin typeface="Times New Roman" panose="02020603050405020304" pitchFamily="18" charset="0"/>
                <a:cs typeface="Times New Roman" panose="02020603050405020304" pitchFamily="18" charset="0"/>
              </a:rPr>
              <a:t>Event-Triggered AI Inference, Two-Level Battery Decision System, and Software-Defined Risk Policy</a:t>
            </a:r>
            <a:r>
              <a:rPr lang="en-IN" sz="1400" dirty="0">
                <a:latin typeface="Times New Roman" panose="02020603050405020304" pitchFamily="18" charset="0"/>
                <a:cs typeface="Times New Roman" panose="02020603050405020304" pitchFamily="18" charset="0"/>
              </a:rPr>
              <a:t> for intelligent and adaptable battery management.</a:t>
            </a:r>
          </a:p>
        </p:txBody>
      </p:sp>
      <p:pic>
        <p:nvPicPr>
          <p:cNvPr id="4" name="Picture 3">
            <a:extLst>
              <a:ext uri="{FF2B5EF4-FFF2-40B4-BE49-F238E27FC236}">
                <a16:creationId xmlns:a16="http://schemas.microsoft.com/office/drawing/2014/main" id="{F971D25F-D310-56FA-A58E-B7B79C7D857D}"/>
              </a:ext>
            </a:extLst>
          </p:cNvPr>
          <p:cNvPicPr>
            <a:picLocks noChangeAspect="1"/>
          </p:cNvPicPr>
          <p:nvPr/>
        </p:nvPicPr>
        <p:blipFill>
          <a:blip r:embed="rId2"/>
          <a:stretch>
            <a:fillRect/>
          </a:stretch>
        </p:blipFill>
        <p:spPr>
          <a:xfrm>
            <a:off x="10249380" y="0"/>
            <a:ext cx="1942620" cy="622550"/>
          </a:xfrm>
          <a:prstGeom prst="rect">
            <a:avLst/>
          </a:prstGeom>
        </p:spPr>
      </p:pic>
      <p:sp>
        <p:nvSpPr>
          <p:cNvPr id="3" name="Slide Number Placeholder 2">
            <a:extLst>
              <a:ext uri="{FF2B5EF4-FFF2-40B4-BE49-F238E27FC236}">
                <a16:creationId xmlns:a16="http://schemas.microsoft.com/office/drawing/2014/main" id="{7A5C8E97-379A-D3AC-5648-559CFA5E4201}"/>
              </a:ext>
            </a:extLst>
          </p:cNvPr>
          <p:cNvSpPr>
            <a:spLocks noGrp="1"/>
          </p:cNvSpPr>
          <p:nvPr>
            <p:ph type="sldNum" sz="quarter" idx="12"/>
          </p:nvPr>
        </p:nvSpPr>
        <p:spPr/>
        <p:txBody>
          <a:bodyPr/>
          <a:lstStyle/>
          <a:p>
            <a:fld id="{E639234F-78F1-4984-9C4D-D4C7AB587871}" type="slidenum">
              <a:rPr lang="en-US" smtClean="0"/>
              <a:t>11</a:t>
            </a:fld>
            <a:endParaRPr lang="en-US"/>
          </a:p>
        </p:txBody>
      </p:sp>
      <p:sp>
        <p:nvSpPr>
          <p:cNvPr id="6" name="Footer Placeholder 5">
            <a:extLst>
              <a:ext uri="{FF2B5EF4-FFF2-40B4-BE49-F238E27FC236}">
                <a16:creationId xmlns:a16="http://schemas.microsoft.com/office/drawing/2014/main" id="{91EB6DF8-DC9B-0CC4-451D-97C9B23BCD17}"/>
              </a:ext>
            </a:extLst>
          </p:cNvPr>
          <p:cNvSpPr>
            <a:spLocks noGrp="1"/>
          </p:cNvSpPr>
          <p:nvPr>
            <p:ph type="ftr" sz="quarter" idx="11"/>
          </p:nvPr>
        </p:nvSpPr>
        <p:spPr/>
        <p:txBody>
          <a:bodyPr/>
          <a:lstStyle/>
          <a:p>
            <a:r>
              <a:rPr lang="en-US"/>
              <a:t>RTOS REVIEW-1</a:t>
            </a:r>
          </a:p>
        </p:txBody>
      </p:sp>
    </p:spTree>
    <p:extLst>
      <p:ext uri="{BB962C8B-B14F-4D97-AF65-F5344CB8AC3E}">
        <p14:creationId xmlns:p14="http://schemas.microsoft.com/office/powerpoint/2010/main" val="41188552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645512-A609-76E9-1711-4856EC6ED3F4}"/>
              </a:ext>
            </a:extLst>
          </p:cNvPr>
          <p:cNvSpPr>
            <a:spLocks noGrp="1"/>
          </p:cNvSpPr>
          <p:nvPr>
            <p:ph type="title"/>
          </p:nvPr>
        </p:nvSpPr>
        <p:spPr>
          <a:xfrm>
            <a:off x="838200" y="365126"/>
            <a:ext cx="9937830" cy="572424"/>
          </a:xfrm>
        </p:spPr>
        <p:txBody>
          <a:bodyPr>
            <a:normAutofit fontScale="90000"/>
          </a:bodyPr>
          <a:lstStyle/>
          <a:p>
            <a:pPr algn="ctr"/>
            <a:r>
              <a:rPr lang="en-US" b="1" dirty="0">
                <a:solidFill>
                  <a:srgbClr val="FF0000"/>
                </a:solidFill>
              </a:rPr>
              <a:t> Project Plan</a:t>
            </a:r>
            <a:endParaRPr lang="en-IN" dirty="0"/>
          </a:p>
        </p:txBody>
      </p:sp>
      <p:sp>
        <p:nvSpPr>
          <p:cNvPr id="6" name="Slide Number Placeholder 5">
            <a:extLst>
              <a:ext uri="{FF2B5EF4-FFF2-40B4-BE49-F238E27FC236}">
                <a16:creationId xmlns:a16="http://schemas.microsoft.com/office/drawing/2014/main" id="{3C5E4268-1EC8-BFF9-33D8-DD255FAE1710}"/>
              </a:ext>
            </a:extLst>
          </p:cNvPr>
          <p:cNvSpPr>
            <a:spLocks noGrp="1"/>
          </p:cNvSpPr>
          <p:nvPr>
            <p:ph type="sldNum" sz="quarter" idx="12"/>
          </p:nvPr>
        </p:nvSpPr>
        <p:spPr/>
        <p:txBody>
          <a:bodyPr/>
          <a:lstStyle/>
          <a:p>
            <a:fld id="{E639234F-78F1-4984-9C4D-D4C7AB587871}" type="slidenum">
              <a:rPr lang="en-US" smtClean="0"/>
              <a:t>12</a:t>
            </a:fld>
            <a:endParaRPr lang="en-US"/>
          </a:p>
        </p:txBody>
      </p:sp>
      <p:sp>
        <p:nvSpPr>
          <p:cNvPr id="7" name="Footer Placeholder 6">
            <a:extLst>
              <a:ext uri="{FF2B5EF4-FFF2-40B4-BE49-F238E27FC236}">
                <a16:creationId xmlns:a16="http://schemas.microsoft.com/office/drawing/2014/main" id="{18C6764E-A282-3038-9F75-5785BC509687}"/>
              </a:ext>
            </a:extLst>
          </p:cNvPr>
          <p:cNvSpPr>
            <a:spLocks noGrp="1"/>
          </p:cNvSpPr>
          <p:nvPr>
            <p:ph type="ftr" sz="quarter" idx="11"/>
          </p:nvPr>
        </p:nvSpPr>
        <p:spPr/>
        <p:txBody>
          <a:bodyPr/>
          <a:lstStyle/>
          <a:p>
            <a:r>
              <a:rPr lang="en-US"/>
              <a:t>RTOS REVIEW-1</a:t>
            </a:r>
          </a:p>
        </p:txBody>
      </p:sp>
      <p:graphicFrame>
        <p:nvGraphicFramePr>
          <p:cNvPr id="11" name="Content Placeholder 10">
            <a:extLst>
              <a:ext uri="{FF2B5EF4-FFF2-40B4-BE49-F238E27FC236}">
                <a16:creationId xmlns:a16="http://schemas.microsoft.com/office/drawing/2014/main" id="{AD2106E4-AC00-371E-89D9-BD9F29385174}"/>
              </a:ext>
            </a:extLst>
          </p:cNvPr>
          <p:cNvGraphicFramePr>
            <a:graphicFrameLocks noGrp="1"/>
          </p:cNvGraphicFramePr>
          <p:nvPr>
            <p:ph idx="1"/>
            <p:extLst>
              <p:ext uri="{D42A27DB-BD31-4B8C-83A1-F6EECF244321}">
                <p14:modId xmlns:p14="http://schemas.microsoft.com/office/powerpoint/2010/main" val="224186130"/>
              </p:ext>
            </p:extLst>
          </p:nvPr>
        </p:nvGraphicFramePr>
        <p:xfrm>
          <a:off x="1415970" y="911539"/>
          <a:ext cx="8915399" cy="3337560"/>
        </p:xfrm>
        <a:graphic>
          <a:graphicData uri="http://schemas.openxmlformats.org/drawingml/2006/table">
            <a:tbl>
              <a:tblPr firstRow="1" bandRow="1">
                <a:tableStyleId>{5C22544A-7EE6-4342-B048-85BDC9FD1C3A}</a:tableStyleId>
              </a:tblPr>
              <a:tblGrid>
                <a:gridCol w="921773">
                  <a:extLst>
                    <a:ext uri="{9D8B030D-6E8A-4147-A177-3AD203B41FA5}">
                      <a16:colId xmlns:a16="http://schemas.microsoft.com/office/drawing/2014/main" val="865632583"/>
                    </a:ext>
                  </a:extLst>
                </a:gridCol>
                <a:gridCol w="4159045">
                  <a:extLst>
                    <a:ext uri="{9D8B030D-6E8A-4147-A177-3AD203B41FA5}">
                      <a16:colId xmlns:a16="http://schemas.microsoft.com/office/drawing/2014/main" val="2856754256"/>
                    </a:ext>
                  </a:extLst>
                </a:gridCol>
                <a:gridCol w="3834581">
                  <a:extLst>
                    <a:ext uri="{9D8B030D-6E8A-4147-A177-3AD203B41FA5}">
                      <a16:colId xmlns:a16="http://schemas.microsoft.com/office/drawing/2014/main" val="3992791816"/>
                    </a:ext>
                  </a:extLst>
                </a:gridCol>
              </a:tblGrid>
              <a:tr h="370840">
                <a:tc>
                  <a:txBody>
                    <a:bodyPr/>
                    <a:lstStyle/>
                    <a:p>
                      <a:pPr>
                        <a:buNone/>
                      </a:pPr>
                      <a:r>
                        <a:rPr lang="en-IN" dirty="0"/>
                        <a:t>Phase</a:t>
                      </a:r>
                    </a:p>
                  </a:txBody>
                  <a:tcPr anchor="ctr"/>
                </a:tc>
                <a:tc>
                  <a:txBody>
                    <a:bodyPr/>
                    <a:lstStyle/>
                    <a:p>
                      <a:pPr>
                        <a:buNone/>
                      </a:pPr>
                      <a:r>
                        <a:rPr lang="en-IN"/>
                        <a:t>Activity</a:t>
                      </a:r>
                    </a:p>
                  </a:txBody>
                  <a:tcPr anchor="ctr"/>
                </a:tc>
                <a:tc>
                  <a:txBody>
                    <a:bodyPr/>
                    <a:lstStyle/>
                    <a:p>
                      <a:pPr>
                        <a:buNone/>
                      </a:pPr>
                      <a:r>
                        <a:rPr lang="en-IN"/>
                        <a:t>Output</a:t>
                      </a:r>
                    </a:p>
                  </a:txBody>
                  <a:tcPr anchor="ctr"/>
                </a:tc>
                <a:extLst>
                  <a:ext uri="{0D108BD9-81ED-4DB2-BD59-A6C34878D82A}">
                    <a16:rowId xmlns:a16="http://schemas.microsoft.com/office/drawing/2014/main" val="1834510404"/>
                  </a:ext>
                </a:extLst>
              </a:tr>
              <a:tr h="370840">
                <a:tc>
                  <a:txBody>
                    <a:bodyPr/>
                    <a:lstStyle/>
                    <a:p>
                      <a:pPr>
                        <a:buNone/>
                      </a:pPr>
                      <a:r>
                        <a:rPr lang="en-IN" b="1"/>
                        <a:t>1</a:t>
                      </a:r>
                      <a:endParaRPr lang="en-IN"/>
                    </a:p>
                  </a:txBody>
                  <a:tcPr anchor="ctr"/>
                </a:tc>
                <a:tc>
                  <a:txBody>
                    <a:bodyPr/>
                    <a:lstStyle/>
                    <a:p>
                      <a:pPr>
                        <a:buNone/>
                      </a:pPr>
                      <a:r>
                        <a:rPr lang="en-IN"/>
                        <a:t>Literature Study &amp; Requirements</a:t>
                      </a:r>
                    </a:p>
                  </a:txBody>
                  <a:tcPr anchor="ctr"/>
                </a:tc>
                <a:tc>
                  <a:txBody>
                    <a:bodyPr/>
                    <a:lstStyle/>
                    <a:p>
                      <a:pPr>
                        <a:buNone/>
                      </a:pPr>
                      <a:r>
                        <a:rPr lang="en-IN"/>
                        <a:t>Research gap &amp; requirements</a:t>
                      </a:r>
                    </a:p>
                  </a:txBody>
                  <a:tcPr anchor="ctr"/>
                </a:tc>
                <a:extLst>
                  <a:ext uri="{0D108BD9-81ED-4DB2-BD59-A6C34878D82A}">
                    <a16:rowId xmlns:a16="http://schemas.microsoft.com/office/drawing/2014/main" val="3234812841"/>
                  </a:ext>
                </a:extLst>
              </a:tr>
              <a:tr h="370840">
                <a:tc>
                  <a:txBody>
                    <a:bodyPr/>
                    <a:lstStyle/>
                    <a:p>
                      <a:pPr>
                        <a:buNone/>
                      </a:pPr>
                      <a:r>
                        <a:rPr lang="en-IN" b="1"/>
                        <a:t>2</a:t>
                      </a:r>
                      <a:endParaRPr lang="en-IN"/>
                    </a:p>
                  </a:txBody>
                  <a:tcPr anchor="ctr"/>
                </a:tc>
                <a:tc>
                  <a:txBody>
                    <a:bodyPr/>
                    <a:lstStyle/>
                    <a:p>
                      <a:pPr>
                        <a:buNone/>
                      </a:pPr>
                      <a:r>
                        <a:rPr lang="en-IN" dirty="0"/>
                        <a:t>Dataset Preparation</a:t>
                      </a:r>
                    </a:p>
                  </a:txBody>
                  <a:tcPr anchor="ctr"/>
                </a:tc>
                <a:tc>
                  <a:txBody>
                    <a:bodyPr/>
                    <a:lstStyle/>
                    <a:p>
                      <a:pPr>
                        <a:buNone/>
                      </a:pPr>
                      <a:r>
                        <a:rPr lang="en-IN"/>
                        <a:t>Clean battery dataset</a:t>
                      </a:r>
                    </a:p>
                  </a:txBody>
                  <a:tcPr anchor="ctr"/>
                </a:tc>
                <a:extLst>
                  <a:ext uri="{0D108BD9-81ED-4DB2-BD59-A6C34878D82A}">
                    <a16:rowId xmlns:a16="http://schemas.microsoft.com/office/drawing/2014/main" val="2178198534"/>
                  </a:ext>
                </a:extLst>
              </a:tr>
              <a:tr h="370840">
                <a:tc>
                  <a:txBody>
                    <a:bodyPr/>
                    <a:lstStyle/>
                    <a:p>
                      <a:pPr>
                        <a:buNone/>
                      </a:pPr>
                      <a:r>
                        <a:rPr lang="en-IN" b="1"/>
                        <a:t>3</a:t>
                      </a:r>
                      <a:endParaRPr lang="en-IN"/>
                    </a:p>
                  </a:txBody>
                  <a:tcPr anchor="ctr"/>
                </a:tc>
                <a:tc>
                  <a:txBody>
                    <a:bodyPr/>
                    <a:lstStyle/>
                    <a:p>
                      <a:pPr>
                        <a:buNone/>
                      </a:pPr>
                      <a:r>
                        <a:rPr lang="en-IN" dirty="0"/>
                        <a:t>Fast Screening</a:t>
                      </a:r>
                    </a:p>
                  </a:txBody>
                  <a:tcPr anchor="ctr"/>
                </a:tc>
                <a:tc>
                  <a:txBody>
                    <a:bodyPr/>
                    <a:lstStyle/>
                    <a:p>
                      <a:pPr>
                        <a:buNone/>
                      </a:pPr>
                      <a:r>
                        <a:rPr lang="en-IN"/>
                        <a:t>Normal/Suspicious detection</a:t>
                      </a:r>
                    </a:p>
                  </a:txBody>
                  <a:tcPr anchor="ctr"/>
                </a:tc>
                <a:extLst>
                  <a:ext uri="{0D108BD9-81ED-4DB2-BD59-A6C34878D82A}">
                    <a16:rowId xmlns:a16="http://schemas.microsoft.com/office/drawing/2014/main" val="2107565806"/>
                  </a:ext>
                </a:extLst>
              </a:tr>
              <a:tr h="370840">
                <a:tc>
                  <a:txBody>
                    <a:bodyPr/>
                    <a:lstStyle/>
                    <a:p>
                      <a:pPr>
                        <a:buNone/>
                      </a:pPr>
                      <a:r>
                        <a:rPr lang="en-IN" b="1"/>
                        <a:t>4</a:t>
                      </a:r>
                      <a:endParaRPr lang="en-IN"/>
                    </a:p>
                  </a:txBody>
                  <a:tcPr anchor="ctr"/>
                </a:tc>
                <a:tc>
                  <a:txBody>
                    <a:bodyPr/>
                    <a:lstStyle/>
                    <a:p>
                      <a:pPr>
                        <a:buNone/>
                      </a:pPr>
                      <a:r>
                        <a:rPr lang="en-IN"/>
                        <a:t>AI Model Development</a:t>
                      </a:r>
                    </a:p>
                  </a:txBody>
                  <a:tcPr anchor="ctr"/>
                </a:tc>
                <a:tc>
                  <a:txBody>
                    <a:bodyPr/>
                    <a:lstStyle/>
                    <a:p>
                      <a:pPr>
                        <a:buNone/>
                      </a:pPr>
                      <a:r>
                        <a:rPr lang="en-IN"/>
                        <a:t>Lightweight AI model</a:t>
                      </a:r>
                    </a:p>
                  </a:txBody>
                  <a:tcPr anchor="ctr"/>
                </a:tc>
                <a:extLst>
                  <a:ext uri="{0D108BD9-81ED-4DB2-BD59-A6C34878D82A}">
                    <a16:rowId xmlns:a16="http://schemas.microsoft.com/office/drawing/2014/main" val="2814477876"/>
                  </a:ext>
                </a:extLst>
              </a:tr>
              <a:tr h="370840">
                <a:tc>
                  <a:txBody>
                    <a:bodyPr/>
                    <a:lstStyle/>
                    <a:p>
                      <a:pPr>
                        <a:buNone/>
                      </a:pPr>
                      <a:r>
                        <a:rPr lang="en-IN" b="1"/>
                        <a:t>5</a:t>
                      </a:r>
                      <a:endParaRPr lang="en-IN"/>
                    </a:p>
                  </a:txBody>
                  <a:tcPr anchor="ctr"/>
                </a:tc>
                <a:tc>
                  <a:txBody>
                    <a:bodyPr/>
                    <a:lstStyle/>
                    <a:p>
                      <a:pPr>
                        <a:buNone/>
                      </a:pPr>
                      <a:r>
                        <a:rPr lang="en-IN"/>
                        <a:t>Event-Triggered AI + Two-Level Decision</a:t>
                      </a:r>
                    </a:p>
                  </a:txBody>
                  <a:tcPr anchor="ctr"/>
                </a:tc>
                <a:tc>
                  <a:txBody>
                    <a:bodyPr/>
                    <a:lstStyle/>
                    <a:p>
                      <a:pPr>
                        <a:buNone/>
                      </a:pPr>
                      <a:r>
                        <a:rPr lang="en-IN" dirty="0"/>
                        <a:t>Intelligent decision system</a:t>
                      </a:r>
                    </a:p>
                  </a:txBody>
                  <a:tcPr anchor="ctr"/>
                </a:tc>
                <a:extLst>
                  <a:ext uri="{0D108BD9-81ED-4DB2-BD59-A6C34878D82A}">
                    <a16:rowId xmlns:a16="http://schemas.microsoft.com/office/drawing/2014/main" val="2973361741"/>
                  </a:ext>
                </a:extLst>
              </a:tr>
              <a:tr h="370840">
                <a:tc>
                  <a:txBody>
                    <a:bodyPr/>
                    <a:lstStyle/>
                    <a:p>
                      <a:pPr>
                        <a:buNone/>
                      </a:pPr>
                      <a:r>
                        <a:rPr lang="en-IN" b="1"/>
                        <a:t>6</a:t>
                      </a:r>
                      <a:endParaRPr lang="en-IN"/>
                    </a:p>
                  </a:txBody>
                  <a:tcPr anchor="ctr"/>
                </a:tc>
                <a:tc>
                  <a:txBody>
                    <a:bodyPr/>
                    <a:lstStyle/>
                    <a:p>
                      <a:pPr>
                        <a:buNone/>
                      </a:pPr>
                      <a:r>
                        <a:rPr lang="en-IN"/>
                        <a:t>Risk Policy &amp; CAN/IoT</a:t>
                      </a:r>
                    </a:p>
                  </a:txBody>
                  <a:tcPr anchor="ctr"/>
                </a:tc>
                <a:tc>
                  <a:txBody>
                    <a:bodyPr/>
                    <a:lstStyle/>
                    <a:p>
                      <a:pPr>
                        <a:buNone/>
                      </a:pPr>
                      <a:r>
                        <a:rPr lang="en-IN" dirty="0"/>
                        <a:t>Risk-based EV actions</a:t>
                      </a:r>
                    </a:p>
                  </a:txBody>
                  <a:tcPr anchor="ctr"/>
                </a:tc>
                <a:extLst>
                  <a:ext uri="{0D108BD9-81ED-4DB2-BD59-A6C34878D82A}">
                    <a16:rowId xmlns:a16="http://schemas.microsoft.com/office/drawing/2014/main" val="3486513394"/>
                  </a:ext>
                </a:extLst>
              </a:tr>
              <a:tr h="370840">
                <a:tc>
                  <a:txBody>
                    <a:bodyPr/>
                    <a:lstStyle/>
                    <a:p>
                      <a:pPr>
                        <a:buNone/>
                      </a:pPr>
                      <a:r>
                        <a:rPr lang="en-IN" b="1"/>
                        <a:t>7</a:t>
                      </a:r>
                      <a:endParaRPr lang="en-IN"/>
                    </a:p>
                  </a:txBody>
                  <a:tcPr anchor="ctr"/>
                </a:tc>
                <a:tc>
                  <a:txBody>
                    <a:bodyPr/>
                    <a:lstStyle/>
                    <a:p>
                      <a:pPr>
                        <a:buNone/>
                      </a:pPr>
                      <a:r>
                        <a:rPr lang="en-IN"/>
                        <a:t>Testing &amp; Evaluation</a:t>
                      </a:r>
                    </a:p>
                  </a:txBody>
                  <a:tcPr anchor="ctr"/>
                </a:tc>
                <a:tc>
                  <a:txBody>
                    <a:bodyPr/>
                    <a:lstStyle/>
                    <a:p>
                      <a:pPr>
                        <a:buNone/>
                      </a:pPr>
                      <a:r>
                        <a:rPr lang="en-IN"/>
                        <a:t>Accuracy, response time &amp; AI usage</a:t>
                      </a:r>
                    </a:p>
                  </a:txBody>
                  <a:tcPr anchor="ctr"/>
                </a:tc>
                <a:extLst>
                  <a:ext uri="{0D108BD9-81ED-4DB2-BD59-A6C34878D82A}">
                    <a16:rowId xmlns:a16="http://schemas.microsoft.com/office/drawing/2014/main" val="3483654068"/>
                  </a:ext>
                </a:extLst>
              </a:tr>
              <a:tr h="370840">
                <a:tc>
                  <a:txBody>
                    <a:bodyPr/>
                    <a:lstStyle/>
                    <a:p>
                      <a:pPr>
                        <a:buNone/>
                      </a:pPr>
                      <a:r>
                        <a:rPr lang="en-IN" b="1"/>
                        <a:t>8</a:t>
                      </a:r>
                      <a:endParaRPr lang="en-IN"/>
                    </a:p>
                  </a:txBody>
                  <a:tcPr anchor="ctr"/>
                </a:tc>
                <a:tc>
                  <a:txBody>
                    <a:bodyPr/>
                    <a:lstStyle/>
                    <a:p>
                      <a:pPr>
                        <a:buNone/>
                      </a:pPr>
                      <a:r>
                        <a:rPr lang="en-IN"/>
                        <a:t>Documentation &amp; Presentation</a:t>
                      </a:r>
                    </a:p>
                  </a:txBody>
                  <a:tcPr anchor="ctr"/>
                </a:tc>
                <a:tc>
                  <a:txBody>
                    <a:bodyPr/>
                    <a:lstStyle/>
                    <a:p>
                      <a:pPr>
                        <a:buNone/>
                      </a:pPr>
                      <a:r>
                        <a:rPr lang="en-IN" dirty="0"/>
                        <a:t>Final report &amp; demo</a:t>
                      </a:r>
                    </a:p>
                  </a:txBody>
                  <a:tcPr anchor="ctr"/>
                </a:tc>
                <a:extLst>
                  <a:ext uri="{0D108BD9-81ED-4DB2-BD59-A6C34878D82A}">
                    <a16:rowId xmlns:a16="http://schemas.microsoft.com/office/drawing/2014/main" val="2917789734"/>
                  </a:ext>
                </a:extLst>
              </a:tr>
            </a:tbl>
          </a:graphicData>
        </a:graphic>
      </p:graphicFrame>
      <p:pic>
        <p:nvPicPr>
          <p:cNvPr id="13" name="Picture 12">
            <a:extLst>
              <a:ext uri="{FF2B5EF4-FFF2-40B4-BE49-F238E27FC236}">
                <a16:creationId xmlns:a16="http://schemas.microsoft.com/office/drawing/2014/main" id="{681F87D3-3ADD-48C7-A67E-E5FFABFD6E6C}"/>
              </a:ext>
            </a:extLst>
          </p:cNvPr>
          <p:cNvPicPr>
            <a:picLocks noChangeAspect="1"/>
          </p:cNvPicPr>
          <p:nvPr/>
        </p:nvPicPr>
        <p:blipFill>
          <a:blip r:embed="rId2"/>
          <a:stretch>
            <a:fillRect/>
          </a:stretch>
        </p:blipFill>
        <p:spPr>
          <a:xfrm>
            <a:off x="2549282" y="4433440"/>
            <a:ext cx="6515665" cy="1806097"/>
          </a:xfrm>
          <a:prstGeom prst="rect">
            <a:avLst/>
          </a:prstGeom>
        </p:spPr>
      </p:pic>
    </p:spTree>
    <p:extLst>
      <p:ext uri="{BB962C8B-B14F-4D97-AF65-F5344CB8AC3E}">
        <p14:creationId xmlns:p14="http://schemas.microsoft.com/office/powerpoint/2010/main" val="375557467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203</TotalTime>
  <Words>2084</Words>
  <Application>Microsoft Office PowerPoint</Application>
  <PresentationFormat>Widescreen</PresentationFormat>
  <Paragraphs>268</Paragraphs>
  <Slides>12</Slides>
  <Notes>2</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12</vt:i4>
      </vt:variant>
    </vt:vector>
  </HeadingPairs>
  <TitlesOfParts>
    <vt:vector size="20" baseType="lpstr">
      <vt:lpstr>Aptos</vt:lpstr>
      <vt:lpstr>Aptos Display</vt:lpstr>
      <vt:lpstr>Arial</vt:lpstr>
      <vt:lpstr>Calibri</vt:lpstr>
      <vt:lpstr>Calibri Light</vt:lpstr>
      <vt:lpstr>Times New Roman</vt: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Novelty</vt:lpstr>
      <vt:lpstr>Tech Stack (Hardware)</vt:lpstr>
      <vt:lpstr>Tech Stack (Software)</vt:lpstr>
      <vt:lpstr>Innovation, Creativity, and Novelty </vt:lpstr>
      <vt:lpstr>PowerPoint Presentation</vt:lpstr>
      <vt:lpstr> Project Plan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srikanth ch</dc:creator>
  <cp:lastModifiedBy>B SRIHITHA 2420030099</cp:lastModifiedBy>
  <cp:revision>39</cp:revision>
  <dcterms:created xsi:type="dcterms:W3CDTF">2026-08-08T06:33:56Z</dcterms:created>
  <dcterms:modified xsi:type="dcterms:W3CDTF">2026-08-13T09:25:08Z</dcterms:modified>
</cp:coreProperties>
</file>